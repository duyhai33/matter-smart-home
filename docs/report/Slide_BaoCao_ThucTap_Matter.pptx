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1"/>
    <p:sldMasterId id="2147483856" r:id="rId2"/>
  </p:sldMasterIdLst>
  <p:notesMasterIdLst>
    <p:notesMasterId r:id="rId20"/>
  </p:notesMasterIdLst>
  <p:handoutMasterIdLst>
    <p:handoutMasterId r:id="rId21"/>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3376C7"/>
    <a:srgbClr val="170272"/>
    <a:srgbClr val="28F82D"/>
    <a:srgbClr val="FFFF71"/>
    <a:srgbClr val="FFFF81"/>
    <a:srgbClr val="72FA75"/>
    <a:srgbClr val="DD480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71" autoAdjust="0"/>
    <p:restoredTop sz="81900" autoAdjust="0"/>
  </p:normalViewPr>
  <p:slideViewPr>
    <p:cSldViewPr>
      <p:cViewPr varScale="1">
        <p:scale>
          <a:sx n="58" d="100"/>
          <a:sy n="58" d="100"/>
        </p:scale>
        <p:origin x="147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4" d="100"/>
          <a:sy n="54" d="100"/>
        </p:scale>
        <p:origin x="3072"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E9A03E-566E-1726-24F6-F89CD794368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6B8D15C9-BE61-29A7-A3AC-3C712DBF1FC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81AAD813-2337-4FC2-A44C-345C87EC369E}" type="datetimeFigureOut">
              <a:rPr lang="en-US"/>
              <a:pPr>
                <a:defRPr/>
              </a:pPr>
              <a:t>8/18/2026</a:t>
            </a:fld>
            <a:endParaRPr lang="en-US"/>
          </a:p>
        </p:txBody>
      </p:sp>
      <p:sp>
        <p:nvSpPr>
          <p:cNvPr id="4" name="Footer Placeholder 3">
            <a:extLst>
              <a:ext uri="{FF2B5EF4-FFF2-40B4-BE49-F238E27FC236}">
                <a16:creationId xmlns:a16="http://schemas.microsoft.com/office/drawing/2014/main" id="{C5D1A584-7CE0-F453-B477-6DA3A0D040F3}"/>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5" name="Slide Number Placeholder 4">
            <a:extLst>
              <a:ext uri="{FF2B5EF4-FFF2-40B4-BE49-F238E27FC236}">
                <a16:creationId xmlns:a16="http://schemas.microsoft.com/office/drawing/2014/main" id="{F6FE5357-32EE-262D-2084-E47361894C8C}"/>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E9A00DC2-9E2A-43D2-9694-D4B404D30D2F}"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47B59849-705B-1011-F43D-4FBAD103B68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en-US"/>
          </a:p>
        </p:txBody>
      </p:sp>
      <p:sp>
        <p:nvSpPr>
          <p:cNvPr id="7171" name="Rectangle 3">
            <a:extLst>
              <a:ext uri="{FF2B5EF4-FFF2-40B4-BE49-F238E27FC236}">
                <a16:creationId xmlns:a16="http://schemas.microsoft.com/office/drawing/2014/main" id="{D6E83DD0-8D9A-91D2-CAB2-3CCB76A439B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en-US"/>
          </a:p>
        </p:txBody>
      </p:sp>
      <p:sp>
        <p:nvSpPr>
          <p:cNvPr id="8196" name="Rectangle 4">
            <a:extLst>
              <a:ext uri="{FF2B5EF4-FFF2-40B4-BE49-F238E27FC236}">
                <a16:creationId xmlns:a16="http://schemas.microsoft.com/office/drawing/2014/main" id="{E7C9D8BF-BDB3-E107-0484-F87ACE5182F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3" name="Rectangle 5">
            <a:extLst>
              <a:ext uri="{FF2B5EF4-FFF2-40B4-BE49-F238E27FC236}">
                <a16:creationId xmlns:a16="http://schemas.microsoft.com/office/drawing/2014/main" id="{BF960C50-7137-C4AC-B472-115E7DDCDCA8}"/>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174" name="Rectangle 6">
            <a:extLst>
              <a:ext uri="{FF2B5EF4-FFF2-40B4-BE49-F238E27FC236}">
                <a16:creationId xmlns:a16="http://schemas.microsoft.com/office/drawing/2014/main" id="{468CC8A5-EE55-D682-B51B-516ED45BC16B}"/>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en-US"/>
          </a:p>
        </p:txBody>
      </p:sp>
      <p:sp>
        <p:nvSpPr>
          <p:cNvPr id="7175" name="Rectangle 7">
            <a:extLst>
              <a:ext uri="{FF2B5EF4-FFF2-40B4-BE49-F238E27FC236}">
                <a16:creationId xmlns:a16="http://schemas.microsoft.com/office/drawing/2014/main" id="{019BA88F-EF2D-CD8F-657E-27DD2C508031}"/>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D51E83-A344-48A0-85B9-92F5D95E7609}"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 video: docs/Video Demo hoan chinh.mp4 — doan dau, phan dieu khien tu Home Assistant. Neu het gio thi bo qua video, chi noi theo anh.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Diem nhan cua de tai. Chi vao man hinh OLED trong anh cat: 5 dong fabric va dong tong. Nhan manh fabric 1 la Home Assistant (0x134B), 4 fabric con lai la chip-tool (0xFFF1) — nhin cot ma hang la phan biet duoc.</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 video: docs/Video Demo hoan chinh.mp4 — doan nhan nut vat ly, cho thay Home Assistant doi trang thai theo. Day la chieu nguoc lai: thiet bi bao len controller.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 video: docs/Video demo Offline.mp4. Nho noi ro: chi ngat WAN tai router, mang noi bo van nguyen — neu rut day mang thi phep thu mat y nghia.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Freeform 73">
            <a:extLst>
              <a:ext uri="{FF2B5EF4-FFF2-40B4-BE49-F238E27FC236}">
                <a16:creationId xmlns:a16="http://schemas.microsoft.com/office/drawing/2014/main" id="{4D6E4A13-CEEF-788B-F24D-6D64A5F84D73}"/>
              </a:ext>
            </a:extLst>
          </p:cNvPr>
          <p:cNvSpPr>
            <a:spLocks/>
          </p:cNvSpPr>
          <p:nvPr/>
        </p:nvSpPr>
        <p:spPr bwMode="gray">
          <a:xfrm>
            <a:off x="0" y="381000"/>
            <a:ext cx="9131300" cy="914400"/>
          </a:xfrm>
          <a:custGeom>
            <a:avLst/>
            <a:gdLst>
              <a:gd name="T0" fmla="*/ 2147483646 w 5752"/>
              <a:gd name="T1" fmla="*/ 2147483646 h 444"/>
              <a:gd name="T2" fmla="*/ 2147483646 w 5752"/>
              <a:gd name="T3" fmla="*/ 2147483646 h 444"/>
              <a:gd name="T4" fmla="*/ 2147483646 w 5752"/>
              <a:gd name="T5" fmla="*/ 2147483646 h 444"/>
              <a:gd name="T6" fmla="*/ 2147483646 w 5752"/>
              <a:gd name="T7" fmla="*/ 2147483646 h 444"/>
              <a:gd name="T8" fmla="*/ 2147483646 w 5752"/>
              <a:gd name="T9" fmla="*/ 2147483646 h 444"/>
              <a:gd name="T10" fmla="*/ 0 w 5752"/>
              <a:gd name="T11" fmla="*/ 2147483646 h 444"/>
              <a:gd name="T12" fmla="*/ 0 w 5752"/>
              <a:gd name="T13" fmla="*/ 2147483646 h 444"/>
              <a:gd name="T14" fmla="*/ 2147483646 w 5752"/>
              <a:gd name="T15" fmla="*/ 2147483646 h 444"/>
              <a:gd name="T16" fmla="*/ 2147483646 w 5752"/>
              <a:gd name="T17" fmla="*/ 2147483646 h 444"/>
              <a:gd name="T18" fmla="*/ 2147483646 w 5752"/>
              <a:gd name="T19" fmla="*/ 2147483646 h 444"/>
              <a:gd name="T20" fmla="*/ 2147483646 w 5752"/>
              <a:gd name="T21" fmla="*/ 2147483646 h 444"/>
              <a:gd name="T22" fmla="*/ 2147483646 w 5752"/>
              <a:gd name="T23" fmla="*/ 2147483646 h 444"/>
              <a:gd name="T24" fmla="*/ 2147483646 w 5752"/>
              <a:gd name="T25" fmla="*/ 2147483646 h 4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2" h="444">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3" name="Picture 15" descr="DHBK">
            <a:extLst>
              <a:ext uri="{FF2B5EF4-FFF2-40B4-BE49-F238E27FC236}">
                <a16:creationId xmlns:a16="http://schemas.microsoft.com/office/drawing/2014/main" id="{1DB3007C-1627-F172-1D13-237A7E5AA1A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3937000"/>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Freeform 39">
            <a:extLst>
              <a:ext uri="{FF2B5EF4-FFF2-40B4-BE49-F238E27FC236}">
                <a16:creationId xmlns:a16="http://schemas.microsoft.com/office/drawing/2014/main" id="{DADA4528-526F-FFFF-3FFD-8A84FF9BFAE6}"/>
              </a:ext>
            </a:extLst>
          </p:cNvPr>
          <p:cNvSpPr>
            <a:spLocks/>
          </p:cNvSpPr>
          <p:nvPr/>
        </p:nvSpPr>
        <p:spPr bwMode="gray">
          <a:xfrm>
            <a:off x="0" y="6346825"/>
            <a:ext cx="9131300" cy="511175"/>
          </a:xfrm>
          <a:custGeom>
            <a:avLst/>
            <a:gdLst>
              <a:gd name="T0" fmla="*/ 2147483646 w 5752"/>
              <a:gd name="T1" fmla="*/ 2147483646 h 444"/>
              <a:gd name="T2" fmla="*/ 2147483646 w 5752"/>
              <a:gd name="T3" fmla="*/ 2147483646 h 444"/>
              <a:gd name="T4" fmla="*/ 2147483646 w 5752"/>
              <a:gd name="T5" fmla="*/ 2147483646 h 444"/>
              <a:gd name="T6" fmla="*/ 2147483646 w 5752"/>
              <a:gd name="T7" fmla="*/ 2147483646 h 444"/>
              <a:gd name="T8" fmla="*/ 2147483646 w 5752"/>
              <a:gd name="T9" fmla="*/ 2147483646 h 444"/>
              <a:gd name="T10" fmla="*/ 0 w 5752"/>
              <a:gd name="T11" fmla="*/ 2147483646 h 444"/>
              <a:gd name="T12" fmla="*/ 0 w 5752"/>
              <a:gd name="T13" fmla="*/ 2147483646 h 444"/>
              <a:gd name="T14" fmla="*/ 2147483646 w 5752"/>
              <a:gd name="T15" fmla="*/ 2147483646 h 444"/>
              <a:gd name="T16" fmla="*/ 2147483646 w 5752"/>
              <a:gd name="T17" fmla="*/ 2147483646 h 444"/>
              <a:gd name="T18" fmla="*/ 2147483646 w 5752"/>
              <a:gd name="T19" fmla="*/ 2147483646 h 444"/>
              <a:gd name="T20" fmla="*/ 2147483646 w 5752"/>
              <a:gd name="T21" fmla="*/ 2147483646 h 444"/>
              <a:gd name="T22" fmla="*/ 2147483646 w 5752"/>
              <a:gd name="T23" fmla="*/ 2147483646 h 444"/>
              <a:gd name="T24" fmla="*/ 2147483646 w 5752"/>
              <a:gd name="T25" fmla="*/ 2147483646 h 4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2" h="444">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Freeform 30">
            <a:extLst>
              <a:ext uri="{FF2B5EF4-FFF2-40B4-BE49-F238E27FC236}">
                <a16:creationId xmlns:a16="http://schemas.microsoft.com/office/drawing/2014/main" id="{40017C1C-862B-2B2B-FD42-865D0A5A8BB2}"/>
              </a:ext>
            </a:extLst>
          </p:cNvPr>
          <p:cNvSpPr>
            <a:spLocks/>
          </p:cNvSpPr>
          <p:nvPr/>
        </p:nvSpPr>
        <p:spPr bwMode="gray">
          <a:xfrm>
            <a:off x="0" y="0"/>
            <a:ext cx="9153525" cy="1600200"/>
          </a:xfrm>
          <a:custGeom>
            <a:avLst/>
            <a:gdLst>
              <a:gd name="T0" fmla="*/ 0 w 5766"/>
              <a:gd name="T1" fmla="*/ 2147483646 h 1008"/>
              <a:gd name="T2" fmla="*/ 2147483646 w 5766"/>
              <a:gd name="T3" fmla="*/ 2147483646 h 1008"/>
              <a:gd name="T4" fmla="*/ 2147483646 w 5766"/>
              <a:gd name="T5" fmla="*/ 2147483646 h 1008"/>
              <a:gd name="T6" fmla="*/ 2147483646 w 5766"/>
              <a:gd name="T7" fmla="*/ 2147483646 h 1008"/>
              <a:gd name="T8" fmla="*/ 2147483646 w 5766"/>
              <a:gd name="T9" fmla="*/ 2147483646 h 1008"/>
              <a:gd name="T10" fmla="*/ 2147483646 w 5766"/>
              <a:gd name="T11" fmla="*/ 2147483646 h 1008"/>
              <a:gd name="T12" fmla="*/ 2147483646 w 5766"/>
              <a:gd name="T13" fmla="*/ 0 h 1008"/>
              <a:gd name="T14" fmla="*/ 0 w 5766"/>
              <a:gd name="T15" fmla="*/ 2147483646 h 1008"/>
              <a:gd name="T16" fmla="*/ 0 w 5766"/>
              <a:gd name="T17" fmla="*/ 2147483646 h 10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Freeform 27">
            <a:extLst>
              <a:ext uri="{FF2B5EF4-FFF2-40B4-BE49-F238E27FC236}">
                <a16:creationId xmlns:a16="http://schemas.microsoft.com/office/drawing/2014/main" id="{7A2E2D32-9DB9-01FA-DEAF-DC8CA31DB400}"/>
              </a:ext>
            </a:extLst>
          </p:cNvPr>
          <p:cNvSpPr>
            <a:spLocks/>
          </p:cNvSpPr>
          <p:nvPr/>
        </p:nvSpPr>
        <p:spPr bwMode="gray">
          <a:xfrm>
            <a:off x="0" y="0"/>
            <a:ext cx="9170988" cy="1362075"/>
          </a:xfrm>
          <a:custGeom>
            <a:avLst/>
            <a:gdLst/>
            <a:ahLst/>
            <a:cxnLst>
              <a:cxn ang="0">
                <a:pos x="0" y="858"/>
              </a:cxn>
              <a:cxn ang="0">
                <a:pos x="1926" y="857"/>
              </a:cxn>
              <a:cxn ang="0">
                <a:pos x="2157" y="793"/>
              </a:cxn>
              <a:cxn ang="0">
                <a:pos x="2509" y="473"/>
              </a:cxn>
              <a:cxn ang="0">
                <a:pos x="2970" y="390"/>
              </a:cxn>
              <a:cxn ang="0">
                <a:pos x="5773" y="388"/>
              </a:cxn>
              <a:cxn ang="0">
                <a:pos x="5777" y="0"/>
              </a:cxn>
              <a:cxn ang="0">
                <a:pos x="0" y="2"/>
              </a:cxn>
              <a:cxn ang="0">
                <a:pos x="0" y="858"/>
              </a:cxn>
            </a:cxnLst>
            <a:rect l="0" t="0" r="r" b="b"/>
            <a:pathLst>
              <a:path w="5777" h="858">
                <a:moveTo>
                  <a:pt x="0" y="858"/>
                </a:moveTo>
                <a:lnTo>
                  <a:pt x="1926" y="857"/>
                </a:lnTo>
                <a:cubicBezTo>
                  <a:pt x="2067" y="857"/>
                  <a:pt x="2068" y="850"/>
                  <a:pt x="2157" y="793"/>
                </a:cubicBezTo>
                <a:lnTo>
                  <a:pt x="2509" y="473"/>
                </a:lnTo>
                <a:cubicBezTo>
                  <a:pt x="2644" y="406"/>
                  <a:pt x="2477" y="396"/>
                  <a:pt x="2970" y="390"/>
                </a:cubicBezTo>
                <a:lnTo>
                  <a:pt x="5773" y="388"/>
                </a:lnTo>
                <a:lnTo>
                  <a:pt x="5777" y="0"/>
                </a:lnTo>
                <a:lnTo>
                  <a:pt x="0" y="2"/>
                </a:lnTo>
                <a:lnTo>
                  <a:pt x="0" y="858"/>
                </a:lnTo>
                <a:close/>
              </a:path>
            </a:pathLst>
          </a:custGeom>
          <a:blipFill dpi="0" rotWithShape="1">
            <a:blip r:embed="rId4" cstate="print">
              <a:duotone>
                <a:schemeClr val="accent6">
                  <a:shade val="45000"/>
                  <a:satMod val="135000"/>
                </a:schemeClr>
                <a:prstClr val="white"/>
              </a:duotone>
              <a:lum bright="54000" contrast="-70000"/>
            </a:blip>
            <a:srcRect/>
            <a:stretch>
              <a:fillRect/>
            </a:stretch>
          </a:blipFill>
          <a:ln w="9525">
            <a:noFill/>
            <a:round/>
            <a:headEnd/>
            <a:tailEnd/>
          </a:ln>
          <a:effectLst/>
        </p:spPr>
        <p:txBody>
          <a:bodyPr/>
          <a:lstStyle/>
          <a:p>
            <a:pPr eaLnBrk="1" hangingPunct="1">
              <a:defRPr/>
            </a:pPr>
            <a:endParaRPr lang="en-US">
              <a:latin typeface="Arial" charset="0"/>
            </a:endParaRPr>
          </a:p>
        </p:txBody>
      </p:sp>
      <p:sp>
        <p:nvSpPr>
          <p:cNvPr id="7" name="Freeform 37">
            <a:extLst>
              <a:ext uri="{FF2B5EF4-FFF2-40B4-BE49-F238E27FC236}">
                <a16:creationId xmlns:a16="http://schemas.microsoft.com/office/drawing/2014/main" id="{BB6FD80B-3ECC-4B36-9FD4-6D22E22A13F3}"/>
              </a:ext>
            </a:extLst>
          </p:cNvPr>
          <p:cNvSpPr>
            <a:spLocks/>
          </p:cNvSpPr>
          <p:nvPr/>
        </p:nvSpPr>
        <p:spPr bwMode="gray">
          <a:xfrm>
            <a:off x="0" y="4373563"/>
            <a:ext cx="9131300" cy="1036637"/>
          </a:xfrm>
          <a:custGeom>
            <a:avLst/>
            <a:gdLst>
              <a:gd name="T0" fmla="*/ 2147483646 w 5752"/>
              <a:gd name="T1" fmla="*/ 2147483646 h 444"/>
              <a:gd name="T2" fmla="*/ 2147483646 w 5752"/>
              <a:gd name="T3" fmla="*/ 2147483646 h 444"/>
              <a:gd name="T4" fmla="*/ 2147483646 w 5752"/>
              <a:gd name="T5" fmla="*/ 2147483646 h 444"/>
              <a:gd name="T6" fmla="*/ 2147483646 w 5752"/>
              <a:gd name="T7" fmla="*/ 2147483646 h 444"/>
              <a:gd name="T8" fmla="*/ 2147483646 w 5752"/>
              <a:gd name="T9" fmla="*/ 2147483646 h 444"/>
              <a:gd name="T10" fmla="*/ 0 w 5752"/>
              <a:gd name="T11" fmla="*/ 2147483646 h 444"/>
              <a:gd name="T12" fmla="*/ 0 w 5752"/>
              <a:gd name="T13" fmla="*/ 2147483646 h 444"/>
              <a:gd name="T14" fmla="*/ 2147483646 w 5752"/>
              <a:gd name="T15" fmla="*/ 2147483646 h 444"/>
              <a:gd name="T16" fmla="*/ 2147483646 w 5752"/>
              <a:gd name="T17" fmla="*/ 2147483646 h 444"/>
              <a:gd name="T18" fmla="*/ 2147483646 w 5752"/>
              <a:gd name="T19" fmla="*/ 2147483646 h 444"/>
              <a:gd name="T20" fmla="*/ 2147483646 w 5752"/>
              <a:gd name="T21" fmla="*/ 2147483646 h 444"/>
              <a:gd name="T22" fmla="*/ 2147483646 w 5752"/>
              <a:gd name="T23" fmla="*/ 2147483646 h 444"/>
              <a:gd name="T24" fmla="*/ 2147483646 w 5752"/>
              <a:gd name="T25" fmla="*/ 2147483646 h 4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2" h="444">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8" name="Picture 13" descr="Logo_hcmut">
            <a:extLst>
              <a:ext uri="{FF2B5EF4-FFF2-40B4-BE49-F238E27FC236}">
                <a16:creationId xmlns:a16="http://schemas.microsoft.com/office/drawing/2014/main" id="{BE02D49B-6BF8-14AD-5017-74604C80B6F6}"/>
              </a:ext>
            </a:extLst>
          </p:cNvPr>
          <p:cNvPicPr>
            <a:picLocks noChangeAspect="1" noChangeArrowheads="1"/>
          </p:cNvPicPr>
          <p:nvPr userDrawn="1"/>
        </p:nvPicPr>
        <p:blipFill>
          <a:blip r:embed="rId5"/>
          <a:srcRect/>
          <a:stretch>
            <a:fillRect/>
          </a:stretch>
        </p:blipFill>
        <p:spPr bwMode="auto">
          <a:xfrm>
            <a:off x="7581900" y="0"/>
            <a:ext cx="1562100" cy="1562100"/>
          </a:xfrm>
          <a:prstGeom prst="rect">
            <a:avLst/>
          </a:prstGeom>
          <a:noFill/>
          <a:ln w="9525">
            <a:noFill/>
            <a:miter lim="800000"/>
            <a:headEnd/>
            <a:tailEnd/>
          </a:ln>
          <a:effectLst>
            <a:outerShdw blurRad="50800" dist="50800" dir="5400000" algn="ctr" rotWithShape="0">
              <a:srgbClr val="000000">
                <a:alpha val="21000"/>
              </a:srgbClr>
            </a:outerShdw>
          </a:effectLst>
        </p:spPr>
      </p:pic>
      <p:sp>
        <p:nvSpPr>
          <p:cNvPr id="9" name="TextBox 8">
            <a:extLst>
              <a:ext uri="{FF2B5EF4-FFF2-40B4-BE49-F238E27FC236}">
                <a16:creationId xmlns:a16="http://schemas.microsoft.com/office/drawing/2014/main" id="{162A41B7-CCFC-AB38-FBF0-DF1D130013AF}"/>
              </a:ext>
            </a:extLst>
          </p:cNvPr>
          <p:cNvSpPr txBox="1">
            <a:spLocks noChangeArrowheads="1"/>
          </p:cNvSpPr>
          <p:nvPr userDrawn="1"/>
        </p:nvSpPr>
        <p:spPr bwMode="auto">
          <a:xfrm>
            <a:off x="3352800" y="6096000"/>
            <a:ext cx="2895600" cy="336550"/>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600"/>
          </a:p>
        </p:txBody>
      </p:sp>
      <p:sp>
        <p:nvSpPr>
          <p:cNvPr id="10" name="TextBox 12">
            <a:extLst>
              <a:ext uri="{FF2B5EF4-FFF2-40B4-BE49-F238E27FC236}">
                <a16:creationId xmlns:a16="http://schemas.microsoft.com/office/drawing/2014/main" id="{502169CB-B521-BF08-CE09-64DF5221C8EE}"/>
              </a:ext>
            </a:extLst>
          </p:cNvPr>
          <p:cNvSpPr txBox="1">
            <a:spLocks noChangeArrowheads="1"/>
          </p:cNvSpPr>
          <p:nvPr userDrawn="1"/>
        </p:nvSpPr>
        <p:spPr bwMode="auto">
          <a:xfrm>
            <a:off x="3390900" y="6453188"/>
            <a:ext cx="2895600" cy="307975"/>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1400" dirty="0">
                <a:solidFill>
                  <a:srgbClr val="2F6ACB"/>
                </a:solidFill>
              </a:rPr>
              <a:t>TP. </a:t>
            </a:r>
            <a:r>
              <a:rPr lang="en-US" altLang="en-US" sz="1400" dirty="0" err="1">
                <a:solidFill>
                  <a:srgbClr val="2F6ACB"/>
                </a:solidFill>
              </a:rPr>
              <a:t>Hồ</a:t>
            </a:r>
            <a:r>
              <a:rPr lang="en-US" altLang="en-US" sz="1400" dirty="0">
                <a:solidFill>
                  <a:srgbClr val="2F6ACB"/>
                </a:solidFill>
              </a:rPr>
              <a:t> Chí Minh  01/2026</a:t>
            </a:r>
          </a:p>
        </p:txBody>
      </p:sp>
      <p:sp>
        <p:nvSpPr>
          <p:cNvPr id="11" name="Slide Number Placeholder 12">
            <a:extLst>
              <a:ext uri="{FF2B5EF4-FFF2-40B4-BE49-F238E27FC236}">
                <a16:creationId xmlns:a16="http://schemas.microsoft.com/office/drawing/2014/main" id="{B2822A74-4986-2C7A-BDCD-62AB9850440C}"/>
              </a:ext>
            </a:extLst>
          </p:cNvPr>
          <p:cNvSpPr>
            <a:spLocks noGrp="1" noChangeArrowheads="1"/>
          </p:cNvSpPr>
          <p:nvPr>
            <p:ph type="sldNum" sz="quarter" idx="10"/>
          </p:nvPr>
        </p:nvSpPr>
        <p:spPr>
          <a:xfrm>
            <a:off x="0" y="6610350"/>
            <a:ext cx="381000" cy="247650"/>
          </a:xfrm>
        </p:spPr>
        <p:txBody>
          <a:bodyPr/>
          <a:lstStyle>
            <a:lvl1pPr>
              <a:defRPr sz="1000"/>
            </a:lvl1pPr>
          </a:lstStyle>
          <a:p>
            <a:pPr>
              <a:defRPr/>
            </a:pPr>
            <a:fld id="{A7931676-18C5-4658-97D5-3CACAFB6E1EC}" type="slidenum">
              <a:rPr lang="en-US" altLang="en-US"/>
              <a:pPr>
                <a:defRPr/>
              </a:pPr>
              <a:t>‹#›</a:t>
            </a:fld>
            <a:endParaRPr lang="en-US" altLang="en-US"/>
          </a:p>
        </p:txBody>
      </p:sp>
    </p:spTree>
    <p:extLst>
      <p:ext uri="{BB962C8B-B14F-4D97-AF65-F5344CB8AC3E}">
        <p14:creationId xmlns:p14="http://schemas.microsoft.com/office/powerpoint/2010/main" val="3846670326"/>
      </p:ext>
    </p:extLst>
  </p:cSld>
  <p:clrMapOvr>
    <a:masterClrMapping/>
  </p:clrMapOvr>
  <p:transition spd="slow">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1000"/>
                                        <p:tgtEl>
                                          <p:spTgt spid="6"/>
                                        </p:tgtEl>
                                      </p:cBhvr>
                                    </p:animEffect>
                                  </p:childTnLst>
                                </p:cTn>
                              </p:par>
                              <p:par>
                                <p:cTn id="12" presetID="22" presetClass="entr" presetSubtype="8"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reeform 73">
            <a:extLst>
              <a:ext uri="{FF2B5EF4-FFF2-40B4-BE49-F238E27FC236}">
                <a16:creationId xmlns:a16="http://schemas.microsoft.com/office/drawing/2014/main" id="{94FC595E-AB51-EF86-23FB-5A6E75561432}"/>
              </a:ext>
            </a:extLst>
          </p:cNvPr>
          <p:cNvSpPr>
            <a:spLocks/>
          </p:cNvSpPr>
          <p:nvPr/>
        </p:nvSpPr>
        <p:spPr bwMode="gray">
          <a:xfrm>
            <a:off x="0" y="76200"/>
            <a:ext cx="9131300" cy="1219200"/>
          </a:xfrm>
          <a:custGeom>
            <a:avLst/>
            <a:gdLst>
              <a:gd name="T0" fmla="*/ 2147483646 w 5752"/>
              <a:gd name="T1" fmla="*/ 2147483646 h 444"/>
              <a:gd name="T2" fmla="*/ 2147483646 w 5752"/>
              <a:gd name="T3" fmla="*/ 2147483646 h 444"/>
              <a:gd name="T4" fmla="*/ 2147483646 w 5752"/>
              <a:gd name="T5" fmla="*/ 2147483646 h 444"/>
              <a:gd name="T6" fmla="*/ 2147483646 w 5752"/>
              <a:gd name="T7" fmla="*/ 2147483646 h 444"/>
              <a:gd name="T8" fmla="*/ 2147483646 w 5752"/>
              <a:gd name="T9" fmla="*/ 2147483646 h 444"/>
              <a:gd name="T10" fmla="*/ 0 w 5752"/>
              <a:gd name="T11" fmla="*/ 2147483646 h 444"/>
              <a:gd name="T12" fmla="*/ 0 w 5752"/>
              <a:gd name="T13" fmla="*/ 2147483646 h 444"/>
              <a:gd name="T14" fmla="*/ 2147483646 w 5752"/>
              <a:gd name="T15" fmla="*/ 2147483646 h 444"/>
              <a:gd name="T16" fmla="*/ 2147483646 w 5752"/>
              <a:gd name="T17" fmla="*/ 2147483646 h 444"/>
              <a:gd name="T18" fmla="*/ 2147483646 w 5752"/>
              <a:gd name="T19" fmla="*/ 2147483646 h 444"/>
              <a:gd name="T20" fmla="*/ 2147483646 w 5752"/>
              <a:gd name="T21" fmla="*/ 2147483646 h 444"/>
              <a:gd name="T22" fmla="*/ 2147483646 w 5752"/>
              <a:gd name="T23" fmla="*/ 2147483646 h 444"/>
              <a:gd name="T24" fmla="*/ 2147483646 w 5752"/>
              <a:gd name="T25" fmla="*/ 2147483646 h 4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2" h="444">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5" name="Picture 6" descr="hinh3.png">
            <a:extLst>
              <a:ext uri="{FF2B5EF4-FFF2-40B4-BE49-F238E27FC236}">
                <a16:creationId xmlns:a16="http://schemas.microsoft.com/office/drawing/2014/main" id="{A8242FEB-B5C2-48D4-0F78-87E0BA448D1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3" descr="Logo_hcmut">
            <a:extLst>
              <a:ext uri="{FF2B5EF4-FFF2-40B4-BE49-F238E27FC236}">
                <a16:creationId xmlns:a16="http://schemas.microsoft.com/office/drawing/2014/main" id="{7838313D-4AB7-174F-B5AE-23562AD5033A}"/>
              </a:ext>
            </a:extLst>
          </p:cNvPr>
          <p:cNvPicPr>
            <a:picLocks noChangeAspect="1" noChangeArrowheads="1"/>
          </p:cNvPicPr>
          <p:nvPr userDrawn="1"/>
        </p:nvPicPr>
        <p:blipFill>
          <a:blip r:embed="rId3"/>
          <a:srcRect/>
          <a:stretch>
            <a:fillRect/>
          </a:stretch>
        </p:blipFill>
        <p:spPr bwMode="auto">
          <a:xfrm>
            <a:off x="0" y="0"/>
            <a:ext cx="838200" cy="838200"/>
          </a:xfrm>
          <a:prstGeom prst="rect">
            <a:avLst/>
          </a:prstGeom>
          <a:noFill/>
          <a:ln w="9525">
            <a:noFill/>
            <a:miter lim="800000"/>
            <a:headEnd/>
            <a:tailEnd/>
          </a:ln>
          <a:effectLst>
            <a:outerShdw blurRad="50800" dist="50800" dir="5400000" algn="ctr" rotWithShape="0">
              <a:srgbClr val="000000">
                <a:alpha val="21000"/>
              </a:srgbClr>
            </a:outerShdw>
          </a:effectLst>
        </p:spPr>
      </p:pic>
      <p:sp>
        <p:nvSpPr>
          <p:cNvPr id="7" name="Text Box 11">
            <a:extLst>
              <a:ext uri="{FF2B5EF4-FFF2-40B4-BE49-F238E27FC236}">
                <a16:creationId xmlns:a16="http://schemas.microsoft.com/office/drawing/2014/main" id="{D2D7C1EF-5C7E-92BA-9839-C13B923BDAF1}"/>
              </a:ext>
            </a:extLst>
          </p:cNvPr>
          <p:cNvSpPr txBox="1">
            <a:spLocks noChangeArrowheads="1"/>
          </p:cNvSpPr>
          <p:nvPr userDrawn="1"/>
        </p:nvSpPr>
        <p:spPr bwMode="auto">
          <a:xfrm>
            <a:off x="4114800" y="6597650"/>
            <a:ext cx="914400" cy="336550"/>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endParaRPr/>
          </a:p>
        </p:txBody>
      </p:sp>
      <p:sp>
        <p:nvSpPr>
          <p:cNvPr id="2" name="Title 1"/>
          <p:cNvSpPr>
            <a:spLocks noGrp="1"/>
          </p:cNvSpPr>
          <p:nvPr>
            <p:ph type="title"/>
          </p:nvPr>
        </p:nvSpPr>
        <p:spPr>
          <a:xfrm>
            <a:off x="381000" y="2667000"/>
            <a:ext cx="8401050" cy="674687"/>
          </a:xfrm>
          <a:prstGeom prst="rect">
            <a:avLst/>
          </a:prstGeom>
        </p:spPr>
        <p:txBody>
          <a:bodyPr/>
          <a:lstStyle/>
          <a:p>
            <a:r>
              <a:rPr lang="en-US" dirty="0"/>
              <a:t>Click to edit Master title style</a:t>
            </a:r>
          </a:p>
        </p:txBody>
      </p:sp>
      <p:sp>
        <p:nvSpPr>
          <p:cNvPr id="3" name="Content Placeholder 2"/>
          <p:cNvSpPr>
            <a:spLocks noGrp="1"/>
          </p:cNvSpPr>
          <p:nvPr>
            <p:ph idx="1"/>
          </p:nvPr>
        </p:nvSpPr>
        <p:spPr>
          <a:xfrm>
            <a:off x="0" y="990600"/>
            <a:ext cx="8437562" cy="4754563"/>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1">
            <a:extLst>
              <a:ext uri="{FF2B5EF4-FFF2-40B4-BE49-F238E27FC236}">
                <a16:creationId xmlns:a16="http://schemas.microsoft.com/office/drawing/2014/main" id="{8478F29C-0137-7138-17F5-622AF03228BC}"/>
              </a:ext>
            </a:extLst>
          </p:cNvPr>
          <p:cNvSpPr>
            <a:spLocks noGrp="1" noChangeArrowheads="1"/>
          </p:cNvSpPr>
          <p:nvPr>
            <p:ph type="sldNum" sz="quarter" idx="10"/>
          </p:nvPr>
        </p:nvSpPr>
        <p:spPr/>
        <p:txBody>
          <a:bodyPr/>
          <a:lstStyle>
            <a:lvl1pPr>
              <a:defRPr/>
            </a:lvl1pPr>
          </a:lstStyle>
          <a:p>
            <a:pPr>
              <a:defRPr/>
            </a:pPr>
            <a:fld id="{525A708C-EA6F-4F89-9B75-532490DFD136}" type="slidenum">
              <a:rPr lang="en-US" altLang="en-US"/>
              <a:pPr>
                <a:defRPr/>
              </a:pPr>
              <a:t>‹#›</a:t>
            </a:fld>
            <a:endParaRPr lang="en-US" altLang="en-US"/>
          </a:p>
        </p:txBody>
      </p:sp>
    </p:spTree>
    <p:extLst>
      <p:ext uri="{BB962C8B-B14F-4D97-AF65-F5344CB8AC3E}">
        <p14:creationId xmlns:p14="http://schemas.microsoft.com/office/powerpoint/2010/main" val="2414849288"/>
      </p:ext>
    </p:extLst>
  </p:cSld>
  <p:clrMapOvr>
    <a:masterClrMapping/>
  </p:clrMapOvr>
  <p:transition spd="slow">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Freeform 73">
            <a:extLst>
              <a:ext uri="{FF2B5EF4-FFF2-40B4-BE49-F238E27FC236}">
                <a16:creationId xmlns:a16="http://schemas.microsoft.com/office/drawing/2014/main" id="{D0F71703-9F32-6067-5BCD-CD1E6EE46251}"/>
              </a:ext>
            </a:extLst>
          </p:cNvPr>
          <p:cNvSpPr>
            <a:spLocks/>
          </p:cNvSpPr>
          <p:nvPr/>
        </p:nvSpPr>
        <p:spPr bwMode="gray">
          <a:xfrm>
            <a:off x="0" y="381000"/>
            <a:ext cx="9131300" cy="914400"/>
          </a:xfrm>
          <a:custGeom>
            <a:avLst/>
            <a:gdLst>
              <a:gd name="T0" fmla="*/ 2147483646 w 5752"/>
              <a:gd name="T1" fmla="*/ 2147483646 h 444"/>
              <a:gd name="T2" fmla="*/ 2147483646 w 5752"/>
              <a:gd name="T3" fmla="*/ 2147483646 h 444"/>
              <a:gd name="T4" fmla="*/ 2147483646 w 5752"/>
              <a:gd name="T5" fmla="*/ 2147483646 h 444"/>
              <a:gd name="T6" fmla="*/ 2147483646 w 5752"/>
              <a:gd name="T7" fmla="*/ 2147483646 h 444"/>
              <a:gd name="T8" fmla="*/ 2147483646 w 5752"/>
              <a:gd name="T9" fmla="*/ 2147483646 h 444"/>
              <a:gd name="T10" fmla="*/ 0 w 5752"/>
              <a:gd name="T11" fmla="*/ 2147483646 h 444"/>
              <a:gd name="T12" fmla="*/ 0 w 5752"/>
              <a:gd name="T13" fmla="*/ 2147483646 h 444"/>
              <a:gd name="T14" fmla="*/ 2147483646 w 5752"/>
              <a:gd name="T15" fmla="*/ 2147483646 h 444"/>
              <a:gd name="T16" fmla="*/ 2147483646 w 5752"/>
              <a:gd name="T17" fmla="*/ 2147483646 h 444"/>
              <a:gd name="T18" fmla="*/ 2147483646 w 5752"/>
              <a:gd name="T19" fmla="*/ 2147483646 h 444"/>
              <a:gd name="T20" fmla="*/ 2147483646 w 5752"/>
              <a:gd name="T21" fmla="*/ 2147483646 h 444"/>
              <a:gd name="T22" fmla="*/ 2147483646 w 5752"/>
              <a:gd name="T23" fmla="*/ 2147483646 h 444"/>
              <a:gd name="T24" fmla="*/ 2147483646 w 5752"/>
              <a:gd name="T25" fmla="*/ 2147483646 h 4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2" h="444">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3" name="Picture 15" descr="DHBK">
            <a:extLst>
              <a:ext uri="{FF2B5EF4-FFF2-40B4-BE49-F238E27FC236}">
                <a16:creationId xmlns:a16="http://schemas.microsoft.com/office/drawing/2014/main" id="{0C1107DE-F3A9-8531-720C-3494F99DD51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3937000"/>
          </a:xfrm>
          <a:prstGeom prst="rect">
            <a:avLst/>
          </a:prstGeom>
          <a:blipFill dpi="0" rotWithShape="1">
            <a:blip r:embed="rId3"/>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pic>
      <p:sp>
        <p:nvSpPr>
          <p:cNvPr id="4" name="Freeform 39">
            <a:extLst>
              <a:ext uri="{FF2B5EF4-FFF2-40B4-BE49-F238E27FC236}">
                <a16:creationId xmlns:a16="http://schemas.microsoft.com/office/drawing/2014/main" id="{D5F20616-C07E-254D-AA51-2C916D8DEDF6}"/>
              </a:ext>
            </a:extLst>
          </p:cNvPr>
          <p:cNvSpPr>
            <a:spLocks/>
          </p:cNvSpPr>
          <p:nvPr/>
        </p:nvSpPr>
        <p:spPr bwMode="gray">
          <a:xfrm>
            <a:off x="0" y="6346825"/>
            <a:ext cx="9131300" cy="511175"/>
          </a:xfrm>
          <a:custGeom>
            <a:avLst/>
            <a:gdLst>
              <a:gd name="T0" fmla="*/ 2147483646 w 5752"/>
              <a:gd name="T1" fmla="*/ 2147483646 h 444"/>
              <a:gd name="T2" fmla="*/ 2147483646 w 5752"/>
              <a:gd name="T3" fmla="*/ 2147483646 h 444"/>
              <a:gd name="T4" fmla="*/ 2147483646 w 5752"/>
              <a:gd name="T5" fmla="*/ 2147483646 h 444"/>
              <a:gd name="T6" fmla="*/ 2147483646 w 5752"/>
              <a:gd name="T7" fmla="*/ 2147483646 h 444"/>
              <a:gd name="T8" fmla="*/ 2147483646 w 5752"/>
              <a:gd name="T9" fmla="*/ 2147483646 h 444"/>
              <a:gd name="T10" fmla="*/ 0 w 5752"/>
              <a:gd name="T11" fmla="*/ 2147483646 h 444"/>
              <a:gd name="T12" fmla="*/ 0 w 5752"/>
              <a:gd name="T13" fmla="*/ 2147483646 h 444"/>
              <a:gd name="T14" fmla="*/ 2147483646 w 5752"/>
              <a:gd name="T15" fmla="*/ 2147483646 h 444"/>
              <a:gd name="T16" fmla="*/ 2147483646 w 5752"/>
              <a:gd name="T17" fmla="*/ 2147483646 h 444"/>
              <a:gd name="T18" fmla="*/ 2147483646 w 5752"/>
              <a:gd name="T19" fmla="*/ 2147483646 h 444"/>
              <a:gd name="T20" fmla="*/ 2147483646 w 5752"/>
              <a:gd name="T21" fmla="*/ 2147483646 h 444"/>
              <a:gd name="T22" fmla="*/ 2147483646 w 5752"/>
              <a:gd name="T23" fmla="*/ 2147483646 h 444"/>
              <a:gd name="T24" fmla="*/ 2147483646 w 5752"/>
              <a:gd name="T25" fmla="*/ 2147483646 h 4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2" h="444">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 name="Freeform 30">
            <a:extLst>
              <a:ext uri="{FF2B5EF4-FFF2-40B4-BE49-F238E27FC236}">
                <a16:creationId xmlns:a16="http://schemas.microsoft.com/office/drawing/2014/main" id="{FB3C0BF2-625E-17E2-8C9D-541599008680}"/>
              </a:ext>
            </a:extLst>
          </p:cNvPr>
          <p:cNvSpPr>
            <a:spLocks/>
          </p:cNvSpPr>
          <p:nvPr/>
        </p:nvSpPr>
        <p:spPr bwMode="gray">
          <a:xfrm>
            <a:off x="0" y="0"/>
            <a:ext cx="9153525" cy="1600200"/>
          </a:xfrm>
          <a:custGeom>
            <a:avLst/>
            <a:gdLst>
              <a:gd name="T0" fmla="*/ 0 w 5766"/>
              <a:gd name="T1" fmla="*/ 2147483646 h 1008"/>
              <a:gd name="T2" fmla="*/ 2147483646 w 5766"/>
              <a:gd name="T3" fmla="*/ 2147483646 h 1008"/>
              <a:gd name="T4" fmla="*/ 2147483646 w 5766"/>
              <a:gd name="T5" fmla="*/ 2147483646 h 1008"/>
              <a:gd name="T6" fmla="*/ 2147483646 w 5766"/>
              <a:gd name="T7" fmla="*/ 2147483646 h 1008"/>
              <a:gd name="T8" fmla="*/ 2147483646 w 5766"/>
              <a:gd name="T9" fmla="*/ 2147483646 h 1008"/>
              <a:gd name="T10" fmla="*/ 2147483646 w 5766"/>
              <a:gd name="T11" fmla="*/ 2147483646 h 1008"/>
              <a:gd name="T12" fmla="*/ 2147483646 w 5766"/>
              <a:gd name="T13" fmla="*/ 0 h 1008"/>
              <a:gd name="T14" fmla="*/ 0 w 5766"/>
              <a:gd name="T15" fmla="*/ 2147483646 h 1008"/>
              <a:gd name="T16" fmla="*/ 0 w 5766"/>
              <a:gd name="T17" fmla="*/ 2147483646 h 100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5766" h="1008">
                <a:moveTo>
                  <a:pt x="0" y="1008"/>
                </a:moveTo>
                <a:lnTo>
                  <a:pt x="1884" y="1008"/>
                </a:lnTo>
                <a:cubicBezTo>
                  <a:pt x="2088" y="990"/>
                  <a:pt x="2034" y="1005"/>
                  <a:pt x="2152" y="921"/>
                </a:cubicBezTo>
                <a:lnTo>
                  <a:pt x="2560" y="531"/>
                </a:lnTo>
                <a:cubicBezTo>
                  <a:pt x="2683" y="452"/>
                  <a:pt x="2611" y="454"/>
                  <a:pt x="2892" y="448"/>
                </a:cubicBezTo>
                <a:lnTo>
                  <a:pt x="5766" y="461"/>
                </a:lnTo>
                <a:lnTo>
                  <a:pt x="5758" y="0"/>
                </a:lnTo>
                <a:lnTo>
                  <a:pt x="0" y="2"/>
                </a:lnTo>
                <a:lnTo>
                  <a:pt x="0" y="1008"/>
                </a:lnTo>
                <a:close/>
              </a:path>
            </a:pathLst>
          </a:custGeom>
          <a:gradFill rotWithShape="1">
            <a:gsLst>
              <a:gs pos="0">
                <a:schemeClr val="bg1"/>
              </a:gs>
              <a:gs pos="100000">
                <a:schemeClr val="bg2"/>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 name="Freeform 27">
            <a:extLst>
              <a:ext uri="{FF2B5EF4-FFF2-40B4-BE49-F238E27FC236}">
                <a16:creationId xmlns:a16="http://schemas.microsoft.com/office/drawing/2014/main" id="{C09FD043-3EBD-F984-945A-2B97D17C953F}"/>
              </a:ext>
            </a:extLst>
          </p:cNvPr>
          <p:cNvSpPr>
            <a:spLocks/>
          </p:cNvSpPr>
          <p:nvPr/>
        </p:nvSpPr>
        <p:spPr bwMode="gray">
          <a:xfrm>
            <a:off x="0" y="0"/>
            <a:ext cx="9170988" cy="1362075"/>
          </a:xfrm>
          <a:custGeom>
            <a:avLst/>
            <a:gdLst/>
            <a:ahLst/>
            <a:cxnLst>
              <a:cxn ang="0">
                <a:pos x="0" y="858"/>
              </a:cxn>
              <a:cxn ang="0">
                <a:pos x="1926" y="857"/>
              </a:cxn>
              <a:cxn ang="0">
                <a:pos x="2157" y="793"/>
              </a:cxn>
              <a:cxn ang="0">
                <a:pos x="2509" y="473"/>
              </a:cxn>
              <a:cxn ang="0">
                <a:pos x="2970" y="390"/>
              </a:cxn>
              <a:cxn ang="0">
                <a:pos x="5773" y="388"/>
              </a:cxn>
              <a:cxn ang="0">
                <a:pos x="5777" y="0"/>
              </a:cxn>
              <a:cxn ang="0">
                <a:pos x="0" y="2"/>
              </a:cxn>
              <a:cxn ang="0">
                <a:pos x="0" y="858"/>
              </a:cxn>
            </a:cxnLst>
            <a:rect l="0" t="0" r="r" b="b"/>
            <a:pathLst>
              <a:path w="5777" h="858">
                <a:moveTo>
                  <a:pt x="0" y="858"/>
                </a:moveTo>
                <a:lnTo>
                  <a:pt x="1926" y="857"/>
                </a:lnTo>
                <a:cubicBezTo>
                  <a:pt x="2067" y="857"/>
                  <a:pt x="2068" y="850"/>
                  <a:pt x="2157" y="793"/>
                </a:cubicBezTo>
                <a:lnTo>
                  <a:pt x="2509" y="473"/>
                </a:lnTo>
                <a:cubicBezTo>
                  <a:pt x="2644" y="406"/>
                  <a:pt x="2477" y="396"/>
                  <a:pt x="2970" y="390"/>
                </a:cubicBezTo>
                <a:lnTo>
                  <a:pt x="5773" y="388"/>
                </a:lnTo>
                <a:lnTo>
                  <a:pt x="5777" y="0"/>
                </a:lnTo>
                <a:lnTo>
                  <a:pt x="0" y="2"/>
                </a:lnTo>
                <a:lnTo>
                  <a:pt x="0" y="858"/>
                </a:lnTo>
                <a:close/>
              </a:path>
            </a:pathLst>
          </a:custGeom>
          <a:blipFill dpi="0" rotWithShape="1">
            <a:blip r:embed="rId4" cstate="print">
              <a:duotone>
                <a:schemeClr val="accent6">
                  <a:shade val="45000"/>
                  <a:satMod val="135000"/>
                </a:schemeClr>
                <a:prstClr val="white"/>
              </a:duotone>
              <a:lum bright="54000" contrast="-70000"/>
            </a:blip>
            <a:srcRect/>
            <a:stretch>
              <a:fillRect/>
            </a:stretch>
          </a:blipFill>
          <a:ln w="9525">
            <a:noFill/>
            <a:round/>
            <a:headEnd/>
            <a:tailEnd/>
          </a:ln>
          <a:effectLst/>
        </p:spPr>
        <p:txBody>
          <a:bodyPr/>
          <a:lstStyle/>
          <a:p>
            <a:pPr eaLnBrk="1" hangingPunct="1">
              <a:defRPr/>
            </a:pPr>
            <a:endParaRPr lang="en-US">
              <a:latin typeface="Arial" charset="0"/>
            </a:endParaRPr>
          </a:p>
        </p:txBody>
      </p:sp>
      <p:sp>
        <p:nvSpPr>
          <p:cNvPr id="7" name="Freeform 37">
            <a:extLst>
              <a:ext uri="{FF2B5EF4-FFF2-40B4-BE49-F238E27FC236}">
                <a16:creationId xmlns:a16="http://schemas.microsoft.com/office/drawing/2014/main" id="{F08401C9-8DB4-954E-05F4-D4947E3B9340}"/>
              </a:ext>
            </a:extLst>
          </p:cNvPr>
          <p:cNvSpPr>
            <a:spLocks/>
          </p:cNvSpPr>
          <p:nvPr/>
        </p:nvSpPr>
        <p:spPr bwMode="gray">
          <a:xfrm>
            <a:off x="0" y="4373563"/>
            <a:ext cx="9131300" cy="1036637"/>
          </a:xfrm>
          <a:custGeom>
            <a:avLst/>
            <a:gdLst>
              <a:gd name="T0" fmla="*/ 2147483646 w 5752"/>
              <a:gd name="T1" fmla="*/ 2147483646 h 444"/>
              <a:gd name="T2" fmla="*/ 2147483646 w 5752"/>
              <a:gd name="T3" fmla="*/ 2147483646 h 444"/>
              <a:gd name="T4" fmla="*/ 2147483646 w 5752"/>
              <a:gd name="T5" fmla="*/ 2147483646 h 444"/>
              <a:gd name="T6" fmla="*/ 2147483646 w 5752"/>
              <a:gd name="T7" fmla="*/ 2147483646 h 444"/>
              <a:gd name="T8" fmla="*/ 2147483646 w 5752"/>
              <a:gd name="T9" fmla="*/ 2147483646 h 444"/>
              <a:gd name="T10" fmla="*/ 0 w 5752"/>
              <a:gd name="T11" fmla="*/ 2147483646 h 444"/>
              <a:gd name="T12" fmla="*/ 0 w 5752"/>
              <a:gd name="T13" fmla="*/ 2147483646 h 444"/>
              <a:gd name="T14" fmla="*/ 2147483646 w 5752"/>
              <a:gd name="T15" fmla="*/ 2147483646 h 444"/>
              <a:gd name="T16" fmla="*/ 2147483646 w 5752"/>
              <a:gd name="T17" fmla="*/ 2147483646 h 444"/>
              <a:gd name="T18" fmla="*/ 2147483646 w 5752"/>
              <a:gd name="T19" fmla="*/ 2147483646 h 444"/>
              <a:gd name="T20" fmla="*/ 2147483646 w 5752"/>
              <a:gd name="T21" fmla="*/ 2147483646 h 444"/>
              <a:gd name="T22" fmla="*/ 2147483646 w 5752"/>
              <a:gd name="T23" fmla="*/ 2147483646 h 444"/>
              <a:gd name="T24" fmla="*/ 2147483646 w 5752"/>
              <a:gd name="T25" fmla="*/ 2147483646 h 4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2" h="444">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pic>
        <p:nvPicPr>
          <p:cNvPr id="8" name="Picture 13" descr="Logo_hcmut">
            <a:extLst>
              <a:ext uri="{FF2B5EF4-FFF2-40B4-BE49-F238E27FC236}">
                <a16:creationId xmlns:a16="http://schemas.microsoft.com/office/drawing/2014/main" id="{F3B60253-A8A2-4CDB-F303-5167AFCD532E}"/>
              </a:ext>
            </a:extLst>
          </p:cNvPr>
          <p:cNvPicPr>
            <a:picLocks noChangeAspect="1" noChangeArrowheads="1"/>
          </p:cNvPicPr>
          <p:nvPr userDrawn="1"/>
        </p:nvPicPr>
        <p:blipFill>
          <a:blip r:embed="rId5"/>
          <a:srcRect/>
          <a:stretch>
            <a:fillRect/>
          </a:stretch>
        </p:blipFill>
        <p:spPr bwMode="auto">
          <a:xfrm>
            <a:off x="7581900" y="0"/>
            <a:ext cx="1562100" cy="1562100"/>
          </a:xfrm>
          <a:prstGeom prst="rect">
            <a:avLst/>
          </a:prstGeom>
          <a:noFill/>
          <a:ln w="9525">
            <a:noFill/>
            <a:miter lim="800000"/>
            <a:headEnd/>
            <a:tailEnd/>
          </a:ln>
          <a:effectLst>
            <a:outerShdw blurRad="50800" dist="50800" dir="5400000" algn="ctr" rotWithShape="0">
              <a:srgbClr val="000000">
                <a:alpha val="21000"/>
              </a:srgbClr>
            </a:outerShdw>
          </a:effectLst>
        </p:spPr>
      </p:pic>
      <p:sp>
        <p:nvSpPr>
          <p:cNvPr id="9" name="TextBox 8">
            <a:extLst>
              <a:ext uri="{FF2B5EF4-FFF2-40B4-BE49-F238E27FC236}">
                <a16:creationId xmlns:a16="http://schemas.microsoft.com/office/drawing/2014/main" id="{950B2C62-6F49-D9A6-843F-6E39D1F4535E}"/>
              </a:ext>
            </a:extLst>
          </p:cNvPr>
          <p:cNvSpPr txBox="1">
            <a:spLocks noChangeArrowheads="1"/>
          </p:cNvSpPr>
          <p:nvPr userDrawn="1"/>
        </p:nvSpPr>
        <p:spPr bwMode="auto">
          <a:xfrm>
            <a:off x="0" y="4343400"/>
            <a:ext cx="9326563" cy="1016000"/>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ts val="0"/>
              </a:spcBef>
              <a:defRPr/>
            </a:pPr>
            <a:r>
              <a:rPr sz="2400" b="1">
                <a:solidFill>
                  <a:srgbClr val="FFFFFF"/>
                </a:solidFill>
                <a:latin typeface="Arial"/>
              </a:rPr>
              <a:t>NGHIÊN CỨU VÀ THI CÔNG THIẾT BỊ NHÀ THÔNG MINH</a:t>
            </a:r>
          </a:p>
          <a:p>
            <a:pPr algn="ctr">
              <a:spcBef>
                <a:spcPts val="200"/>
              </a:spcBef>
            </a:pPr>
            <a:r>
              <a:rPr sz="2400" b="1">
                <a:solidFill>
                  <a:srgbClr val="FFFFFF"/>
                </a:solidFill>
                <a:latin typeface="Arial"/>
              </a:rPr>
              <a:t>THEO CHUẨN MATTER OVER WI-FI</a:t>
            </a:r>
          </a:p>
        </p:txBody>
      </p:sp>
      <p:sp>
        <p:nvSpPr>
          <p:cNvPr id="10" name="TextBox 9">
            <a:extLst>
              <a:ext uri="{FF2B5EF4-FFF2-40B4-BE49-F238E27FC236}">
                <a16:creationId xmlns:a16="http://schemas.microsoft.com/office/drawing/2014/main" id="{F56F02C0-42F6-123F-2C04-187EE49BAFD4}"/>
              </a:ext>
            </a:extLst>
          </p:cNvPr>
          <p:cNvSpPr txBox="1">
            <a:spLocks noChangeArrowheads="1"/>
          </p:cNvSpPr>
          <p:nvPr userDrawn="1"/>
        </p:nvSpPr>
        <p:spPr bwMode="auto">
          <a:xfrm>
            <a:off x="3352800" y="6096000"/>
            <a:ext cx="2895600" cy="336550"/>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600"/>
          </a:p>
        </p:txBody>
      </p:sp>
      <p:sp>
        <p:nvSpPr>
          <p:cNvPr id="11" name="TextBox 12">
            <a:extLst>
              <a:ext uri="{FF2B5EF4-FFF2-40B4-BE49-F238E27FC236}">
                <a16:creationId xmlns:a16="http://schemas.microsoft.com/office/drawing/2014/main" id="{F64F7306-FE0F-85DA-5F1E-1CB34D6DA79D}"/>
              </a:ext>
            </a:extLst>
          </p:cNvPr>
          <p:cNvSpPr txBox="1">
            <a:spLocks noChangeArrowheads="1"/>
          </p:cNvSpPr>
          <p:nvPr userDrawn="1"/>
        </p:nvSpPr>
        <p:spPr bwMode="auto">
          <a:xfrm>
            <a:off x="3390900" y="6453188"/>
            <a:ext cx="2895600" cy="307975"/>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ts val="0"/>
              </a:spcBef>
              <a:defRPr/>
            </a:pPr>
            <a:r>
              <a:rPr sz="1400" b="0">
                <a:solidFill>
                  <a:srgbClr val="1A1A1A"/>
                </a:solidFill>
                <a:latin typeface="Arial"/>
              </a:rPr>
              <a:t>TP. Hồ Chí Minh, 08/2026</a:t>
            </a:r>
          </a:p>
        </p:txBody>
      </p:sp>
      <p:sp>
        <p:nvSpPr>
          <p:cNvPr id="12" name="TextBox 11">
            <a:extLst>
              <a:ext uri="{FF2B5EF4-FFF2-40B4-BE49-F238E27FC236}">
                <a16:creationId xmlns:a16="http://schemas.microsoft.com/office/drawing/2014/main" id="{9FB7F8C2-E853-7E5C-0049-BA9634C73241}"/>
              </a:ext>
            </a:extLst>
          </p:cNvPr>
          <p:cNvSpPr txBox="1">
            <a:spLocks noChangeArrowheads="1"/>
          </p:cNvSpPr>
          <p:nvPr userDrawn="1"/>
        </p:nvSpPr>
        <p:spPr bwMode="auto">
          <a:xfrm>
            <a:off x="2194560" y="5870448"/>
            <a:ext cx="4754880" cy="369888"/>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ts val="0"/>
              </a:spcBef>
              <a:defRPr/>
            </a:pPr>
            <a:r>
              <a:rPr sz="1500" b="1">
                <a:solidFill>
                  <a:srgbClr val="1A1A1A"/>
                </a:solidFill>
                <a:latin typeface="Arial"/>
              </a:rPr>
              <a:t>SVTH: Nguyễn Duy Hải — MSSV 2210891</a:t>
            </a:r>
            <a:endParaRPr lang="en-US" altLang="en-US" sz="1200" b="1">
              <a:solidFill>
                <a:srgbClr val="002060"/>
              </a:solidFill>
            </a:endParaRPr>
          </a:p>
        </p:txBody>
      </p:sp>
      <p:sp>
        <p:nvSpPr>
          <p:cNvPr id="13" name="Slide Number Placeholder 12">
            <a:extLst>
              <a:ext uri="{FF2B5EF4-FFF2-40B4-BE49-F238E27FC236}">
                <a16:creationId xmlns:a16="http://schemas.microsoft.com/office/drawing/2014/main" id="{7F81E976-3865-AAE8-18ED-1914C2851EE9}"/>
              </a:ext>
            </a:extLst>
          </p:cNvPr>
          <p:cNvSpPr>
            <a:spLocks noGrp="1" noChangeArrowheads="1"/>
          </p:cNvSpPr>
          <p:nvPr>
            <p:ph type="sldNum" sz="quarter" idx="10"/>
          </p:nvPr>
        </p:nvSpPr>
        <p:spPr>
          <a:xfrm>
            <a:off x="0" y="6610350"/>
            <a:ext cx="381000" cy="247650"/>
          </a:xfrm>
        </p:spPr>
        <p:txBody>
          <a:bodyPr/>
          <a:lstStyle>
            <a:lvl1pPr>
              <a:defRPr sz="1000"/>
            </a:lvl1pPr>
          </a:lstStyle>
          <a:p>
            <a:pPr>
              <a:defRPr/>
            </a:pPr>
            <a:fld id="{EC30A50D-9598-41C4-8108-193CA432DB02}" type="slidenum">
              <a:rPr lang="en-US" altLang="en-US"/>
              <a:pPr>
                <a:defRPr/>
              </a:pPr>
              <a:t>‹#›</a:t>
            </a:fld>
            <a:endParaRPr lang="en-US" altLang="en-US"/>
          </a:p>
        </p:txBody>
      </p:sp>
    </p:spTree>
    <p:extLst>
      <p:ext uri="{BB962C8B-B14F-4D97-AF65-F5344CB8AC3E}">
        <p14:creationId xmlns:p14="http://schemas.microsoft.com/office/powerpoint/2010/main" val="497159375"/>
      </p:ext>
    </p:extLst>
  </p:cSld>
  <p:clrMapOvr>
    <a:masterClrMapping/>
  </p:clrMapOvr>
  <p:transition spd="slow">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1000"/>
                                        <p:tgtEl>
                                          <p:spTgt spid="6"/>
                                        </p:tgtEl>
                                      </p:cBhvr>
                                    </p:animEffect>
                                  </p:childTnLst>
                                </p:cTn>
                              </p:par>
                              <p:par>
                                <p:cTn id="12" presetID="22" presetClass="entr" presetSubtype="8" fill="hold" nodeType="with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left)">
                                      <p:cBhvr>
                                        <p:cTn id="14"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79A3449C-A4FD-B754-F03D-4812B99C6CAF}"/>
              </a:ext>
            </a:extLst>
          </p:cNvPr>
          <p:cNvSpPr>
            <a:spLocks noGrp="1"/>
          </p:cNvSpPr>
          <p:nvPr>
            <p:ph type="dt" sz="half" idx="10"/>
          </p:nvPr>
        </p:nvSpPr>
        <p:spPr/>
        <p:txBody>
          <a:bodyPr/>
          <a:lstStyle>
            <a:lvl1pPr>
              <a:defRPr/>
            </a:lvl1pPr>
          </a:lstStyle>
          <a:p>
            <a:pPr>
              <a:defRPr/>
            </a:pPr>
            <a:fld id="{C3D3D42D-4F8F-493B-B039-B5164AD10293}" type="datetimeFigureOut">
              <a:rPr lang="en-US"/>
              <a:pPr>
                <a:defRPr/>
              </a:pPr>
              <a:t>8/18/2026</a:t>
            </a:fld>
            <a:endParaRPr lang="en-US"/>
          </a:p>
        </p:txBody>
      </p:sp>
      <p:sp>
        <p:nvSpPr>
          <p:cNvPr id="5" name="Footer Placeholder 4">
            <a:extLst>
              <a:ext uri="{FF2B5EF4-FFF2-40B4-BE49-F238E27FC236}">
                <a16:creationId xmlns:a16="http://schemas.microsoft.com/office/drawing/2014/main" id="{C821A822-DED6-EA99-3B14-24CEFDADF68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BB92BFF-88E0-6615-D2EC-3084913D6A0A}"/>
              </a:ext>
            </a:extLst>
          </p:cNvPr>
          <p:cNvSpPr>
            <a:spLocks noGrp="1"/>
          </p:cNvSpPr>
          <p:nvPr>
            <p:ph type="sldNum" sz="quarter" idx="12"/>
          </p:nvPr>
        </p:nvSpPr>
        <p:spPr/>
        <p:txBody>
          <a:bodyPr/>
          <a:lstStyle>
            <a:lvl1pPr>
              <a:defRPr/>
            </a:lvl1pPr>
          </a:lstStyle>
          <a:p>
            <a:pPr>
              <a:defRPr/>
            </a:pPr>
            <a:fld id="{4DEC237E-B289-4AEE-A5E5-09A004FCA5D9}" type="slidenum">
              <a:rPr lang="en-US" altLang="en-US"/>
              <a:pPr>
                <a:defRPr/>
              </a:pPr>
              <a:t>‹#›</a:t>
            </a:fld>
            <a:endParaRPr lang="en-US" altLang="en-US"/>
          </a:p>
        </p:txBody>
      </p:sp>
    </p:spTree>
    <p:extLst>
      <p:ext uri="{BB962C8B-B14F-4D97-AF65-F5344CB8AC3E}">
        <p14:creationId xmlns:p14="http://schemas.microsoft.com/office/powerpoint/2010/main" val="625243081"/>
      </p:ext>
    </p:extLst>
  </p:cSld>
  <p:clrMapOvr>
    <a:masterClrMapping/>
  </p:clrMapOvr>
  <p:transition spd="slow">
    <p:strips dir="ld"/>
  </p:transition>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3" descr="Logo_hcmut">
            <a:extLst>
              <a:ext uri="{FF2B5EF4-FFF2-40B4-BE49-F238E27FC236}">
                <a16:creationId xmlns:a16="http://schemas.microsoft.com/office/drawing/2014/main" id="{4C8B9A4D-4A1C-8E71-6841-CB92DFD23270}"/>
              </a:ext>
            </a:extLst>
          </p:cNvPr>
          <p:cNvPicPr>
            <a:picLocks noChangeAspect="1" noChangeArrowheads="1"/>
          </p:cNvPicPr>
          <p:nvPr userDrawn="1"/>
        </p:nvPicPr>
        <p:blipFill>
          <a:blip r:embed="rId2"/>
          <a:srcRect/>
          <a:stretch>
            <a:fillRect/>
          </a:stretch>
        </p:blipFill>
        <p:spPr bwMode="auto">
          <a:xfrm>
            <a:off x="0" y="0"/>
            <a:ext cx="838200" cy="838200"/>
          </a:xfrm>
          <a:prstGeom prst="rect">
            <a:avLst/>
          </a:prstGeom>
          <a:noFill/>
          <a:ln w="9525">
            <a:noFill/>
            <a:miter lim="800000"/>
            <a:headEnd/>
            <a:tailEnd/>
          </a:ln>
          <a:effectLst>
            <a:outerShdw blurRad="50800" dist="50800" dir="5400000" algn="ctr" rotWithShape="0">
              <a:srgbClr val="000000">
                <a:alpha val="21000"/>
              </a:srgbClr>
            </a:outerShdw>
          </a:effectLst>
        </p:spPr>
      </p:pic>
      <p:cxnSp>
        <p:nvCxnSpPr>
          <p:cNvPr id="5" name="Straight Connector 4">
            <a:extLst>
              <a:ext uri="{FF2B5EF4-FFF2-40B4-BE49-F238E27FC236}">
                <a16:creationId xmlns:a16="http://schemas.microsoft.com/office/drawing/2014/main" id="{10FE6108-DCC0-EC34-9CF6-D8CF3ECBDE53}"/>
              </a:ext>
            </a:extLst>
          </p:cNvPr>
          <p:cNvCxnSpPr/>
          <p:nvPr userDrawn="1"/>
        </p:nvCxnSpPr>
        <p:spPr>
          <a:xfrm>
            <a:off x="152400" y="990600"/>
            <a:ext cx="8839200" cy="0"/>
          </a:xfrm>
          <a:prstGeom prst="line">
            <a:avLst/>
          </a:prstGeom>
          <a:ln w="50800" cmpd="sng">
            <a:solidFill>
              <a:srgbClr val="0070C0"/>
            </a:solidFill>
            <a:bevel/>
            <a:headEnd type="diamond"/>
          </a:ln>
        </p:spPr>
        <p:style>
          <a:lnRef idx="1">
            <a:schemeClr val="accent1"/>
          </a:lnRef>
          <a:fillRef idx="0">
            <a:schemeClr val="accent1"/>
          </a:fillRef>
          <a:effectRef idx="0">
            <a:schemeClr val="accent1"/>
          </a:effectRef>
          <a:fontRef idx="minor">
            <a:schemeClr val="tx1"/>
          </a:fontRef>
        </p:style>
      </p:cxnSp>
      <p:sp>
        <p:nvSpPr>
          <p:cNvPr id="6" name="Text Box 11">
            <a:extLst>
              <a:ext uri="{FF2B5EF4-FFF2-40B4-BE49-F238E27FC236}">
                <a16:creationId xmlns:a16="http://schemas.microsoft.com/office/drawing/2014/main" id="{E2F241D0-00F7-0F9C-AB39-8C48C560E0E9}"/>
              </a:ext>
            </a:extLst>
          </p:cNvPr>
          <p:cNvSpPr txBox="1">
            <a:spLocks noChangeArrowheads="1"/>
          </p:cNvSpPr>
          <p:nvPr userDrawn="1"/>
        </p:nvSpPr>
        <p:spPr bwMode="auto">
          <a:xfrm>
            <a:off x="152400" y="6519863"/>
            <a:ext cx="3124200" cy="338137"/>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en-US" sz="1600" dirty="0" err="1">
                <a:solidFill>
                  <a:srgbClr val="002060"/>
                </a:solidFill>
                <a:latin typeface="Arial" charset="0"/>
              </a:rPr>
              <a:t>Bộ</a:t>
            </a:r>
            <a:r>
              <a:rPr lang="en-US" sz="1600" dirty="0">
                <a:solidFill>
                  <a:srgbClr val="002060"/>
                </a:solidFill>
                <a:latin typeface="Arial" charset="0"/>
              </a:rPr>
              <a:t> </a:t>
            </a:r>
            <a:r>
              <a:rPr lang="en-US" sz="1600" dirty="0" err="1">
                <a:solidFill>
                  <a:srgbClr val="002060"/>
                </a:solidFill>
                <a:latin typeface="Arial" charset="0"/>
              </a:rPr>
              <a:t>môn</a:t>
            </a:r>
            <a:r>
              <a:rPr lang="en-US" sz="1600" dirty="0">
                <a:solidFill>
                  <a:srgbClr val="002060"/>
                </a:solidFill>
                <a:latin typeface="Arial" charset="0"/>
              </a:rPr>
              <a:t> </a:t>
            </a:r>
            <a:r>
              <a:rPr lang="en-US" sz="1600" dirty="0" err="1">
                <a:solidFill>
                  <a:srgbClr val="002060"/>
                </a:solidFill>
                <a:latin typeface="Arial" charset="0"/>
              </a:rPr>
              <a:t>Kỹ</a:t>
            </a:r>
            <a:r>
              <a:rPr lang="en-US" sz="1600" dirty="0">
                <a:solidFill>
                  <a:srgbClr val="002060"/>
                </a:solidFill>
                <a:latin typeface="Arial" charset="0"/>
              </a:rPr>
              <a:t> </a:t>
            </a:r>
            <a:r>
              <a:rPr lang="en-US" sz="1600" dirty="0" err="1">
                <a:solidFill>
                  <a:srgbClr val="002060"/>
                </a:solidFill>
                <a:latin typeface="Arial" charset="0"/>
              </a:rPr>
              <a:t>Thuật</a:t>
            </a:r>
            <a:r>
              <a:rPr lang="en-US" sz="1600" dirty="0">
                <a:solidFill>
                  <a:srgbClr val="002060"/>
                </a:solidFill>
                <a:latin typeface="Arial" charset="0"/>
              </a:rPr>
              <a:t> </a:t>
            </a:r>
            <a:r>
              <a:rPr lang="en-US" sz="1600" dirty="0" err="1">
                <a:solidFill>
                  <a:srgbClr val="002060"/>
                </a:solidFill>
                <a:latin typeface="Arial" charset="0"/>
              </a:rPr>
              <a:t>Điện</a:t>
            </a:r>
            <a:r>
              <a:rPr lang="en-US" sz="1600" dirty="0">
                <a:solidFill>
                  <a:srgbClr val="002060"/>
                </a:solidFill>
                <a:latin typeface="Arial" charset="0"/>
              </a:rPr>
              <a:t> </a:t>
            </a:r>
            <a:r>
              <a:rPr lang="en-US" sz="1600" dirty="0" err="1">
                <a:solidFill>
                  <a:srgbClr val="002060"/>
                </a:solidFill>
                <a:latin typeface="Arial" charset="0"/>
              </a:rPr>
              <a:t>Tử</a:t>
            </a:r>
            <a:r>
              <a:rPr lang="en-US" sz="1600" dirty="0">
                <a:solidFill>
                  <a:srgbClr val="002060"/>
                </a:solidFill>
                <a:latin typeface="Arial" charset="0"/>
              </a:rPr>
              <a:t> - ĐA1</a:t>
            </a:r>
          </a:p>
        </p:txBody>
      </p:sp>
      <p:sp>
        <p:nvSpPr>
          <p:cNvPr id="7" name="Text Box 11">
            <a:extLst>
              <a:ext uri="{FF2B5EF4-FFF2-40B4-BE49-F238E27FC236}">
                <a16:creationId xmlns:a16="http://schemas.microsoft.com/office/drawing/2014/main" id="{B75D96B8-46E1-B568-F722-9610EC7FB7EE}"/>
              </a:ext>
            </a:extLst>
          </p:cNvPr>
          <p:cNvSpPr txBox="1">
            <a:spLocks noChangeArrowheads="1"/>
          </p:cNvSpPr>
          <p:nvPr userDrawn="1"/>
        </p:nvSpPr>
        <p:spPr bwMode="auto">
          <a:xfrm>
            <a:off x="7010400" y="6519863"/>
            <a:ext cx="2743200" cy="338137"/>
          </a:xfrm>
          <a:prstGeom prst="rect">
            <a:avLst/>
          </a:prstGeom>
          <a:noFill/>
          <a:ln w="9525">
            <a:noFill/>
            <a:miter lim="800000"/>
            <a:headEnd/>
            <a:tailEnd/>
          </a:ln>
          <a:effectLst>
            <a:prstShdw prst="shdw17" dist="17961" dir="2700000">
              <a:schemeClr val="accent1">
                <a:gamma/>
                <a:shade val="60000"/>
                <a:invGamma/>
              </a:schemeClr>
            </a:prstShdw>
          </a:effectLst>
        </p:spPr>
        <p:txBody>
          <a:bodyPr>
            <a:spAutoFit/>
          </a:bodyPr>
          <a:lstStyle/>
          <a:p>
            <a:pPr eaLnBrk="1" hangingPunct="1">
              <a:spcBef>
                <a:spcPct val="50000"/>
              </a:spcBef>
              <a:defRPr/>
            </a:pPr>
            <a:r>
              <a:rPr lang="en-US" sz="1600" dirty="0" err="1">
                <a:solidFill>
                  <a:srgbClr val="002060"/>
                </a:solidFill>
                <a:latin typeface="Arial" charset="0"/>
              </a:rPr>
              <a:t>Ngày</a:t>
            </a:r>
            <a:r>
              <a:rPr lang="en-US" sz="1600" dirty="0">
                <a:solidFill>
                  <a:srgbClr val="002060"/>
                </a:solidFill>
                <a:latin typeface="Arial" charset="0"/>
              </a:rPr>
              <a:t> 10/01/2026</a:t>
            </a:r>
          </a:p>
        </p:txBody>
      </p:sp>
      <p:sp>
        <p:nvSpPr>
          <p:cNvPr id="2" name="Title 1"/>
          <p:cNvSpPr>
            <a:spLocks noGrp="1"/>
          </p:cNvSpPr>
          <p:nvPr>
            <p:ph type="title"/>
          </p:nvPr>
        </p:nvSpPr>
        <p:spPr>
          <a:xfrm>
            <a:off x="685800" y="274638"/>
            <a:ext cx="8001000" cy="715962"/>
          </a:xfrm>
        </p:spPr>
        <p:txBody>
          <a:bodyPr/>
          <a:lstStyle/>
          <a:p>
            <a:r>
              <a:rPr lang="en-US" dirty="0"/>
              <a:t>Click to edit Master title style</a:t>
            </a:r>
          </a:p>
        </p:txBody>
      </p:sp>
      <p:sp>
        <p:nvSpPr>
          <p:cNvPr id="3" name="Content Placeholder 2"/>
          <p:cNvSpPr>
            <a:spLocks noGrp="1"/>
          </p:cNvSpPr>
          <p:nvPr>
            <p:ph idx="1"/>
          </p:nvPr>
        </p:nvSpPr>
        <p:spPr>
          <a:xfrm>
            <a:off x="685800" y="990600"/>
            <a:ext cx="8001000" cy="51355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lide Number Placeholder 5">
            <a:extLst>
              <a:ext uri="{FF2B5EF4-FFF2-40B4-BE49-F238E27FC236}">
                <a16:creationId xmlns:a16="http://schemas.microsoft.com/office/drawing/2014/main" id="{B6C51D2F-0F4E-F194-66CA-441B5487CCDE}"/>
              </a:ext>
            </a:extLst>
          </p:cNvPr>
          <p:cNvSpPr>
            <a:spLocks noGrp="1"/>
          </p:cNvSpPr>
          <p:nvPr>
            <p:ph type="sldNum" sz="quarter" idx="10"/>
          </p:nvPr>
        </p:nvSpPr>
        <p:spPr>
          <a:xfrm>
            <a:off x="7010400" y="6492875"/>
            <a:ext cx="2133600" cy="365125"/>
          </a:xfrm>
        </p:spPr>
        <p:txBody>
          <a:bodyPr/>
          <a:lstStyle>
            <a:lvl1pPr>
              <a:defRPr/>
            </a:lvl1pPr>
          </a:lstStyle>
          <a:p>
            <a:pPr>
              <a:defRPr/>
            </a:pPr>
            <a:fld id="{CED5309C-180F-4C69-A9EA-FE606B383313}" type="slidenum">
              <a:rPr lang="en-US" altLang="en-US"/>
              <a:pPr>
                <a:defRPr/>
              </a:pPr>
              <a:t>‹#›</a:t>
            </a:fld>
            <a:endParaRPr lang="en-US" altLang="en-US" dirty="0"/>
          </a:p>
        </p:txBody>
      </p:sp>
    </p:spTree>
    <p:extLst>
      <p:ext uri="{BB962C8B-B14F-4D97-AF65-F5344CB8AC3E}">
        <p14:creationId xmlns:p14="http://schemas.microsoft.com/office/powerpoint/2010/main" val="3203392552"/>
      </p:ext>
    </p:extLst>
  </p:cSld>
  <p:clrMapOvr>
    <a:masterClrMapping/>
  </p:clrMapOvr>
  <p:transition spd="slow">
    <p:strips dir="l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C113E2-0A4C-CD87-9511-2A37127981B7}"/>
              </a:ext>
            </a:extLst>
          </p:cNvPr>
          <p:cNvSpPr>
            <a:spLocks noGrp="1"/>
          </p:cNvSpPr>
          <p:nvPr>
            <p:ph type="dt" sz="half" idx="10"/>
          </p:nvPr>
        </p:nvSpPr>
        <p:spPr/>
        <p:txBody>
          <a:bodyPr/>
          <a:lstStyle>
            <a:lvl1pPr>
              <a:defRPr/>
            </a:lvl1pPr>
          </a:lstStyle>
          <a:p>
            <a:pPr>
              <a:defRPr/>
            </a:pPr>
            <a:fld id="{6E5344D1-C9B7-4EA0-9E5D-97FF414447A5}" type="datetimeFigureOut">
              <a:rPr lang="en-US"/>
              <a:pPr>
                <a:defRPr/>
              </a:pPr>
              <a:t>8/18/2026</a:t>
            </a:fld>
            <a:endParaRPr lang="en-US"/>
          </a:p>
        </p:txBody>
      </p:sp>
      <p:sp>
        <p:nvSpPr>
          <p:cNvPr id="5" name="Footer Placeholder 4">
            <a:extLst>
              <a:ext uri="{FF2B5EF4-FFF2-40B4-BE49-F238E27FC236}">
                <a16:creationId xmlns:a16="http://schemas.microsoft.com/office/drawing/2014/main" id="{1C772754-4091-9960-899F-F9AD193345C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179B338-F3FF-0828-668F-3B5F44DC8C99}"/>
              </a:ext>
            </a:extLst>
          </p:cNvPr>
          <p:cNvSpPr>
            <a:spLocks noGrp="1"/>
          </p:cNvSpPr>
          <p:nvPr>
            <p:ph type="sldNum" sz="quarter" idx="12"/>
          </p:nvPr>
        </p:nvSpPr>
        <p:spPr/>
        <p:txBody>
          <a:bodyPr/>
          <a:lstStyle>
            <a:lvl1pPr>
              <a:defRPr/>
            </a:lvl1pPr>
          </a:lstStyle>
          <a:p>
            <a:pPr>
              <a:defRPr/>
            </a:pPr>
            <a:fld id="{B0BE48B6-F39B-4295-9C5D-133946A0A244}" type="slidenum">
              <a:rPr lang="en-US" altLang="en-US"/>
              <a:pPr>
                <a:defRPr/>
              </a:pPr>
              <a:t>‹#›</a:t>
            </a:fld>
            <a:endParaRPr lang="en-US" altLang="en-US"/>
          </a:p>
        </p:txBody>
      </p:sp>
    </p:spTree>
    <p:extLst>
      <p:ext uri="{BB962C8B-B14F-4D97-AF65-F5344CB8AC3E}">
        <p14:creationId xmlns:p14="http://schemas.microsoft.com/office/powerpoint/2010/main" val="3210901220"/>
      </p:ext>
    </p:extLst>
  </p:cSld>
  <p:clrMapOvr>
    <a:masterClrMapping/>
  </p:clrMapOvr>
  <p:transition spd="slow">
    <p:strips dir="ld"/>
  </p:transition>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889EF984-5F0F-95D4-7070-9A61A01864E0}"/>
              </a:ext>
            </a:extLst>
          </p:cNvPr>
          <p:cNvSpPr>
            <a:spLocks noGrp="1"/>
          </p:cNvSpPr>
          <p:nvPr>
            <p:ph type="dt" sz="half" idx="10"/>
          </p:nvPr>
        </p:nvSpPr>
        <p:spPr/>
        <p:txBody>
          <a:bodyPr/>
          <a:lstStyle>
            <a:lvl1pPr>
              <a:defRPr/>
            </a:lvl1pPr>
          </a:lstStyle>
          <a:p>
            <a:pPr>
              <a:defRPr/>
            </a:pPr>
            <a:fld id="{37773403-6D25-4763-B4A7-D8BE099E6C20}" type="datetimeFigureOut">
              <a:rPr lang="en-US"/>
              <a:pPr>
                <a:defRPr/>
              </a:pPr>
              <a:t>8/18/2026</a:t>
            </a:fld>
            <a:endParaRPr lang="en-US"/>
          </a:p>
        </p:txBody>
      </p:sp>
      <p:sp>
        <p:nvSpPr>
          <p:cNvPr id="6" name="Footer Placeholder 4">
            <a:extLst>
              <a:ext uri="{FF2B5EF4-FFF2-40B4-BE49-F238E27FC236}">
                <a16:creationId xmlns:a16="http://schemas.microsoft.com/office/drawing/2014/main" id="{6B988AE2-412C-5461-62B3-DB1E054DC3F2}"/>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2299989C-C15F-3BFF-DC0E-0423A7C2584F}"/>
              </a:ext>
            </a:extLst>
          </p:cNvPr>
          <p:cNvSpPr>
            <a:spLocks noGrp="1"/>
          </p:cNvSpPr>
          <p:nvPr>
            <p:ph type="sldNum" sz="quarter" idx="12"/>
          </p:nvPr>
        </p:nvSpPr>
        <p:spPr/>
        <p:txBody>
          <a:bodyPr/>
          <a:lstStyle>
            <a:lvl1pPr>
              <a:defRPr/>
            </a:lvl1pPr>
          </a:lstStyle>
          <a:p>
            <a:pPr>
              <a:defRPr/>
            </a:pPr>
            <a:fld id="{E67949ED-A16D-4619-9BD3-6571C6E70C86}" type="slidenum">
              <a:rPr lang="en-US" altLang="en-US"/>
              <a:pPr>
                <a:defRPr/>
              </a:pPr>
              <a:t>‹#›</a:t>
            </a:fld>
            <a:endParaRPr lang="en-US" altLang="en-US"/>
          </a:p>
        </p:txBody>
      </p:sp>
    </p:spTree>
    <p:extLst>
      <p:ext uri="{BB962C8B-B14F-4D97-AF65-F5344CB8AC3E}">
        <p14:creationId xmlns:p14="http://schemas.microsoft.com/office/powerpoint/2010/main" val="1591421174"/>
      </p:ext>
    </p:extLst>
  </p:cSld>
  <p:clrMapOvr>
    <a:masterClrMapping/>
  </p:clrMapOvr>
  <p:transition spd="slow">
    <p:strips dir="ld"/>
  </p:transition>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581F7818-FFE7-6EE4-4A0A-3092D2BFB8D6}"/>
              </a:ext>
            </a:extLst>
          </p:cNvPr>
          <p:cNvSpPr>
            <a:spLocks noGrp="1"/>
          </p:cNvSpPr>
          <p:nvPr>
            <p:ph type="dt" sz="half" idx="10"/>
          </p:nvPr>
        </p:nvSpPr>
        <p:spPr/>
        <p:txBody>
          <a:bodyPr/>
          <a:lstStyle>
            <a:lvl1pPr>
              <a:defRPr/>
            </a:lvl1pPr>
          </a:lstStyle>
          <a:p>
            <a:pPr>
              <a:defRPr/>
            </a:pPr>
            <a:fld id="{55735CEA-3A26-43B7-88C3-7339A8E1ACC5}" type="datetimeFigureOut">
              <a:rPr lang="en-US"/>
              <a:pPr>
                <a:defRPr/>
              </a:pPr>
              <a:t>8/18/2026</a:t>
            </a:fld>
            <a:endParaRPr lang="en-US"/>
          </a:p>
        </p:txBody>
      </p:sp>
      <p:sp>
        <p:nvSpPr>
          <p:cNvPr id="8" name="Footer Placeholder 4">
            <a:extLst>
              <a:ext uri="{FF2B5EF4-FFF2-40B4-BE49-F238E27FC236}">
                <a16:creationId xmlns:a16="http://schemas.microsoft.com/office/drawing/2014/main" id="{0ECBBCB2-7663-899F-B962-356708C15C9F}"/>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75B4717C-2E45-5E09-C9D3-8A9494807FCB}"/>
              </a:ext>
            </a:extLst>
          </p:cNvPr>
          <p:cNvSpPr>
            <a:spLocks noGrp="1"/>
          </p:cNvSpPr>
          <p:nvPr>
            <p:ph type="sldNum" sz="quarter" idx="12"/>
          </p:nvPr>
        </p:nvSpPr>
        <p:spPr/>
        <p:txBody>
          <a:bodyPr/>
          <a:lstStyle>
            <a:lvl1pPr>
              <a:defRPr/>
            </a:lvl1pPr>
          </a:lstStyle>
          <a:p>
            <a:pPr>
              <a:defRPr/>
            </a:pPr>
            <a:fld id="{41A2C1C0-0115-4483-BB2A-30AD761D0838}" type="slidenum">
              <a:rPr lang="en-US" altLang="en-US"/>
              <a:pPr>
                <a:defRPr/>
              </a:pPr>
              <a:t>‹#›</a:t>
            </a:fld>
            <a:endParaRPr lang="en-US" altLang="en-US"/>
          </a:p>
        </p:txBody>
      </p:sp>
    </p:spTree>
    <p:extLst>
      <p:ext uri="{BB962C8B-B14F-4D97-AF65-F5344CB8AC3E}">
        <p14:creationId xmlns:p14="http://schemas.microsoft.com/office/powerpoint/2010/main" val="2501040620"/>
      </p:ext>
    </p:extLst>
  </p:cSld>
  <p:clrMapOvr>
    <a:masterClrMapping/>
  </p:clrMapOvr>
  <p:transition spd="slow">
    <p:strips dir="ld"/>
  </p:transition>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9999E63-7DD6-3DE9-5CDE-96C188804868}"/>
              </a:ext>
            </a:extLst>
          </p:cNvPr>
          <p:cNvSpPr>
            <a:spLocks noGrp="1"/>
          </p:cNvSpPr>
          <p:nvPr>
            <p:ph type="dt" sz="half" idx="10"/>
          </p:nvPr>
        </p:nvSpPr>
        <p:spPr/>
        <p:txBody>
          <a:bodyPr/>
          <a:lstStyle>
            <a:lvl1pPr>
              <a:defRPr/>
            </a:lvl1pPr>
          </a:lstStyle>
          <a:p>
            <a:pPr>
              <a:defRPr/>
            </a:pPr>
            <a:fld id="{D8812AE9-5C5D-49DF-AE34-BA3C8E8B74DE}" type="datetimeFigureOut">
              <a:rPr lang="en-US"/>
              <a:pPr>
                <a:defRPr/>
              </a:pPr>
              <a:t>8/18/2026</a:t>
            </a:fld>
            <a:endParaRPr lang="en-US"/>
          </a:p>
        </p:txBody>
      </p:sp>
      <p:sp>
        <p:nvSpPr>
          <p:cNvPr id="4" name="Footer Placeholder 4">
            <a:extLst>
              <a:ext uri="{FF2B5EF4-FFF2-40B4-BE49-F238E27FC236}">
                <a16:creationId xmlns:a16="http://schemas.microsoft.com/office/drawing/2014/main" id="{00A6651A-584C-9103-83DB-B9C591B45BE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BA3D2FB0-08FB-7B6D-C59A-EC121EC9BBAF}"/>
              </a:ext>
            </a:extLst>
          </p:cNvPr>
          <p:cNvSpPr>
            <a:spLocks noGrp="1"/>
          </p:cNvSpPr>
          <p:nvPr>
            <p:ph type="sldNum" sz="quarter" idx="12"/>
          </p:nvPr>
        </p:nvSpPr>
        <p:spPr/>
        <p:txBody>
          <a:bodyPr/>
          <a:lstStyle>
            <a:lvl1pPr>
              <a:defRPr/>
            </a:lvl1pPr>
          </a:lstStyle>
          <a:p>
            <a:pPr>
              <a:defRPr/>
            </a:pPr>
            <a:fld id="{29E7BD60-3185-4020-92BE-C371F8B28145}" type="slidenum">
              <a:rPr lang="en-US" altLang="en-US"/>
              <a:pPr>
                <a:defRPr/>
              </a:pPr>
              <a:t>‹#›</a:t>
            </a:fld>
            <a:endParaRPr lang="en-US" altLang="en-US"/>
          </a:p>
        </p:txBody>
      </p:sp>
    </p:spTree>
    <p:extLst>
      <p:ext uri="{BB962C8B-B14F-4D97-AF65-F5344CB8AC3E}">
        <p14:creationId xmlns:p14="http://schemas.microsoft.com/office/powerpoint/2010/main" val="3969050662"/>
      </p:ext>
    </p:extLst>
  </p:cSld>
  <p:clrMapOvr>
    <a:masterClrMapping/>
  </p:clrMapOvr>
  <p:transition spd="slow">
    <p:strips dir="ld"/>
  </p:transition>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E597AA3-A25D-4587-FBA4-B6374330EDE4}"/>
              </a:ext>
            </a:extLst>
          </p:cNvPr>
          <p:cNvSpPr>
            <a:spLocks noGrp="1"/>
          </p:cNvSpPr>
          <p:nvPr>
            <p:ph type="dt" sz="half" idx="10"/>
          </p:nvPr>
        </p:nvSpPr>
        <p:spPr/>
        <p:txBody>
          <a:bodyPr/>
          <a:lstStyle>
            <a:lvl1pPr>
              <a:defRPr/>
            </a:lvl1pPr>
          </a:lstStyle>
          <a:p>
            <a:pPr>
              <a:defRPr/>
            </a:pPr>
            <a:fld id="{0C9EF0E8-4DA0-427E-83CE-081BFD118FAD}" type="datetimeFigureOut">
              <a:rPr lang="en-US"/>
              <a:pPr>
                <a:defRPr/>
              </a:pPr>
              <a:t>8/18/2026</a:t>
            </a:fld>
            <a:endParaRPr lang="en-US"/>
          </a:p>
        </p:txBody>
      </p:sp>
      <p:sp>
        <p:nvSpPr>
          <p:cNvPr id="3" name="Footer Placeholder 4">
            <a:extLst>
              <a:ext uri="{FF2B5EF4-FFF2-40B4-BE49-F238E27FC236}">
                <a16:creationId xmlns:a16="http://schemas.microsoft.com/office/drawing/2014/main" id="{72AFA8C0-BD02-7816-6E3F-3A25D5032BE5}"/>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FC1F1407-2DE6-C30D-253D-F0EDB682EF06}"/>
              </a:ext>
            </a:extLst>
          </p:cNvPr>
          <p:cNvSpPr>
            <a:spLocks noGrp="1"/>
          </p:cNvSpPr>
          <p:nvPr>
            <p:ph type="sldNum" sz="quarter" idx="12"/>
          </p:nvPr>
        </p:nvSpPr>
        <p:spPr/>
        <p:txBody>
          <a:bodyPr/>
          <a:lstStyle>
            <a:lvl1pPr>
              <a:defRPr/>
            </a:lvl1pPr>
          </a:lstStyle>
          <a:p>
            <a:pPr>
              <a:defRPr/>
            </a:pPr>
            <a:fld id="{DE46E7C6-A30C-4ADA-9B14-CFAA383D8C86}" type="slidenum">
              <a:rPr lang="en-US" altLang="en-US"/>
              <a:pPr>
                <a:defRPr/>
              </a:pPr>
              <a:t>‹#›</a:t>
            </a:fld>
            <a:endParaRPr lang="en-US" altLang="en-US"/>
          </a:p>
        </p:txBody>
      </p:sp>
    </p:spTree>
    <p:extLst>
      <p:ext uri="{BB962C8B-B14F-4D97-AF65-F5344CB8AC3E}">
        <p14:creationId xmlns:p14="http://schemas.microsoft.com/office/powerpoint/2010/main" val="4005029833"/>
      </p:ext>
    </p:extLst>
  </p:cSld>
  <p:clrMapOvr>
    <a:masterClrMapping/>
  </p:clrMapOvr>
  <p:transition spd="slow">
    <p:strips dir="ld"/>
  </p:transition>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F9F427C-9017-43D5-9CCA-C002C2DBDDAF}"/>
              </a:ext>
            </a:extLst>
          </p:cNvPr>
          <p:cNvSpPr>
            <a:spLocks noGrp="1"/>
          </p:cNvSpPr>
          <p:nvPr>
            <p:ph type="dt" sz="half" idx="10"/>
          </p:nvPr>
        </p:nvSpPr>
        <p:spPr/>
        <p:txBody>
          <a:bodyPr/>
          <a:lstStyle>
            <a:lvl1pPr>
              <a:defRPr/>
            </a:lvl1pPr>
          </a:lstStyle>
          <a:p>
            <a:pPr>
              <a:defRPr/>
            </a:pPr>
            <a:fld id="{CB27EF4B-CC6C-40B6-BEC7-7CAEE267CF00}" type="datetimeFigureOut">
              <a:rPr lang="en-US"/>
              <a:pPr>
                <a:defRPr/>
              </a:pPr>
              <a:t>8/18/2026</a:t>
            </a:fld>
            <a:endParaRPr lang="en-US"/>
          </a:p>
        </p:txBody>
      </p:sp>
      <p:sp>
        <p:nvSpPr>
          <p:cNvPr id="6" name="Footer Placeholder 4">
            <a:extLst>
              <a:ext uri="{FF2B5EF4-FFF2-40B4-BE49-F238E27FC236}">
                <a16:creationId xmlns:a16="http://schemas.microsoft.com/office/drawing/2014/main" id="{4AF82F38-3AD9-B466-434C-F9EB7A59076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99C9F051-B0B2-D4A4-B63D-F79F83E50ACD}"/>
              </a:ext>
            </a:extLst>
          </p:cNvPr>
          <p:cNvSpPr>
            <a:spLocks noGrp="1"/>
          </p:cNvSpPr>
          <p:nvPr>
            <p:ph type="sldNum" sz="quarter" idx="12"/>
          </p:nvPr>
        </p:nvSpPr>
        <p:spPr/>
        <p:txBody>
          <a:bodyPr/>
          <a:lstStyle>
            <a:lvl1pPr>
              <a:defRPr/>
            </a:lvl1pPr>
          </a:lstStyle>
          <a:p>
            <a:pPr>
              <a:defRPr/>
            </a:pPr>
            <a:fld id="{FB2ECEB6-0713-42E3-9E06-53FC2A9A64BF}" type="slidenum">
              <a:rPr lang="en-US" altLang="en-US"/>
              <a:pPr>
                <a:defRPr/>
              </a:pPr>
              <a:t>‹#›</a:t>
            </a:fld>
            <a:endParaRPr lang="en-US" altLang="en-US"/>
          </a:p>
        </p:txBody>
      </p:sp>
    </p:spTree>
    <p:extLst>
      <p:ext uri="{BB962C8B-B14F-4D97-AF65-F5344CB8AC3E}">
        <p14:creationId xmlns:p14="http://schemas.microsoft.com/office/powerpoint/2010/main" val="2553086279"/>
      </p:ext>
    </p:extLst>
  </p:cSld>
  <p:clrMapOvr>
    <a:masterClrMapping/>
  </p:clrMapOvr>
  <p:transition spd="slow">
    <p:strips dir="ld"/>
  </p:transition>
  <p:hf hdr="0"/>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AA99F44-E600-F66B-CFA1-F845CE3BF62E}"/>
              </a:ext>
            </a:extLst>
          </p:cNvPr>
          <p:cNvSpPr>
            <a:spLocks noGrp="1"/>
          </p:cNvSpPr>
          <p:nvPr>
            <p:ph type="dt" sz="half" idx="10"/>
          </p:nvPr>
        </p:nvSpPr>
        <p:spPr/>
        <p:txBody>
          <a:bodyPr/>
          <a:lstStyle>
            <a:lvl1pPr>
              <a:defRPr/>
            </a:lvl1pPr>
          </a:lstStyle>
          <a:p>
            <a:pPr>
              <a:defRPr/>
            </a:pPr>
            <a:fld id="{8BA0ED77-AF44-4582-B6F5-B709CAB95E36}" type="datetimeFigureOut">
              <a:rPr lang="en-US"/>
              <a:pPr>
                <a:defRPr/>
              </a:pPr>
              <a:t>8/18/2026</a:t>
            </a:fld>
            <a:endParaRPr lang="en-US"/>
          </a:p>
        </p:txBody>
      </p:sp>
      <p:sp>
        <p:nvSpPr>
          <p:cNvPr id="6" name="Footer Placeholder 4">
            <a:extLst>
              <a:ext uri="{FF2B5EF4-FFF2-40B4-BE49-F238E27FC236}">
                <a16:creationId xmlns:a16="http://schemas.microsoft.com/office/drawing/2014/main" id="{AABB969A-50D5-C33C-06CE-63FF1897657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E84F884-B1BA-B49B-7A68-897EFDD6B7F2}"/>
              </a:ext>
            </a:extLst>
          </p:cNvPr>
          <p:cNvSpPr>
            <a:spLocks noGrp="1"/>
          </p:cNvSpPr>
          <p:nvPr>
            <p:ph type="sldNum" sz="quarter" idx="12"/>
          </p:nvPr>
        </p:nvSpPr>
        <p:spPr/>
        <p:txBody>
          <a:bodyPr/>
          <a:lstStyle>
            <a:lvl1pPr>
              <a:defRPr/>
            </a:lvl1pPr>
          </a:lstStyle>
          <a:p>
            <a:pPr>
              <a:defRPr/>
            </a:pPr>
            <a:fld id="{64EA0127-93D3-4181-9DD4-BC7A988C09E4}" type="slidenum">
              <a:rPr lang="en-US" altLang="en-US"/>
              <a:pPr>
                <a:defRPr/>
              </a:pPr>
              <a:t>‹#›</a:t>
            </a:fld>
            <a:endParaRPr lang="en-US" altLang="en-US"/>
          </a:p>
        </p:txBody>
      </p:sp>
    </p:spTree>
    <p:extLst>
      <p:ext uri="{BB962C8B-B14F-4D97-AF65-F5344CB8AC3E}">
        <p14:creationId xmlns:p14="http://schemas.microsoft.com/office/powerpoint/2010/main" val="2560613765"/>
      </p:ext>
    </p:extLst>
  </p:cSld>
  <p:clrMapOvr>
    <a:masterClrMapping/>
  </p:clrMapOvr>
  <p:transition spd="slow">
    <p:strips dir="ld"/>
  </p:transition>
  <p:hf hdr="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ACFF9-93C2-9B0A-344C-B2EE40DF33BC}"/>
              </a:ext>
            </a:extLst>
          </p:cNvPr>
          <p:cNvSpPr>
            <a:spLocks noGrp="1"/>
          </p:cNvSpPr>
          <p:nvPr>
            <p:ph type="dt" sz="half" idx="10"/>
          </p:nvPr>
        </p:nvSpPr>
        <p:spPr/>
        <p:txBody>
          <a:bodyPr/>
          <a:lstStyle>
            <a:lvl1pPr>
              <a:defRPr/>
            </a:lvl1pPr>
          </a:lstStyle>
          <a:p>
            <a:pPr>
              <a:defRPr/>
            </a:pPr>
            <a:fld id="{66123211-584C-4179-A993-7BE391F4A749}" type="datetimeFigureOut">
              <a:rPr lang="en-US"/>
              <a:pPr>
                <a:defRPr/>
              </a:pPr>
              <a:t>8/18/2026</a:t>
            </a:fld>
            <a:endParaRPr lang="en-US"/>
          </a:p>
        </p:txBody>
      </p:sp>
      <p:sp>
        <p:nvSpPr>
          <p:cNvPr id="5" name="Footer Placeholder 4">
            <a:extLst>
              <a:ext uri="{FF2B5EF4-FFF2-40B4-BE49-F238E27FC236}">
                <a16:creationId xmlns:a16="http://schemas.microsoft.com/office/drawing/2014/main" id="{BC47A1B7-245A-FFD4-FF7D-3DC0DF339F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73D31B98-24C4-9989-2EC4-C8AEE3454780}"/>
              </a:ext>
            </a:extLst>
          </p:cNvPr>
          <p:cNvSpPr>
            <a:spLocks noGrp="1"/>
          </p:cNvSpPr>
          <p:nvPr>
            <p:ph type="sldNum" sz="quarter" idx="12"/>
          </p:nvPr>
        </p:nvSpPr>
        <p:spPr/>
        <p:txBody>
          <a:bodyPr/>
          <a:lstStyle>
            <a:lvl1pPr>
              <a:defRPr/>
            </a:lvl1pPr>
          </a:lstStyle>
          <a:p>
            <a:pPr>
              <a:defRPr/>
            </a:pPr>
            <a:fld id="{DEEE8F56-5730-410D-899C-95F7F9101DB7}" type="slidenum">
              <a:rPr lang="en-US" altLang="en-US"/>
              <a:pPr>
                <a:defRPr/>
              </a:pPr>
              <a:t>‹#›</a:t>
            </a:fld>
            <a:endParaRPr lang="en-US" altLang="en-US"/>
          </a:p>
        </p:txBody>
      </p:sp>
    </p:spTree>
    <p:extLst>
      <p:ext uri="{BB962C8B-B14F-4D97-AF65-F5344CB8AC3E}">
        <p14:creationId xmlns:p14="http://schemas.microsoft.com/office/powerpoint/2010/main" val="218435814"/>
      </p:ext>
    </p:extLst>
  </p:cSld>
  <p:clrMapOvr>
    <a:masterClrMapping/>
  </p:clrMapOvr>
  <p:transition spd="slow">
    <p:strips dir="ld"/>
  </p:transition>
  <p:hf hdr="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CBB563-6A9C-1CB7-44FB-F876A44327ED}"/>
              </a:ext>
            </a:extLst>
          </p:cNvPr>
          <p:cNvSpPr>
            <a:spLocks noGrp="1"/>
          </p:cNvSpPr>
          <p:nvPr>
            <p:ph type="dt" sz="half" idx="10"/>
          </p:nvPr>
        </p:nvSpPr>
        <p:spPr/>
        <p:txBody>
          <a:bodyPr/>
          <a:lstStyle>
            <a:lvl1pPr>
              <a:defRPr/>
            </a:lvl1pPr>
          </a:lstStyle>
          <a:p>
            <a:pPr>
              <a:defRPr/>
            </a:pPr>
            <a:fld id="{809387AC-AFFA-4938-B9CA-E5095FAFC5C8}" type="datetimeFigureOut">
              <a:rPr lang="en-US"/>
              <a:pPr>
                <a:defRPr/>
              </a:pPr>
              <a:t>8/18/2026</a:t>
            </a:fld>
            <a:endParaRPr lang="en-US"/>
          </a:p>
        </p:txBody>
      </p:sp>
      <p:sp>
        <p:nvSpPr>
          <p:cNvPr id="5" name="Footer Placeholder 4">
            <a:extLst>
              <a:ext uri="{FF2B5EF4-FFF2-40B4-BE49-F238E27FC236}">
                <a16:creationId xmlns:a16="http://schemas.microsoft.com/office/drawing/2014/main" id="{1946B86D-6BA5-96C4-D1F7-AF2860C97BF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3D1487A-062E-9C35-138A-7A0CC90CF3F3}"/>
              </a:ext>
            </a:extLst>
          </p:cNvPr>
          <p:cNvSpPr>
            <a:spLocks noGrp="1"/>
          </p:cNvSpPr>
          <p:nvPr>
            <p:ph type="sldNum" sz="quarter" idx="12"/>
          </p:nvPr>
        </p:nvSpPr>
        <p:spPr/>
        <p:txBody>
          <a:bodyPr/>
          <a:lstStyle>
            <a:lvl1pPr>
              <a:defRPr/>
            </a:lvl1pPr>
          </a:lstStyle>
          <a:p>
            <a:pPr>
              <a:defRPr/>
            </a:pPr>
            <a:fld id="{439B90F6-CD0F-46EE-BB4B-9E447EE61B9B}" type="slidenum">
              <a:rPr lang="en-US" altLang="en-US"/>
              <a:pPr>
                <a:defRPr/>
              </a:pPr>
              <a:t>‹#›</a:t>
            </a:fld>
            <a:endParaRPr lang="en-US" altLang="en-US"/>
          </a:p>
        </p:txBody>
      </p:sp>
    </p:spTree>
    <p:extLst>
      <p:ext uri="{BB962C8B-B14F-4D97-AF65-F5344CB8AC3E}">
        <p14:creationId xmlns:p14="http://schemas.microsoft.com/office/powerpoint/2010/main" val="3092322273"/>
      </p:ext>
    </p:extLst>
  </p:cSld>
  <p:clrMapOvr>
    <a:masterClrMapping/>
  </p:clrMapOvr>
  <p:transition spd="slow">
    <p:strips dir="ld"/>
  </p:transition>
  <p:hf hdr="0"/>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Freeform 73">
            <a:extLst>
              <a:ext uri="{FF2B5EF4-FFF2-40B4-BE49-F238E27FC236}">
                <a16:creationId xmlns:a16="http://schemas.microsoft.com/office/drawing/2014/main" id="{F96EA589-C030-11A6-DA56-B2D6AD6A6595}"/>
              </a:ext>
            </a:extLst>
          </p:cNvPr>
          <p:cNvSpPr>
            <a:spLocks/>
          </p:cNvSpPr>
          <p:nvPr/>
        </p:nvSpPr>
        <p:spPr bwMode="gray">
          <a:xfrm>
            <a:off x="0" y="381000"/>
            <a:ext cx="9131300" cy="914400"/>
          </a:xfrm>
          <a:custGeom>
            <a:avLst/>
            <a:gdLst>
              <a:gd name="T0" fmla="*/ 2147483646 w 5752"/>
              <a:gd name="T1" fmla="*/ 2147483646 h 444"/>
              <a:gd name="T2" fmla="*/ 2147483646 w 5752"/>
              <a:gd name="T3" fmla="*/ 2147483646 h 444"/>
              <a:gd name="T4" fmla="*/ 2147483646 w 5752"/>
              <a:gd name="T5" fmla="*/ 2147483646 h 444"/>
              <a:gd name="T6" fmla="*/ 2147483646 w 5752"/>
              <a:gd name="T7" fmla="*/ 2147483646 h 444"/>
              <a:gd name="T8" fmla="*/ 2147483646 w 5752"/>
              <a:gd name="T9" fmla="*/ 2147483646 h 444"/>
              <a:gd name="T10" fmla="*/ 0 w 5752"/>
              <a:gd name="T11" fmla="*/ 2147483646 h 444"/>
              <a:gd name="T12" fmla="*/ 0 w 5752"/>
              <a:gd name="T13" fmla="*/ 2147483646 h 444"/>
              <a:gd name="T14" fmla="*/ 2147483646 w 5752"/>
              <a:gd name="T15" fmla="*/ 2147483646 h 444"/>
              <a:gd name="T16" fmla="*/ 2147483646 w 5752"/>
              <a:gd name="T17" fmla="*/ 2147483646 h 444"/>
              <a:gd name="T18" fmla="*/ 2147483646 w 5752"/>
              <a:gd name="T19" fmla="*/ 2147483646 h 444"/>
              <a:gd name="T20" fmla="*/ 2147483646 w 5752"/>
              <a:gd name="T21" fmla="*/ 2147483646 h 444"/>
              <a:gd name="T22" fmla="*/ 2147483646 w 5752"/>
              <a:gd name="T23" fmla="*/ 2147483646 h 444"/>
              <a:gd name="T24" fmla="*/ 2147483646 w 5752"/>
              <a:gd name="T25" fmla="*/ 2147483646 h 4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2" h="444">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 name="Freeform 39">
            <a:extLst>
              <a:ext uri="{FF2B5EF4-FFF2-40B4-BE49-F238E27FC236}">
                <a16:creationId xmlns:a16="http://schemas.microsoft.com/office/drawing/2014/main" id="{D5473828-FB1C-E00F-6FF7-F91EB3F8B1B4}"/>
              </a:ext>
            </a:extLst>
          </p:cNvPr>
          <p:cNvSpPr>
            <a:spLocks/>
          </p:cNvSpPr>
          <p:nvPr/>
        </p:nvSpPr>
        <p:spPr bwMode="gray">
          <a:xfrm>
            <a:off x="0" y="6346825"/>
            <a:ext cx="9131300" cy="511175"/>
          </a:xfrm>
          <a:custGeom>
            <a:avLst/>
            <a:gdLst>
              <a:gd name="T0" fmla="*/ 2147483646 w 5752"/>
              <a:gd name="T1" fmla="*/ 2147483646 h 444"/>
              <a:gd name="T2" fmla="*/ 2147483646 w 5752"/>
              <a:gd name="T3" fmla="*/ 2147483646 h 444"/>
              <a:gd name="T4" fmla="*/ 2147483646 w 5752"/>
              <a:gd name="T5" fmla="*/ 2147483646 h 444"/>
              <a:gd name="T6" fmla="*/ 2147483646 w 5752"/>
              <a:gd name="T7" fmla="*/ 2147483646 h 444"/>
              <a:gd name="T8" fmla="*/ 2147483646 w 5752"/>
              <a:gd name="T9" fmla="*/ 2147483646 h 444"/>
              <a:gd name="T10" fmla="*/ 0 w 5752"/>
              <a:gd name="T11" fmla="*/ 2147483646 h 444"/>
              <a:gd name="T12" fmla="*/ 0 w 5752"/>
              <a:gd name="T13" fmla="*/ 2147483646 h 444"/>
              <a:gd name="T14" fmla="*/ 2147483646 w 5752"/>
              <a:gd name="T15" fmla="*/ 2147483646 h 444"/>
              <a:gd name="T16" fmla="*/ 2147483646 w 5752"/>
              <a:gd name="T17" fmla="*/ 2147483646 h 444"/>
              <a:gd name="T18" fmla="*/ 2147483646 w 5752"/>
              <a:gd name="T19" fmla="*/ 2147483646 h 444"/>
              <a:gd name="T20" fmla="*/ 2147483646 w 5752"/>
              <a:gd name="T21" fmla="*/ 2147483646 h 444"/>
              <a:gd name="T22" fmla="*/ 2147483646 w 5752"/>
              <a:gd name="T23" fmla="*/ 2147483646 h 444"/>
              <a:gd name="T24" fmla="*/ 2147483646 w 5752"/>
              <a:gd name="T25" fmla="*/ 2147483646 h 44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52" h="444">
                <a:moveTo>
                  <a:pt x="5745" y="9"/>
                </a:moveTo>
                <a:lnTo>
                  <a:pt x="2449" y="8"/>
                </a:lnTo>
                <a:cubicBezTo>
                  <a:pt x="2309" y="8"/>
                  <a:pt x="2404" y="0"/>
                  <a:pt x="2347" y="14"/>
                </a:cubicBezTo>
                <a:lnTo>
                  <a:pt x="2174" y="93"/>
                </a:lnTo>
                <a:cubicBezTo>
                  <a:pt x="2124" y="112"/>
                  <a:pt x="2142" y="120"/>
                  <a:pt x="2046" y="127"/>
                </a:cubicBezTo>
                <a:cubicBezTo>
                  <a:pt x="1076" y="125"/>
                  <a:pt x="0" y="119"/>
                  <a:pt x="0" y="119"/>
                </a:cubicBezTo>
                <a:lnTo>
                  <a:pt x="0" y="444"/>
                </a:lnTo>
                <a:lnTo>
                  <a:pt x="3601" y="444"/>
                </a:lnTo>
                <a:lnTo>
                  <a:pt x="3672" y="424"/>
                </a:lnTo>
                <a:lnTo>
                  <a:pt x="3883" y="331"/>
                </a:lnTo>
                <a:lnTo>
                  <a:pt x="3985" y="325"/>
                </a:lnTo>
                <a:lnTo>
                  <a:pt x="5752" y="325"/>
                </a:lnTo>
                <a:lnTo>
                  <a:pt x="5745" y="9"/>
                </a:lnTo>
                <a:close/>
              </a:path>
            </a:pathLst>
          </a:custGeom>
          <a:solidFill>
            <a:srgbClr val="FFFFFF">
              <a:alpha val="50195"/>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 name="TextBox 9">
            <a:extLst>
              <a:ext uri="{FF2B5EF4-FFF2-40B4-BE49-F238E27FC236}">
                <a16:creationId xmlns:a16="http://schemas.microsoft.com/office/drawing/2014/main" id="{74C58D1D-0077-4A87-46D0-D6ABD2379698}"/>
              </a:ext>
            </a:extLst>
          </p:cNvPr>
          <p:cNvSpPr txBox="1">
            <a:spLocks noChangeArrowheads="1"/>
          </p:cNvSpPr>
          <p:nvPr userDrawn="1"/>
        </p:nvSpPr>
        <p:spPr bwMode="auto">
          <a:xfrm>
            <a:off x="-92075" y="220663"/>
            <a:ext cx="9326563" cy="1477962"/>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en-US" sz="2400" b="1" dirty="0">
                <a:solidFill>
                  <a:srgbClr val="170272"/>
                </a:solidFill>
              </a:rPr>
              <a:t>ĐẠI HỌC QUỐC GIA TP.HỒ CHÍ MINH</a:t>
            </a:r>
          </a:p>
          <a:p>
            <a:pPr algn="ctr" eaLnBrk="1" hangingPunct="1">
              <a:defRPr/>
            </a:pPr>
            <a:r>
              <a:rPr lang="en-US" altLang="en-US" sz="2400" b="1" dirty="0">
                <a:solidFill>
                  <a:srgbClr val="170272"/>
                </a:solidFill>
              </a:rPr>
              <a:t>TRƯỜNG ĐẠI HỌC BÁCH KHOA</a:t>
            </a:r>
          </a:p>
          <a:p>
            <a:pPr algn="ctr" eaLnBrk="1" hangingPunct="1">
              <a:defRPr/>
            </a:pPr>
            <a:r>
              <a:rPr lang="en-US" altLang="en-US" sz="2200" b="1" dirty="0">
                <a:solidFill>
                  <a:srgbClr val="170272"/>
                </a:solidFill>
              </a:rPr>
              <a:t>KHOA ĐIỆN-ĐIỆN TỬ </a:t>
            </a:r>
          </a:p>
          <a:p>
            <a:pPr algn="ctr" eaLnBrk="1" hangingPunct="1">
              <a:defRPr/>
            </a:pPr>
            <a:r>
              <a:rPr lang="en-US" altLang="en-US" sz="2000" b="1" dirty="0">
                <a:solidFill>
                  <a:srgbClr val="170272"/>
                </a:solidFill>
              </a:rPr>
              <a:t>BỘ MÔN KỸ THUẬT ĐIỆN TỬ</a:t>
            </a:r>
          </a:p>
        </p:txBody>
      </p:sp>
      <p:sp>
        <p:nvSpPr>
          <p:cNvPr id="5" name="TextBox 10">
            <a:extLst>
              <a:ext uri="{FF2B5EF4-FFF2-40B4-BE49-F238E27FC236}">
                <a16:creationId xmlns:a16="http://schemas.microsoft.com/office/drawing/2014/main" id="{FA534213-21DB-66B5-C2B3-E317F480251E}"/>
              </a:ext>
            </a:extLst>
          </p:cNvPr>
          <p:cNvSpPr txBox="1">
            <a:spLocks noChangeArrowheads="1"/>
          </p:cNvSpPr>
          <p:nvPr userDrawn="1"/>
        </p:nvSpPr>
        <p:spPr bwMode="auto">
          <a:xfrm>
            <a:off x="2514600" y="6424613"/>
            <a:ext cx="2895600" cy="336550"/>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US" altLang="en-US" sz="1600"/>
          </a:p>
        </p:txBody>
      </p:sp>
      <p:sp>
        <p:nvSpPr>
          <p:cNvPr id="6" name="TextBox 12">
            <a:extLst>
              <a:ext uri="{FF2B5EF4-FFF2-40B4-BE49-F238E27FC236}">
                <a16:creationId xmlns:a16="http://schemas.microsoft.com/office/drawing/2014/main" id="{44E9D0EB-6FC4-C3A9-F577-7DF0999BFE86}"/>
              </a:ext>
            </a:extLst>
          </p:cNvPr>
          <p:cNvSpPr txBox="1">
            <a:spLocks noChangeArrowheads="1"/>
          </p:cNvSpPr>
          <p:nvPr userDrawn="1"/>
        </p:nvSpPr>
        <p:spPr bwMode="auto">
          <a:xfrm>
            <a:off x="6037263" y="6453188"/>
            <a:ext cx="3013075" cy="307975"/>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US" altLang="en-US" sz="1400" b="1" dirty="0">
                <a:solidFill>
                  <a:srgbClr val="2F6ACB"/>
                </a:solidFill>
              </a:rPr>
              <a:t>TP. </a:t>
            </a:r>
            <a:r>
              <a:rPr lang="en-US" altLang="en-US" sz="1400" b="1" dirty="0" err="1">
                <a:solidFill>
                  <a:srgbClr val="2F6ACB"/>
                </a:solidFill>
              </a:rPr>
              <a:t>Hồ</a:t>
            </a:r>
            <a:r>
              <a:rPr lang="en-US" altLang="en-US" sz="1400" b="1" dirty="0">
                <a:solidFill>
                  <a:srgbClr val="2F6ACB"/>
                </a:solidFill>
              </a:rPr>
              <a:t> Chí Minh  </a:t>
            </a:r>
            <a:r>
              <a:rPr lang="en-US" altLang="en-US" sz="1400" b="1" dirty="0" err="1">
                <a:solidFill>
                  <a:srgbClr val="2F6ACB"/>
                </a:solidFill>
              </a:rPr>
              <a:t>ngày</a:t>
            </a:r>
            <a:r>
              <a:rPr lang="en-US" altLang="en-US" sz="1400" b="1" dirty="0">
                <a:solidFill>
                  <a:srgbClr val="2F6ACB"/>
                </a:solidFill>
              </a:rPr>
              <a:t> 10/01/2026</a:t>
            </a:r>
          </a:p>
        </p:txBody>
      </p:sp>
      <p:sp>
        <p:nvSpPr>
          <p:cNvPr id="7" name="TextBox 12">
            <a:extLst>
              <a:ext uri="{FF2B5EF4-FFF2-40B4-BE49-F238E27FC236}">
                <a16:creationId xmlns:a16="http://schemas.microsoft.com/office/drawing/2014/main" id="{2482452B-0F98-8234-71D7-BDB1CAF8892E}"/>
              </a:ext>
            </a:extLst>
          </p:cNvPr>
          <p:cNvSpPr txBox="1">
            <a:spLocks noChangeArrowheads="1"/>
          </p:cNvSpPr>
          <p:nvPr userDrawn="1"/>
        </p:nvSpPr>
        <p:spPr bwMode="auto">
          <a:xfrm>
            <a:off x="0" y="2438400"/>
            <a:ext cx="9144000" cy="2924175"/>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r>
              <a:rPr lang="en-US" altLang="en-US" sz="3600" b="1" dirty="0">
                <a:solidFill>
                  <a:srgbClr val="FF0000"/>
                </a:solidFill>
              </a:rPr>
              <a:t>ĐỒ ÁN 1</a:t>
            </a:r>
          </a:p>
          <a:p>
            <a:pPr algn="ctr">
              <a:defRPr/>
            </a:pPr>
            <a:r>
              <a:rPr lang="en-US" sz="2800" b="1" dirty="0"/>
              <a:t>PERSONAL PROTECTIVE EQUIPMENT (PPE)</a:t>
            </a:r>
            <a:endParaRPr lang="en-US" sz="2800" dirty="0"/>
          </a:p>
          <a:p>
            <a:pPr algn="ctr">
              <a:defRPr/>
            </a:pPr>
            <a:r>
              <a:rPr lang="en-US" sz="2800" b="1" dirty="0"/>
              <a:t>DETECTION SYSTEM USING YOLOv8</a:t>
            </a:r>
            <a:endParaRPr lang="en-US" altLang="en-US" sz="2800" b="1" dirty="0"/>
          </a:p>
          <a:p>
            <a:pPr algn="ctr" eaLnBrk="1" hangingPunct="1">
              <a:defRPr/>
            </a:pPr>
            <a:endParaRPr lang="en-US" altLang="en-US" sz="2000" b="1" dirty="0">
              <a:solidFill>
                <a:srgbClr val="3376C7"/>
              </a:solidFill>
            </a:endParaRPr>
          </a:p>
          <a:p>
            <a:pPr algn="ctr" eaLnBrk="1" hangingPunct="1">
              <a:defRPr/>
            </a:pPr>
            <a:r>
              <a:rPr lang="en-US" altLang="en-US" sz="2400" b="1" dirty="0">
                <a:solidFill>
                  <a:srgbClr val="000000"/>
                </a:solidFill>
              </a:rPr>
              <a:t>GVHD: TRƯƠNG QUANG VINH</a:t>
            </a:r>
          </a:p>
          <a:p>
            <a:pPr algn="ctr" eaLnBrk="1" hangingPunct="1">
              <a:defRPr/>
            </a:pPr>
            <a:r>
              <a:rPr lang="en-US" altLang="en-US" sz="2400" b="1" dirty="0">
                <a:solidFill>
                  <a:srgbClr val="000000"/>
                </a:solidFill>
              </a:rPr>
              <a:t>SINH VIÊN: NGUYỄN DUY HẢI</a:t>
            </a:r>
          </a:p>
          <a:p>
            <a:pPr algn="ctr" eaLnBrk="1" hangingPunct="1">
              <a:defRPr/>
            </a:pPr>
            <a:r>
              <a:rPr lang="en-US" altLang="en-US" sz="2400" b="1" dirty="0">
                <a:solidFill>
                  <a:srgbClr val="000000"/>
                </a:solidFill>
              </a:rPr>
              <a:t>MSSV: 2210891</a:t>
            </a:r>
          </a:p>
        </p:txBody>
      </p:sp>
      <p:pic>
        <p:nvPicPr>
          <p:cNvPr id="8" name="Picture 12">
            <a:extLst>
              <a:ext uri="{FF2B5EF4-FFF2-40B4-BE49-F238E27FC236}">
                <a16:creationId xmlns:a16="http://schemas.microsoft.com/office/drawing/2014/main" id="{8B1B999F-EC62-6808-1C22-958C31D9A1E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391400" y="179388"/>
            <a:ext cx="1716088" cy="1560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lide Number Placeholder 8">
            <a:extLst>
              <a:ext uri="{FF2B5EF4-FFF2-40B4-BE49-F238E27FC236}">
                <a16:creationId xmlns:a16="http://schemas.microsoft.com/office/drawing/2014/main" id="{75FF7415-2E65-EA6F-292D-0F5761A1B808}"/>
              </a:ext>
            </a:extLst>
          </p:cNvPr>
          <p:cNvSpPr>
            <a:spLocks noGrp="1" noChangeArrowheads="1"/>
          </p:cNvSpPr>
          <p:nvPr>
            <p:ph type="sldNum" sz="quarter" idx="10"/>
          </p:nvPr>
        </p:nvSpPr>
        <p:spPr>
          <a:xfrm>
            <a:off x="0" y="6610350"/>
            <a:ext cx="381000" cy="247650"/>
          </a:xfrm>
        </p:spPr>
        <p:txBody>
          <a:bodyPr/>
          <a:lstStyle>
            <a:lvl1pPr>
              <a:defRPr sz="1000"/>
            </a:lvl1pPr>
          </a:lstStyle>
          <a:p>
            <a:pPr>
              <a:defRPr/>
            </a:pPr>
            <a:fld id="{9F2DA768-2574-4A11-938F-48D2C81A4AC2}" type="slidenum">
              <a:rPr lang="en-US" altLang="en-US"/>
              <a:pPr>
                <a:defRPr/>
              </a:pPr>
              <a:t>‹#›</a:t>
            </a:fld>
            <a:endParaRPr lang="en-US" altLang="en-US"/>
          </a:p>
        </p:txBody>
      </p:sp>
    </p:spTree>
    <p:extLst>
      <p:ext uri="{BB962C8B-B14F-4D97-AF65-F5344CB8AC3E}">
        <p14:creationId xmlns:p14="http://schemas.microsoft.com/office/powerpoint/2010/main" val="2478439318"/>
      </p:ext>
    </p:extLst>
  </p:cSld>
  <p:clrMapOvr>
    <a:masterClrMapping/>
  </p:clrMapOvr>
  <p:transition spd="slow">
    <p:strips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theme" Target="../theme/theme2.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slideLayout" Target="../slideLayouts/slideLayout15.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gradFill rotWithShape="1">
          <a:gsLst>
            <a:gs pos="0">
              <a:srgbClr val="5E9EFF"/>
            </a:gs>
            <a:gs pos="39999">
              <a:srgbClr val="85C2FF"/>
            </a:gs>
            <a:gs pos="70000">
              <a:srgbClr val="C4D6EB"/>
            </a:gs>
            <a:gs pos="100000">
              <a:srgbClr val="FFEBFA"/>
            </a:gs>
          </a:gsLst>
          <a:lin ang="2700000"/>
        </a:gradFill>
        <a:effectLst/>
      </p:bgPr>
    </p:bg>
    <p:spTree>
      <p:nvGrpSpPr>
        <p:cNvPr id="1" name=""/>
        <p:cNvGrpSpPr/>
        <p:nvPr/>
      </p:nvGrpSpPr>
      <p:grpSpPr>
        <a:xfrm>
          <a:off x="0" y="0"/>
          <a:ext cx="0" cy="0"/>
          <a:chOff x="0" y="0"/>
          <a:chExt cx="0" cy="0"/>
        </a:xfrm>
      </p:grpSpPr>
      <p:sp>
        <p:nvSpPr>
          <p:cNvPr id="10" name="Rectangle 71">
            <a:extLst>
              <a:ext uri="{FF2B5EF4-FFF2-40B4-BE49-F238E27FC236}">
                <a16:creationId xmlns:a16="http://schemas.microsoft.com/office/drawing/2014/main" id="{E38ACEC3-667E-78D7-A47A-91DF4665F061}"/>
              </a:ext>
            </a:extLst>
          </p:cNvPr>
          <p:cNvSpPr>
            <a:spLocks noGrp="1" noChangeArrowheads="1"/>
          </p:cNvSpPr>
          <p:nvPr>
            <p:ph type="sldNum" sz="quarter" idx="4"/>
          </p:nvPr>
        </p:nvSpPr>
        <p:spPr bwMode="gray">
          <a:xfrm>
            <a:off x="7086600" y="6553200"/>
            <a:ext cx="1676400" cy="3048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1" hangingPunct="1">
              <a:defRPr sz="1600"/>
            </a:lvl1pPr>
          </a:lstStyle>
          <a:p>
            <a:pPr>
              <a:defRPr/>
            </a:pPr>
            <a:fld id="{2E6BDA6B-D39D-42D1-877B-96CFCC949891}" type="slidenum">
              <a:rPr lang="en-US" altLang="en-US"/>
              <a:pPr>
                <a:defRPr/>
              </a:pPr>
              <a:t>‹#›</a:t>
            </a:fld>
            <a:endParaRPr lang="en-US" altLang="en-US"/>
          </a:p>
        </p:txBody>
      </p:sp>
      <p:sp>
        <p:nvSpPr>
          <p:cNvPr id="1027" name="Rectangle 8">
            <a:extLst>
              <a:ext uri="{FF2B5EF4-FFF2-40B4-BE49-F238E27FC236}">
                <a16:creationId xmlns:a16="http://schemas.microsoft.com/office/drawing/2014/main" id="{E223CDC8-0D2E-8BF5-5F4E-693B09053783}"/>
              </a:ext>
            </a:extLst>
          </p:cNvPr>
          <p:cNvSpPr>
            <a:spLocks noGrp="1" noChangeArrowheads="1"/>
          </p:cNvSpPr>
          <p:nvPr>
            <p:ph type="title"/>
          </p:nvPr>
        </p:nvSpPr>
        <p:spPr bwMode="auto">
          <a:xfrm>
            <a:off x="457200" y="3048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9">
            <a:extLst>
              <a:ext uri="{FF2B5EF4-FFF2-40B4-BE49-F238E27FC236}">
                <a16:creationId xmlns:a16="http://schemas.microsoft.com/office/drawing/2014/main" id="{11C855B3-03A1-0323-D72E-10615C0FD2BB}"/>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Tree>
  </p:cSld>
  <p:clrMap bg1="lt1" tx1="dk1" bg2="lt2" tx2="dk2" accent1="accent1" accent2="accent2" accent3="accent3" accent4="accent4" accent5="accent5" accent6="accent6" hlink="hlink" folHlink="folHlink"/>
  <p:sldLayoutIdLst>
    <p:sldLayoutId id="2147484044" r:id="rId1"/>
    <p:sldLayoutId id="2147484045" r:id="rId2"/>
    <p:sldLayoutId id="2147484046" r:id="rId3"/>
  </p:sldLayoutIdLst>
  <p:transition spd="slow">
    <p:strips dir="ld"/>
  </p:transition>
  <p:hf hdr="0"/>
  <p:txStyles>
    <p:titleStyle>
      <a:lvl1pPr algn="l" rtl="0" eaLnBrk="0" fontAlgn="base" hangingPunct="0">
        <a:spcBef>
          <a:spcPct val="0"/>
        </a:spcBef>
        <a:spcAft>
          <a:spcPct val="0"/>
        </a:spcAft>
        <a:defRPr sz="4000" b="1">
          <a:solidFill>
            <a:schemeClr val="tx2"/>
          </a:solidFill>
          <a:latin typeface="Arial" charset="0"/>
          <a:ea typeface="+mj-ea"/>
          <a:cs typeface="+mj-cs"/>
        </a:defRPr>
      </a:lvl1pPr>
      <a:lvl2pPr algn="l" rtl="0" eaLnBrk="0" fontAlgn="base" hangingPunct="0">
        <a:spcBef>
          <a:spcPct val="0"/>
        </a:spcBef>
        <a:spcAft>
          <a:spcPct val="0"/>
        </a:spcAft>
        <a:defRPr sz="4000" b="1">
          <a:solidFill>
            <a:schemeClr val="tx2"/>
          </a:solidFill>
          <a:latin typeface="Arial" charset="0"/>
        </a:defRPr>
      </a:lvl2pPr>
      <a:lvl3pPr algn="l" rtl="0" eaLnBrk="0" fontAlgn="base" hangingPunct="0">
        <a:spcBef>
          <a:spcPct val="0"/>
        </a:spcBef>
        <a:spcAft>
          <a:spcPct val="0"/>
        </a:spcAft>
        <a:defRPr sz="4000" b="1">
          <a:solidFill>
            <a:schemeClr val="tx2"/>
          </a:solidFill>
          <a:latin typeface="Arial" charset="0"/>
        </a:defRPr>
      </a:lvl3pPr>
      <a:lvl4pPr algn="l" rtl="0" eaLnBrk="0" fontAlgn="base" hangingPunct="0">
        <a:spcBef>
          <a:spcPct val="0"/>
        </a:spcBef>
        <a:spcAft>
          <a:spcPct val="0"/>
        </a:spcAft>
        <a:defRPr sz="4000" b="1">
          <a:solidFill>
            <a:schemeClr val="tx2"/>
          </a:solidFill>
          <a:latin typeface="Arial" charset="0"/>
        </a:defRPr>
      </a:lvl4pPr>
      <a:lvl5pPr algn="l" rtl="0" eaLnBrk="0" fontAlgn="base" hangingPunct="0">
        <a:spcBef>
          <a:spcPct val="0"/>
        </a:spcBef>
        <a:spcAft>
          <a:spcPct val="0"/>
        </a:spcAft>
        <a:defRPr sz="4000" b="1">
          <a:solidFill>
            <a:schemeClr val="tx2"/>
          </a:solidFill>
          <a:latin typeface="Arial" charset="0"/>
        </a:defRPr>
      </a:lvl5pPr>
      <a:lvl6pPr marL="457200" algn="l" rtl="0" eaLnBrk="1" fontAlgn="base" hangingPunct="1">
        <a:spcBef>
          <a:spcPct val="0"/>
        </a:spcBef>
        <a:spcAft>
          <a:spcPct val="0"/>
        </a:spcAft>
        <a:defRPr sz="4000" b="1">
          <a:solidFill>
            <a:schemeClr val="tx2"/>
          </a:solidFill>
          <a:latin typeface="Arial" charset="0"/>
        </a:defRPr>
      </a:lvl6pPr>
      <a:lvl7pPr marL="914400" algn="l" rtl="0" eaLnBrk="1" fontAlgn="base" hangingPunct="1">
        <a:spcBef>
          <a:spcPct val="0"/>
        </a:spcBef>
        <a:spcAft>
          <a:spcPct val="0"/>
        </a:spcAft>
        <a:defRPr sz="4000" b="1">
          <a:solidFill>
            <a:schemeClr val="tx2"/>
          </a:solidFill>
          <a:latin typeface="Arial" charset="0"/>
        </a:defRPr>
      </a:lvl7pPr>
      <a:lvl8pPr marL="1371600" algn="l" rtl="0" eaLnBrk="1" fontAlgn="base" hangingPunct="1">
        <a:spcBef>
          <a:spcPct val="0"/>
        </a:spcBef>
        <a:spcAft>
          <a:spcPct val="0"/>
        </a:spcAft>
        <a:defRPr sz="4000" b="1">
          <a:solidFill>
            <a:schemeClr val="tx2"/>
          </a:solidFill>
          <a:latin typeface="Arial" charset="0"/>
        </a:defRPr>
      </a:lvl8pPr>
      <a:lvl9pPr marL="1828800" algn="l" rtl="0" eaLnBrk="1" fontAlgn="base" hangingPunct="1">
        <a:spcBef>
          <a:spcPct val="0"/>
        </a:spcBef>
        <a:spcAft>
          <a:spcPct val="0"/>
        </a:spcAft>
        <a:defRPr sz="4000" b="1">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Arial" charset="0"/>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charset="0"/>
        </a:defRPr>
      </a:lvl2pPr>
      <a:lvl3pPr marL="1143000" indent="-228600" algn="l" rtl="0" eaLnBrk="0" fontAlgn="base" hangingPunct="0">
        <a:spcBef>
          <a:spcPct val="20000"/>
        </a:spcBef>
        <a:spcAft>
          <a:spcPct val="0"/>
        </a:spcAft>
        <a:buChar char="•"/>
        <a:defRPr sz="2400">
          <a:solidFill>
            <a:schemeClr val="tx1"/>
          </a:solidFill>
          <a:latin typeface="Arial" charset="0"/>
        </a:defRPr>
      </a:lvl3pPr>
      <a:lvl4pPr marL="1600200" indent="-228600" algn="l" rtl="0" eaLnBrk="0" fontAlgn="base" hangingPunct="0">
        <a:spcBef>
          <a:spcPct val="20000"/>
        </a:spcBef>
        <a:spcAft>
          <a:spcPct val="0"/>
        </a:spcAft>
        <a:buChar char="–"/>
        <a:defRPr sz="2000">
          <a:solidFill>
            <a:schemeClr val="tx1"/>
          </a:solidFill>
          <a:latin typeface="Arial" charset="0"/>
        </a:defRPr>
      </a:lvl4pPr>
      <a:lvl5pPr marL="2057400" indent="-228600" algn="l" rtl="0" eaLnBrk="0" fontAlgn="base" hangingPunct="0">
        <a:spcBef>
          <a:spcPct val="20000"/>
        </a:spcBef>
        <a:spcAft>
          <a:spcPct val="0"/>
        </a:spcAft>
        <a:buChar char="»"/>
        <a:defRPr sz="2000">
          <a:solidFill>
            <a:schemeClr val="tx1"/>
          </a:solidFill>
          <a:latin typeface="Arial" charset="0"/>
        </a:defRPr>
      </a:lvl5pPr>
      <a:lvl6pPr marL="2514600" indent="-228600" algn="l" rtl="0" eaLnBrk="1" fontAlgn="base" hangingPunct="1">
        <a:spcBef>
          <a:spcPct val="20000"/>
        </a:spcBef>
        <a:spcAft>
          <a:spcPct val="0"/>
        </a:spcAft>
        <a:buChar char="»"/>
        <a:defRPr sz="2000">
          <a:solidFill>
            <a:schemeClr val="tx1"/>
          </a:solidFill>
          <a:latin typeface="+mn-lt"/>
        </a:defRPr>
      </a:lvl6pPr>
      <a:lvl7pPr marL="2971800" indent="-228600" algn="l" rtl="0" eaLnBrk="1" fontAlgn="base" hangingPunct="1">
        <a:spcBef>
          <a:spcPct val="20000"/>
        </a:spcBef>
        <a:spcAft>
          <a:spcPct val="0"/>
        </a:spcAft>
        <a:buChar char="»"/>
        <a:defRPr sz="2000">
          <a:solidFill>
            <a:schemeClr val="tx1"/>
          </a:solidFill>
          <a:latin typeface="+mn-lt"/>
        </a:defRPr>
      </a:lvl7pPr>
      <a:lvl8pPr marL="3429000" indent="-228600" algn="l" rtl="0" eaLnBrk="1" fontAlgn="base" hangingPunct="1">
        <a:spcBef>
          <a:spcPct val="20000"/>
        </a:spcBef>
        <a:spcAft>
          <a:spcPct val="0"/>
        </a:spcAft>
        <a:buChar char="»"/>
        <a:defRPr sz="2000">
          <a:solidFill>
            <a:schemeClr val="tx1"/>
          </a:solidFill>
          <a:latin typeface="+mn-lt"/>
        </a:defRPr>
      </a:lvl8pPr>
      <a:lvl9pPr marL="3886200" indent="-228600" algn="l" rtl="0" eaLnBrk="1" fontAlgn="base" hangingPunct="1">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7EBF0A5D-FF5D-37A8-AEAC-85DC8F383CBD}"/>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5365C214-5351-281B-A4CC-5538B5E4879D}"/>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9281DEC-ECDE-35C9-3649-B5FE68E360AF}"/>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defRPr>
            </a:lvl1pPr>
          </a:lstStyle>
          <a:p>
            <a:pPr>
              <a:defRPr/>
            </a:pPr>
            <a:fld id="{C051D495-BA90-40FB-BB76-89425405ECF1}" type="datetimeFigureOut">
              <a:rPr lang="en-US"/>
              <a:pPr>
                <a:defRPr/>
              </a:pPr>
              <a:t>8/18/2026</a:t>
            </a:fld>
            <a:endParaRPr lang="en-US"/>
          </a:p>
        </p:txBody>
      </p:sp>
      <p:sp>
        <p:nvSpPr>
          <p:cNvPr id="5" name="Footer Placeholder 4">
            <a:extLst>
              <a:ext uri="{FF2B5EF4-FFF2-40B4-BE49-F238E27FC236}">
                <a16:creationId xmlns:a16="http://schemas.microsoft.com/office/drawing/2014/main" id="{0A4A06A2-1FBC-1822-E49A-741657B2251D}"/>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defRPr>
            </a:lvl1pPr>
          </a:lstStyle>
          <a:p>
            <a:pPr>
              <a:defRPr/>
            </a:pPr>
            <a:endParaRPr lang="en-US"/>
          </a:p>
        </p:txBody>
      </p:sp>
      <p:sp>
        <p:nvSpPr>
          <p:cNvPr id="6" name="Slide Number Placeholder 5">
            <a:extLst>
              <a:ext uri="{FF2B5EF4-FFF2-40B4-BE49-F238E27FC236}">
                <a16:creationId xmlns:a16="http://schemas.microsoft.com/office/drawing/2014/main" id="{6A9D3E9F-1204-F48F-80CD-F480425D3B18}"/>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A1C21889-C222-41CB-9F3D-7422465CBEE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034" r:id="rId1"/>
    <p:sldLayoutId id="2147484047" r:id="rId2"/>
    <p:sldLayoutId id="2147484035" r:id="rId3"/>
    <p:sldLayoutId id="2147484036" r:id="rId4"/>
    <p:sldLayoutId id="2147484037" r:id="rId5"/>
    <p:sldLayoutId id="2147484038" r:id="rId6"/>
    <p:sldLayoutId id="2147484039" r:id="rId7"/>
    <p:sldLayoutId id="2147484040" r:id="rId8"/>
    <p:sldLayoutId id="2147484041" r:id="rId9"/>
    <p:sldLayoutId id="2147484042" r:id="rId10"/>
    <p:sldLayoutId id="2147484043" r:id="rId11"/>
    <p:sldLayoutId id="2147484048" r:id="rId12"/>
  </p:sldLayoutIdLst>
  <p:transition spd="slow">
    <p:strips dir="ld"/>
  </p:transition>
  <p:hf hdr="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charset="0"/>
        </a:defRPr>
      </a:lvl2pPr>
      <a:lvl3pPr algn="ctr" rtl="0" eaLnBrk="0" fontAlgn="base" hangingPunct="0">
        <a:spcBef>
          <a:spcPct val="0"/>
        </a:spcBef>
        <a:spcAft>
          <a:spcPct val="0"/>
        </a:spcAft>
        <a:defRPr sz="4400">
          <a:solidFill>
            <a:schemeClr val="tx1"/>
          </a:solidFill>
          <a:latin typeface="Calibri" charset="0"/>
        </a:defRPr>
      </a:lvl3pPr>
      <a:lvl4pPr algn="ctr" rtl="0" eaLnBrk="0" fontAlgn="base" hangingPunct="0">
        <a:spcBef>
          <a:spcPct val="0"/>
        </a:spcBef>
        <a:spcAft>
          <a:spcPct val="0"/>
        </a:spcAft>
        <a:defRPr sz="4400">
          <a:solidFill>
            <a:schemeClr val="tx1"/>
          </a:solidFill>
          <a:latin typeface="Calibri" charset="0"/>
        </a:defRPr>
      </a:lvl4pPr>
      <a:lvl5pPr algn="ctr" rtl="0" eaLnBrk="0" fontAlgn="base" hangingPunct="0">
        <a:spcBef>
          <a:spcPct val="0"/>
        </a:spcBef>
        <a:spcAft>
          <a:spcPct val="0"/>
        </a:spcAft>
        <a:defRPr sz="4400">
          <a:solidFill>
            <a:schemeClr val="tx1"/>
          </a:solidFill>
          <a:latin typeface="Calibri" charset="0"/>
        </a:defRPr>
      </a:lvl5pPr>
      <a:lvl6pPr marL="457200" algn="ctr" rtl="0" fontAlgn="base">
        <a:spcBef>
          <a:spcPct val="0"/>
        </a:spcBef>
        <a:spcAft>
          <a:spcPct val="0"/>
        </a:spcAft>
        <a:defRPr sz="4400">
          <a:solidFill>
            <a:schemeClr val="tx1"/>
          </a:solidFill>
          <a:latin typeface="Calibri" charset="0"/>
        </a:defRPr>
      </a:lvl6pPr>
      <a:lvl7pPr marL="914400" algn="ctr" rtl="0" fontAlgn="base">
        <a:spcBef>
          <a:spcPct val="0"/>
        </a:spcBef>
        <a:spcAft>
          <a:spcPct val="0"/>
        </a:spcAft>
        <a:defRPr sz="4400">
          <a:solidFill>
            <a:schemeClr val="tx1"/>
          </a:solidFill>
          <a:latin typeface="Calibri" charset="0"/>
        </a:defRPr>
      </a:lvl7pPr>
      <a:lvl8pPr marL="1371600" algn="ctr" rtl="0" fontAlgn="base">
        <a:spcBef>
          <a:spcPct val="0"/>
        </a:spcBef>
        <a:spcAft>
          <a:spcPct val="0"/>
        </a:spcAft>
        <a:defRPr sz="4400">
          <a:solidFill>
            <a:schemeClr val="tx1"/>
          </a:solidFill>
          <a:latin typeface="Calibri" charset="0"/>
        </a:defRPr>
      </a:lvl8pPr>
      <a:lvl9pPr marL="1828800" algn="ctr" rtl="0" fontAlgn="base">
        <a:spcBef>
          <a:spcPct val="0"/>
        </a:spcBef>
        <a:spcAft>
          <a:spcPct val="0"/>
        </a:spcAft>
        <a:defRPr sz="4400">
          <a:solidFill>
            <a:schemeClr val="tx1"/>
          </a:solidFill>
          <a:latin typeface="Calibri"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4.jp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94560" y="5504688"/>
            <a:ext cx="4754880" cy="365760"/>
          </a:xfrm>
          <a:prstGeom prst="rect">
            <a:avLst/>
          </a:prstGeom>
          <a:noFill/>
        </p:spPr>
        <p:txBody>
          <a:bodyPr wrap="square">
            <a:spAutoFit/>
          </a:bodyPr>
          <a:lstStyle/>
          <a:p>
            <a:pPr algn="ctr">
              <a:spcBef>
                <a:spcPts val="0"/>
              </a:spcBef>
            </a:pPr>
            <a:r>
              <a:rPr sz="1500" b="1">
                <a:solidFill>
                  <a:srgbClr val="1A1A1A"/>
                </a:solidFill>
                <a:latin typeface="Arial"/>
              </a:rPr>
              <a:t>GVHD: ThS. Nguyễn Khánh Lợi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Nội dung</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sp>
        <p:nvSpPr>
          <p:cNvPr id="8" name="TextBox 7"/>
          <p:cNvSpPr txBox="1"/>
          <p:nvPr/>
        </p:nvSpPr>
        <p:spPr>
          <a:xfrm>
            <a:off x="1188720" y="1600200"/>
            <a:ext cx="6949440" cy="4389120"/>
          </a:xfrm>
          <a:prstGeom prst="rect">
            <a:avLst/>
          </a:prstGeom>
          <a:noFill/>
        </p:spPr>
        <p:txBody>
          <a:bodyPr wrap="square">
            <a:spAutoFit/>
          </a:bodyPr>
          <a:lstStyle/>
          <a:p>
            <a:pPr>
              <a:spcBef>
                <a:spcPts val="1800"/>
              </a:spcBef>
            </a:pPr>
            <a:r>
              <a:rPr sz="2600" b="0">
                <a:solidFill>
                  <a:srgbClr val="1A1A1A"/>
                </a:solidFill>
                <a:latin typeface="Arial"/>
              </a:rPr>
              <a:t>I.   Giới thiệu đề tài</a:t>
            </a:r>
          </a:p>
          <a:p>
            <a:pPr>
              <a:spcBef>
                <a:spcPts val="1800"/>
              </a:spcBef>
            </a:pPr>
            <a:r>
              <a:rPr sz="2600" b="0">
                <a:solidFill>
                  <a:srgbClr val="1A1A1A"/>
                </a:solidFill>
                <a:latin typeface="Arial"/>
              </a:rPr>
              <a:t>II.   Cơ sở lý thuyết Matter</a:t>
            </a:r>
          </a:p>
          <a:p>
            <a:pPr>
              <a:spcBef>
                <a:spcPts val="1800"/>
              </a:spcBef>
            </a:pPr>
            <a:r>
              <a:rPr sz="2600" b="0">
                <a:solidFill>
                  <a:srgbClr val="1A1A1A"/>
                </a:solidFill>
                <a:latin typeface="Arial"/>
              </a:rPr>
              <a:t>III.   Thiết kế và thi công hệ thống</a:t>
            </a:r>
          </a:p>
          <a:p>
            <a:pPr>
              <a:spcBef>
                <a:spcPts val="1800"/>
              </a:spcBef>
            </a:pPr>
            <a:r>
              <a:rPr sz="2600" b="1">
                <a:solidFill>
                  <a:srgbClr val="3376C7"/>
                </a:solidFill>
                <a:latin typeface="Arial"/>
              </a:rPr>
              <a:t>IV.   Kết quả và demo</a:t>
            </a:r>
          </a:p>
          <a:p>
            <a:pPr>
              <a:spcBef>
                <a:spcPts val="1800"/>
              </a:spcBef>
            </a:pPr>
            <a:r>
              <a:rPr sz="2600" b="0">
                <a:solidFill>
                  <a:srgbClr val="1A1A1A"/>
                </a:solidFill>
                <a:latin typeface="Arial"/>
              </a:rPr>
              <a:t>V.   Kết luận, hướng phát triển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 Giới thiệu</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sp>
        <p:nvSpPr>
          <p:cNvPr id="8" name="TextBox 7"/>
          <p:cNvSpPr txBox="1"/>
          <p:nvPr/>
        </p:nvSpPr>
        <p:spPr>
          <a:xfrm>
            <a:off x="502920" y="1298448"/>
            <a:ext cx="8138160" cy="2549416"/>
          </a:xfrm>
          <a:prstGeom prst="rect">
            <a:avLst/>
          </a:prstGeom>
          <a:noFill/>
        </p:spPr>
        <p:txBody>
          <a:bodyPr wrap="square">
            <a:spAutoFit/>
          </a:bodyPr>
          <a:lstStyle/>
          <a:p>
            <a:pPr>
              <a:spcBef>
                <a:spcPts val="0"/>
              </a:spcBef>
            </a:pPr>
            <a:r>
              <a:rPr sz="2400" b="1" dirty="0">
                <a:solidFill>
                  <a:srgbClr val="1A1A1A"/>
                </a:solidFill>
                <a:latin typeface="Arial"/>
              </a:rPr>
              <a:t>Lý do </a:t>
            </a:r>
            <a:r>
              <a:rPr sz="2400" b="1" dirty="0" err="1">
                <a:solidFill>
                  <a:srgbClr val="1A1A1A"/>
                </a:solidFill>
                <a:latin typeface="Arial"/>
              </a:rPr>
              <a:t>chọn</a:t>
            </a:r>
            <a:r>
              <a:rPr sz="2400" b="1" dirty="0">
                <a:solidFill>
                  <a:srgbClr val="1A1A1A"/>
                </a:solidFill>
                <a:latin typeface="Arial"/>
              </a:rPr>
              <a:t> </a:t>
            </a:r>
            <a:r>
              <a:rPr sz="2400" b="1" dirty="0" err="1">
                <a:solidFill>
                  <a:srgbClr val="1A1A1A"/>
                </a:solidFill>
                <a:latin typeface="Arial"/>
              </a:rPr>
              <a:t>đề</a:t>
            </a:r>
            <a:r>
              <a:rPr sz="2400" b="1" dirty="0">
                <a:solidFill>
                  <a:srgbClr val="1A1A1A"/>
                </a:solidFill>
                <a:latin typeface="Arial"/>
              </a:rPr>
              <a:t> </a:t>
            </a:r>
            <a:r>
              <a:rPr sz="2400" b="1" dirty="0" err="1">
                <a:solidFill>
                  <a:srgbClr val="1A1A1A"/>
                </a:solidFill>
                <a:latin typeface="Arial"/>
              </a:rPr>
              <a:t>tài</a:t>
            </a:r>
            <a:endParaRPr sz="2400" b="1" dirty="0">
              <a:solidFill>
                <a:srgbClr val="1A1A1A"/>
              </a:solidFill>
              <a:latin typeface="Arial"/>
            </a:endParaRPr>
          </a:p>
          <a:p>
            <a:pPr>
              <a:spcBef>
                <a:spcPts val="1000"/>
              </a:spcBef>
            </a:pPr>
            <a:r>
              <a:rPr sz="1900" b="0" dirty="0">
                <a:solidFill>
                  <a:srgbClr val="1A1A1A"/>
                </a:solidFill>
                <a:latin typeface="Arial"/>
              </a:rPr>
              <a:t>• </a:t>
            </a:r>
            <a:r>
              <a:rPr sz="1900" b="0" dirty="0" err="1">
                <a:solidFill>
                  <a:srgbClr val="1A1A1A"/>
                </a:solidFill>
                <a:latin typeface="Arial"/>
              </a:rPr>
              <a:t>Nhà</a:t>
            </a:r>
            <a:r>
              <a:rPr sz="1900" b="0" dirty="0">
                <a:solidFill>
                  <a:srgbClr val="1A1A1A"/>
                </a:solidFill>
                <a:latin typeface="Arial"/>
              </a:rPr>
              <a:t> </a:t>
            </a:r>
            <a:r>
              <a:rPr sz="1900" b="0" dirty="0" err="1">
                <a:solidFill>
                  <a:srgbClr val="1A1A1A"/>
                </a:solidFill>
                <a:latin typeface="Arial"/>
              </a:rPr>
              <a:t>thông</a:t>
            </a:r>
            <a:r>
              <a:rPr sz="1900" b="0" dirty="0">
                <a:solidFill>
                  <a:srgbClr val="1A1A1A"/>
                </a:solidFill>
                <a:latin typeface="Arial"/>
              </a:rPr>
              <a:t> </a:t>
            </a:r>
            <a:r>
              <a:rPr sz="1900" b="0" dirty="0" err="1">
                <a:solidFill>
                  <a:srgbClr val="1A1A1A"/>
                </a:solidFill>
                <a:latin typeface="Arial"/>
              </a:rPr>
              <a:t>minh</a:t>
            </a:r>
            <a:r>
              <a:rPr sz="1900" b="0" dirty="0">
                <a:solidFill>
                  <a:srgbClr val="1A1A1A"/>
                </a:solidFill>
                <a:latin typeface="Arial"/>
              </a:rPr>
              <a:t> </a:t>
            </a:r>
            <a:r>
              <a:rPr sz="1900" b="0" dirty="0" err="1">
                <a:solidFill>
                  <a:srgbClr val="1A1A1A"/>
                </a:solidFill>
                <a:latin typeface="Arial"/>
              </a:rPr>
              <a:t>đang</a:t>
            </a:r>
            <a:r>
              <a:rPr sz="1900" b="0" dirty="0">
                <a:solidFill>
                  <a:srgbClr val="1A1A1A"/>
                </a:solidFill>
                <a:latin typeface="Arial"/>
              </a:rPr>
              <a:t> </a:t>
            </a:r>
            <a:r>
              <a:rPr sz="1900" b="0" dirty="0" err="1">
                <a:solidFill>
                  <a:srgbClr val="1A1A1A"/>
                </a:solidFill>
                <a:latin typeface="Arial"/>
              </a:rPr>
              <a:t>phân</a:t>
            </a:r>
            <a:r>
              <a:rPr sz="1900" b="0" dirty="0">
                <a:solidFill>
                  <a:srgbClr val="1A1A1A"/>
                </a:solidFill>
                <a:latin typeface="Arial"/>
              </a:rPr>
              <a:t> </a:t>
            </a:r>
            <a:r>
              <a:rPr sz="1900" b="0" dirty="0" err="1">
                <a:solidFill>
                  <a:srgbClr val="1A1A1A"/>
                </a:solidFill>
                <a:latin typeface="Arial"/>
              </a:rPr>
              <a:t>mảnh</a:t>
            </a:r>
            <a:r>
              <a:rPr sz="1900" b="0" dirty="0">
                <a:solidFill>
                  <a:srgbClr val="1A1A1A"/>
                </a:solidFill>
                <a:latin typeface="Arial"/>
              </a:rPr>
              <a:t>: </a:t>
            </a:r>
            <a:r>
              <a:rPr sz="1900" b="0" dirty="0" err="1">
                <a:solidFill>
                  <a:srgbClr val="1A1A1A"/>
                </a:solidFill>
                <a:latin typeface="Arial"/>
              </a:rPr>
              <a:t>mỗi</a:t>
            </a:r>
            <a:r>
              <a:rPr sz="1900" b="0" dirty="0">
                <a:solidFill>
                  <a:srgbClr val="1A1A1A"/>
                </a:solidFill>
                <a:latin typeface="Arial"/>
              </a:rPr>
              <a:t> </a:t>
            </a:r>
            <a:r>
              <a:rPr sz="1900" b="0" dirty="0" err="1">
                <a:solidFill>
                  <a:srgbClr val="1A1A1A"/>
                </a:solidFill>
                <a:latin typeface="Arial"/>
              </a:rPr>
              <a:t>hãng</a:t>
            </a:r>
            <a:r>
              <a:rPr sz="1900" b="0" dirty="0">
                <a:solidFill>
                  <a:srgbClr val="1A1A1A"/>
                </a:solidFill>
                <a:latin typeface="Arial"/>
              </a:rPr>
              <a:t> </a:t>
            </a:r>
            <a:r>
              <a:rPr sz="1900" b="0" dirty="0" err="1">
                <a:solidFill>
                  <a:srgbClr val="1A1A1A"/>
                </a:solidFill>
                <a:latin typeface="Arial"/>
              </a:rPr>
              <a:t>một</a:t>
            </a:r>
            <a:r>
              <a:rPr sz="1900" b="0" dirty="0">
                <a:solidFill>
                  <a:srgbClr val="1A1A1A"/>
                </a:solidFill>
                <a:latin typeface="Arial"/>
              </a:rPr>
              <a:t> </a:t>
            </a:r>
            <a:r>
              <a:rPr sz="1900" b="0" dirty="0" err="1">
                <a:solidFill>
                  <a:srgbClr val="1A1A1A"/>
                </a:solidFill>
                <a:latin typeface="Arial"/>
              </a:rPr>
              <a:t>giao</a:t>
            </a:r>
            <a:r>
              <a:rPr sz="1900" b="0" dirty="0">
                <a:solidFill>
                  <a:srgbClr val="1A1A1A"/>
                </a:solidFill>
                <a:latin typeface="Arial"/>
              </a:rPr>
              <a:t> </a:t>
            </a:r>
            <a:r>
              <a:rPr sz="1900" b="0" dirty="0" err="1">
                <a:solidFill>
                  <a:srgbClr val="1A1A1A"/>
                </a:solidFill>
                <a:latin typeface="Arial"/>
              </a:rPr>
              <a:t>thức</a:t>
            </a:r>
            <a:r>
              <a:rPr sz="1900" b="0" dirty="0">
                <a:solidFill>
                  <a:srgbClr val="1A1A1A"/>
                </a:solidFill>
                <a:latin typeface="Arial"/>
              </a:rPr>
              <a:t> </a:t>
            </a:r>
            <a:r>
              <a:rPr sz="1900" b="0" dirty="0" err="1">
                <a:solidFill>
                  <a:srgbClr val="1A1A1A"/>
                </a:solidFill>
                <a:latin typeface="Arial"/>
              </a:rPr>
              <a:t>riêng</a:t>
            </a:r>
            <a:r>
              <a:rPr sz="1900" b="0" dirty="0">
                <a:solidFill>
                  <a:srgbClr val="1A1A1A"/>
                </a:solidFill>
                <a:latin typeface="Arial"/>
              </a:rPr>
              <a:t>, </a:t>
            </a:r>
            <a:r>
              <a:rPr sz="1900" b="0" dirty="0" err="1">
                <a:solidFill>
                  <a:srgbClr val="1A1A1A"/>
                </a:solidFill>
                <a:latin typeface="Arial"/>
              </a:rPr>
              <a:t>thiết</a:t>
            </a:r>
            <a:r>
              <a:rPr sz="1900" b="0" dirty="0">
                <a:solidFill>
                  <a:srgbClr val="1A1A1A"/>
                </a:solidFill>
                <a:latin typeface="Arial"/>
              </a:rPr>
              <a:t> </a:t>
            </a:r>
            <a:r>
              <a:rPr sz="1900" b="0" dirty="0" err="1">
                <a:solidFill>
                  <a:srgbClr val="1A1A1A"/>
                </a:solidFill>
                <a:latin typeface="Arial"/>
              </a:rPr>
              <a:t>bị</a:t>
            </a:r>
            <a:r>
              <a:rPr sz="1900" b="0" dirty="0">
                <a:solidFill>
                  <a:srgbClr val="1A1A1A"/>
                </a:solidFill>
                <a:latin typeface="Arial"/>
              </a:rPr>
              <a:t> </a:t>
            </a:r>
            <a:r>
              <a:rPr sz="1900" b="0" dirty="0" err="1">
                <a:solidFill>
                  <a:srgbClr val="1A1A1A"/>
                </a:solidFill>
                <a:latin typeface="Arial"/>
              </a:rPr>
              <a:t>mua</a:t>
            </a:r>
            <a:r>
              <a:rPr sz="1900" b="0" dirty="0">
                <a:solidFill>
                  <a:srgbClr val="1A1A1A"/>
                </a:solidFill>
                <a:latin typeface="Arial"/>
              </a:rPr>
              <a:t> </a:t>
            </a:r>
            <a:r>
              <a:rPr sz="1900" b="0" dirty="0" err="1">
                <a:solidFill>
                  <a:srgbClr val="1A1A1A"/>
                </a:solidFill>
                <a:latin typeface="Arial"/>
              </a:rPr>
              <a:t>về</a:t>
            </a:r>
            <a:r>
              <a:rPr sz="1900" b="0" dirty="0">
                <a:solidFill>
                  <a:srgbClr val="1A1A1A"/>
                </a:solidFill>
                <a:latin typeface="Arial"/>
              </a:rPr>
              <a:t> </a:t>
            </a:r>
            <a:r>
              <a:rPr sz="1900" b="0" dirty="0" err="1">
                <a:solidFill>
                  <a:srgbClr val="1A1A1A"/>
                </a:solidFill>
                <a:latin typeface="Arial"/>
              </a:rPr>
              <a:t>bị</a:t>
            </a:r>
            <a:r>
              <a:rPr sz="1900" b="0" dirty="0">
                <a:solidFill>
                  <a:srgbClr val="1A1A1A"/>
                </a:solidFill>
                <a:latin typeface="Arial"/>
              </a:rPr>
              <a:t> </a:t>
            </a:r>
            <a:r>
              <a:rPr sz="1900" b="0" dirty="0" err="1">
                <a:solidFill>
                  <a:srgbClr val="1A1A1A"/>
                </a:solidFill>
                <a:latin typeface="Arial"/>
              </a:rPr>
              <a:t>khoá</a:t>
            </a:r>
            <a:r>
              <a:rPr sz="1900" b="0" dirty="0">
                <a:solidFill>
                  <a:srgbClr val="1A1A1A"/>
                </a:solidFill>
                <a:latin typeface="Arial"/>
              </a:rPr>
              <a:t> </a:t>
            </a:r>
            <a:r>
              <a:rPr sz="1900" b="0" dirty="0" err="1">
                <a:solidFill>
                  <a:srgbClr val="1A1A1A"/>
                </a:solidFill>
                <a:latin typeface="Arial"/>
              </a:rPr>
              <a:t>vào</a:t>
            </a:r>
            <a:r>
              <a:rPr sz="1900" b="0" dirty="0">
                <a:solidFill>
                  <a:srgbClr val="1A1A1A"/>
                </a:solidFill>
                <a:latin typeface="Arial"/>
              </a:rPr>
              <a:t> </a:t>
            </a:r>
            <a:r>
              <a:rPr sz="1900" b="0" dirty="0" err="1">
                <a:solidFill>
                  <a:srgbClr val="1A1A1A"/>
                </a:solidFill>
                <a:latin typeface="Arial"/>
              </a:rPr>
              <a:t>đúng</a:t>
            </a:r>
            <a:r>
              <a:rPr sz="1900" b="0" dirty="0">
                <a:solidFill>
                  <a:srgbClr val="1A1A1A"/>
                </a:solidFill>
                <a:latin typeface="Arial"/>
              </a:rPr>
              <a:t> </a:t>
            </a:r>
            <a:r>
              <a:rPr sz="1900" b="0" dirty="0" err="1">
                <a:solidFill>
                  <a:srgbClr val="1A1A1A"/>
                </a:solidFill>
                <a:latin typeface="Arial"/>
              </a:rPr>
              <a:t>một</a:t>
            </a:r>
            <a:r>
              <a:rPr sz="1900" b="0" dirty="0">
                <a:solidFill>
                  <a:srgbClr val="1A1A1A"/>
                </a:solidFill>
                <a:latin typeface="Arial"/>
              </a:rPr>
              <a:t> </a:t>
            </a:r>
            <a:r>
              <a:rPr sz="1900" b="0" dirty="0" err="1">
                <a:solidFill>
                  <a:srgbClr val="1A1A1A"/>
                </a:solidFill>
                <a:latin typeface="Arial"/>
              </a:rPr>
              <a:t>nền</a:t>
            </a:r>
            <a:r>
              <a:rPr sz="1900" b="0" dirty="0">
                <a:solidFill>
                  <a:srgbClr val="1A1A1A"/>
                </a:solidFill>
                <a:latin typeface="Arial"/>
              </a:rPr>
              <a:t> </a:t>
            </a:r>
            <a:r>
              <a:rPr sz="1900" b="0" dirty="0" err="1">
                <a:solidFill>
                  <a:srgbClr val="1A1A1A"/>
                </a:solidFill>
                <a:latin typeface="Arial"/>
              </a:rPr>
              <a:t>tảng</a:t>
            </a:r>
            <a:r>
              <a:rPr sz="1900" b="0" dirty="0">
                <a:solidFill>
                  <a:srgbClr val="1A1A1A"/>
                </a:solidFill>
                <a:latin typeface="Arial"/>
              </a:rPr>
              <a:t>.</a:t>
            </a:r>
          </a:p>
          <a:p>
            <a:pPr>
              <a:spcBef>
                <a:spcPts val="800"/>
              </a:spcBef>
            </a:pPr>
            <a:r>
              <a:rPr sz="1900" b="0" dirty="0">
                <a:solidFill>
                  <a:srgbClr val="1A1A1A"/>
                </a:solidFill>
                <a:latin typeface="Arial"/>
              </a:rPr>
              <a:t>• </a:t>
            </a:r>
            <a:r>
              <a:rPr sz="1900" b="0" dirty="0" err="1">
                <a:solidFill>
                  <a:srgbClr val="1A1A1A"/>
                </a:solidFill>
                <a:latin typeface="Arial"/>
              </a:rPr>
              <a:t>Phụ</a:t>
            </a:r>
            <a:r>
              <a:rPr sz="1900" b="0" dirty="0">
                <a:solidFill>
                  <a:srgbClr val="1A1A1A"/>
                </a:solidFill>
                <a:latin typeface="Arial"/>
              </a:rPr>
              <a:t> </a:t>
            </a:r>
            <a:r>
              <a:rPr sz="1900" b="0" dirty="0" err="1">
                <a:solidFill>
                  <a:srgbClr val="1A1A1A"/>
                </a:solidFill>
                <a:latin typeface="Arial"/>
              </a:rPr>
              <a:t>thuộc</a:t>
            </a:r>
            <a:r>
              <a:rPr sz="1900" b="0" dirty="0">
                <a:solidFill>
                  <a:srgbClr val="1A1A1A"/>
                </a:solidFill>
                <a:latin typeface="Arial"/>
              </a:rPr>
              <a:t> </a:t>
            </a:r>
            <a:r>
              <a:rPr sz="1900" b="0" dirty="0" err="1">
                <a:solidFill>
                  <a:srgbClr val="1A1A1A"/>
                </a:solidFill>
                <a:latin typeface="Arial"/>
              </a:rPr>
              <a:t>đám</a:t>
            </a:r>
            <a:r>
              <a:rPr sz="1900" b="0" dirty="0">
                <a:solidFill>
                  <a:srgbClr val="1A1A1A"/>
                </a:solidFill>
                <a:latin typeface="Arial"/>
              </a:rPr>
              <a:t> </a:t>
            </a:r>
            <a:r>
              <a:rPr sz="1900" b="0" dirty="0" err="1">
                <a:solidFill>
                  <a:srgbClr val="1A1A1A"/>
                </a:solidFill>
                <a:latin typeface="Arial"/>
              </a:rPr>
              <a:t>mây</a:t>
            </a:r>
            <a:r>
              <a:rPr sz="1900" b="0" dirty="0">
                <a:solidFill>
                  <a:srgbClr val="1A1A1A"/>
                </a:solidFill>
                <a:latin typeface="Arial"/>
              </a:rPr>
              <a:t>: </a:t>
            </a:r>
            <a:r>
              <a:rPr sz="1900" b="0" dirty="0" err="1">
                <a:solidFill>
                  <a:srgbClr val="1A1A1A"/>
                </a:solidFill>
                <a:latin typeface="Arial"/>
              </a:rPr>
              <a:t>mất</a:t>
            </a:r>
            <a:r>
              <a:rPr sz="1900" b="0" dirty="0">
                <a:solidFill>
                  <a:srgbClr val="1A1A1A"/>
                </a:solidFill>
                <a:latin typeface="Arial"/>
              </a:rPr>
              <a:t> Internet </a:t>
            </a:r>
            <a:r>
              <a:rPr sz="1900" b="0" dirty="0" err="1">
                <a:solidFill>
                  <a:srgbClr val="1A1A1A"/>
                </a:solidFill>
                <a:latin typeface="Arial"/>
              </a:rPr>
              <a:t>là</a:t>
            </a:r>
            <a:r>
              <a:rPr sz="1900" b="0" dirty="0">
                <a:solidFill>
                  <a:srgbClr val="1A1A1A"/>
                </a:solidFill>
                <a:latin typeface="Arial"/>
              </a:rPr>
              <a:t> </a:t>
            </a:r>
            <a:r>
              <a:rPr sz="1900" b="0" dirty="0" err="1">
                <a:solidFill>
                  <a:srgbClr val="1A1A1A"/>
                </a:solidFill>
                <a:latin typeface="Arial"/>
              </a:rPr>
              <a:t>mất</a:t>
            </a:r>
            <a:r>
              <a:rPr sz="1900" b="0" dirty="0">
                <a:solidFill>
                  <a:srgbClr val="1A1A1A"/>
                </a:solidFill>
                <a:latin typeface="Arial"/>
              </a:rPr>
              <a:t> </a:t>
            </a:r>
            <a:r>
              <a:rPr sz="1900" b="0" dirty="0" err="1">
                <a:solidFill>
                  <a:srgbClr val="1A1A1A"/>
                </a:solidFill>
                <a:latin typeface="Arial"/>
              </a:rPr>
              <a:t>điều</a:t>
            </a:r>
            <a:r>
              <a:rPr sz="1900" b="0" dirty="0">
                <a:solidFill>
                  <a:srgbClr val="1A1A1A"/>
                </a:solidFill>
                <a:latin typeface="Arial"/>
              </a:rPr>
              <a:t> </a:t>
            </a:r>
            <a:r>
              <a:rPr sz="1900" b="0" dirty="0" err="1">
                <a:solidFill>
                  <a:srgbClr val="1A1A1A"/>
                </a:solidFill>
                <a:latin typeface="Arial"/>
              </a:rPr>
              <a:t>khiển</a:t>
            </a:r>
            <a:r>
              <a:rPr sz="1900" b="0" dirty="0">
                <a:solidFill>
                  <a:srgbClr val="1A1A1A"/>
                </a:solidFill>
                <a:latin typeface="Arial"/>
              </a:rPr>
              <a:t>; </a:t>
            </a:r>
            <a:r>
              <a:rPr sz="1900" b="0" dirty="0" err="1">
                <a:solidFill>
                  <a:srgbClr val="1A1A1A"/>
                </a:solidFill>
                <a:latin typeface="Arial"/>
              </a:rPr>
              <a:t>nhà</a:t>
            </a:r>
            <a:r>
              <a:rPr sz="1900" b="0" dirty="0">
                <a:solidFill>
                  <a:srgbClr val="1A1A1A"/>
                </a:solidFill>
                <a:latin typeface="Arial"/>
              </a:rPr>
              <a:t> </a:t>
            </a:r>
            <a:r>
              <a:rPr sz="1900" b="0" dirty="0" err="1">
                <a:solidFill>
                  <a:srgbClr val="1A1A1A"/>
                </a:solidFill>
                <a:latin typeface="Arial"/>
              </a:rPr>
              <a:t>sản</a:t>
            </a:r>
            <a:r>
              <a:rPr sz="1900" b="0" dirty="0">
                <a:solidFill>
                  <a:srgbClr val="1A1A1A"/>
                </a:solidFill>
                <a:latin typeface="Arial"/>
              </a:rPr>
              <a:t> </a:t>
            </a:r>
            <a:r>
              <a:rPr sz="1900" b="0" dirty="0" err="1">
                <a:solidFill>
                  <a:srgbClr val="1A1A1A"/>
                </a:solidFill>
                <a:latin typeface="Arial"/>
              </a:rPr>
              <a:t>xuất</a:t>
            </a:r>
            <a:r>
              <a:rPr sz="1900" b="0" dirty="0">
                <a:solidFill>
                  <a:srgbClr val="1A1A1A"/>
                </a:solidFill>
                <a:latin typeface="Arial"/>
              </a:rPr>
              <a:t> </a:t>
            </a:r>
            <a:r>
              <a:rPr sz="1900" b="0" dirty="0" err="1">
                <a:solidFill>
                  <a:srgbClr val="1A1A1A"/>
                </a:solidFill>
                <a:latin typeface="Arial"/>
              </a:rPr>
              <a:t>ngừng</a:t>
            </a:r>
            <a:r>
              <a:rPr sz="1900" b="0" dirty="0">
                <a:solidFill>
                  <a:srgbClr val="1A1A1A"/>
                </a:solidFill>
                <a:latin typeface="Arial"/>
              </a:rPr>
              <a:t> </a:t>
            </a:r>
            <a:r>
              <a:rPr sz="1900" b="0" dirty="0" err="1">
                <a:solidFill>
                  <a:srgbClr val="1A1A1A"/>
                </a:solidFill>
                <a:latin typeface="Arial"/>
              </a:rPr>
              <a:t>dịch</a:t>
            </a:r>
            <a:r>
              <a:rPr sz="1900" b="0" dirty="0">
                <a:solidFill>
                  <a:srgbClr val="1A1A1A"/>
                </a:solidFill>
                <a:latin typeface="Arial"/>
              </a:rPr>
              <a:t> </a:t>
            </a:r>
            <a:r>
              <a:rPr sz="1900" b="0" dirty="0" err="1">
                <a:solidFill>
                  <a:srgbClr val="1A1A1A"/>
                </a:solidFill>
                <a:latin typeface="Arial"/>
              </a:rPr>
              <a:t>vụ</a:t>
            </a:r>
            <a:r>
              <a:rPr sz="1900" b="0" dirty="0">
                <a:solidFill>
                  <a:srgbClr val="1A1A1A"/>
                </a:solidFill>
                <a:latin typeface="Arial"/>
              </a:rPr>
              <a:t> </a:t>
            </a:r>
            <a:r>
              <a:rPr sz="1900" b="0" dirty="0" err="1">
                <a:solidFill>
                  <a:srgbClr val="1A1A1A"/>
                </a:solidFill>
                <a:latin typeface="Arial"/>
              </a:rPr>
              <a:t>thì</a:t>
            </a:r>
            <a:r>
              <a:rPr sz="1900" b="0" dirty="0">
                <a:solidFill>
                  <a:srgbClr val="1A1A1A"/>
                </a:solidFill>
                <a:latin typeface="Arial"/>
              </a:rPr>
              <a:t> </a:t>
            </a:r>
            <a:r>
              <a:rPr sz="1900" b="0" dirty="0" err="1">
                <a:solidFill>
                  <a:srgbClr val="1A1A1A"/>
                </a:solidFill>
                <a:latin typeface="Arial"/>
              </a:rPr>
              <a:t>thiết</a:t>
            </a:r>
            <a:r>
              <a:rPr sz="1900" b="0" dirty="0">
                <a:solidFill>
                  <a:srgbClr val="1A1A1A"/>
                </a:solidFill>
                <a:latin typeface="Arial"/>
              </a:rPr>
              <a:t> </a:t>
            </a:r>
            <a:r>
              <a:rPr sz="1900" b="0" dirty="0" err="1">
                <a:solidFill>
                  <a:srgbClr val="1A1A1A"/>
                </a:solidFill>
                <a:latin typeface="Arial"/>
              </a:rPr>
              <a:t>bị</a:t>
            </a:r>
            <a:r>
              <a:rPr sz="1900" b="0" dirty="0">
                <a:solidFill>
                  <a:srgbClr val="1A1A1A"/>
                </a:solidFill>
                <a:latin typeface="Arial"/>
              </a:rPr>
              <a:t> </a:t>
            </a:r>
            <a:r>
              <a:rPr sz="1900" b="0" dirty="0" err="1">
                <a:solidFill>
                  <a:srgbClr val="1A1A1A"/>
                </a:solidFill>
                <a:latin typeface="Arial"/>
              </a:rPr>
              <a:t>thành</a:t>
            </a:r>
            <a:r>
              <a:rPr sz="1900" b="0" dirty="0">
                <a:solidFill>
                  <a:srgbClr val="1A1A1A"/>
                </a:solidFill>
                <a:latin typeface="Arial"/>
              </a:rPr>
              <a:t> </a:t>
            </a:r>
            <a:r>
              <a:rPr sz="1900" b="0" dirty="0" err="1">
                <a:solidFill>
                  <a:srgbClr val="1A1A1A"/>
                </a:solidFill>
                <a:latin typeface="Arial"/>
              </a:rPr>
              <a:t>vô</a:t>
            </a:r>
            <a:r>
              <a:rPr sz="1900" b="0" dirty="0">
                <a:solidFill>
                  <a:srgbClr val="1A1A1A"/>
                </a:solidFill>
                <a:latin typeface="Arial"/>
              </a:rPr>
              <a:t> </a:t>
            </a:r>
            <a:r>
              <a:rPr sz="1900" b="0" dirty="0" err="1">
                <a:solidFill>
                  <a:srgbClr val="1A1A1A"/>
                </a:solidFill>
                <a:latin typeface="Arial"/>
              </a:rPr>
              <a:t>dụng</a:t>
            </a:r>
            <a:r>
              <a:rPr sz="1900" b="0" dirty="0">
                <a:solidFill>
                  <a:srgbClr val="1A1A1A"/>
                </a:solidFill>
                <a:latin typeface="Arial"/>
              </a:rPr>
              <a:t>.</a:t>
            </a:r>
          </a:p>
          <a:p>
            <a:pPr>
              <a:spcBef>
                <a:spcPts val="800"/>
              </a:spcBef>
            </a:pPr>
            <a:r>
              <a:rPr sz="1900" b="0" dirty="0">
                <a:solidFill>
                  <a:srgbClr val="1A1A1A"/>
                </a:solidFill>
                <a:latin typeface="Arial"/>
              </a:rPr>
              <a:t>• Matter (CSA, 2022) </a:t>
            </a:r>
            <a:r>
              <a:rPr sz="1900" b="0" dirty="0" err="1">
                <a:solidFill>
                  <a:srgbClr val="1A1A1A"/>
                </a:solidFill>
                <a:latin typeface="Arial"/>
              </a:rPr>
              <a:t>đặt</a:t>
            </a:r>
            <a:r>
              <a:rPr sz="1900" b="0" dirty="0">
                <a:solidFill>
                  <a:srgbClr val="1A1A1A"/>
                </a:solidFill>
                <a:latin typeface="Arial"/>
              </a:rPr>
              <a:t> </a:t>
            </a:r>
            <a:r>
              <a:rPr sz="1900" b="0" dirty="0" err="1">
                <a:solidFill>
                  <a:srgbClr val="1A1A1A"/>
                </a:solidFill>
                <a:latin typeface="Arial"/>
              </a:rPr>
              <a:t>ra</a:t>
            </a:r>
            <a:r>
              <a:rPr sz="1900" b="0" dirty="0">
                <a:solidFill>
                  <a:srgbClr val="1A1A1A"/>
                </a:solidFill>
                <a:latin typeface="Arial"/>
              </a:rPr>
              <a:t> </a:t>
            </a:r>
            <a:r>
              <a:rPr sz="1900" b="0" dirty="0" err="1">
                <a:solidFill>
                  <a:srgbClr val="1A1A1A"/>
                </a:solidFill>
                <a:latin typeface="Arial"/>
              </a:rPr>
              <a:t>lời</a:t>
            </a:r>
            <a:r>
              <a:rPr sz="1900" b="0" dirty="0">
                <a:solidFill>
                  <a:srgbClr val="1A1A1A"/>
                </a:solidFill>
                <a:latin typeface="Arial"/>
              </a:rPr>
              <a:t> </a:t>
            </a:r>
            <a:r>
              <a:rPr sz="1900" b="0" dirty="0" err="1">
                <a:solidFill>
                  <a:srgbClr val="1A1A1A"/>
                </a:solidFill>
                <a:latin typeface="Arial"/>
              </a:rPr>
              <a:t>hứa</a:t>
            </a:r>
            <a:r>
              <a:rPr sz="1900" b="0" dirty="0">
                <a:solidFill>
                  <a:srgbClr val="1A1A1A"/>
                </a:solidFill>
                <a:latin typeface="Arial"/>
              </a:rPr>
              <a:t>: </a:t>
            </a:r>
            <a:r>
              <a:rPr sz="1900" b="0" dirty="0" err="1">
                <a:solidFill>
                  <a:srgbClr val="1A1A1A"/>
                </a:solidFill>
                <a:latin typeface="Arial"/>
              </a:rPr>
              <a:t>chuẩn</a:t>
            </a:r>
            <a:r>
              <a:rPr sz="1900" b="0" dirty="0">
                <a:solidFill>
                  <a:srgbClr val="1A1A1A"/>
                </a:solidFill>
                <a:latin typeface="Arial"/>
              </a:rPr>
              <a:t> </a:t>
            </a:r>
            <a:r>
              <a:rPr sz="1900" b="0" dirty="0" err="1">
                <a:solidFill>
                  <a:srgbClr val="1A1A1A"/>
                </a:solidFill>
                <a:latin typeface="Arial"/>
              </a:rPr>
              <a:t>chung</a:t>
            </a:r>
            <a:r>
              <a:rPr sz="1900" b="0" dirty="0">
                <a:solidFill>
                  <a:srgbClr val="1A1A1A"/>
                </a:solidFill>
                <a:latin typeface="Arial"/>
              </a:rPr>
              <a:t>, </a:t>
            </a:r>
            <a:r>
              <a:rPr sz="1900" b="0" dirty="0" err="1">
                <a:solidFill>
                  <a:srgbClr val="1A1A1A"/>
                </a:solidFill>
                <a:latin typeface="Arial"/>
              </a:rPr>
              <a:t>chạy</a:t>
            </a:r>
            <a:r>
              <a:rPr sz="1900" b="0" dirty="0">
                <a:solidFill>
                  <a:srgbClr val="1A1A1A"/>
                </a:solidFill>
                <a:latin typeface="Arial"/>
              </a:rPr>
              <a:t> </a:t>
            </a:r>
            <a:r>
              <a:rPr sz="1900" b="0" dirty="0" err="1">
                <a:solidFill>
                  <a:srgbClr val="1A1A1A"/>
                </a:solidFill>
                <a:latin typeface="Arial"/>
              </a:rPr>
              <a:t>cục</a:t>
            </a:r>
            <a:r>
              <a:rPr sz="1900" b="0" dirty="0">
                <a:solidFill>
                  <a:srgbClr val="1A1A1A"/>
                </a:solidFill>
                <a:latin typeface="Arial"/>
              </a:rPr>
              <a:t> </a:t>
            </a:r>
            <a:r>
              <a:rPr sz="1900" b="0" dirty="0" err="1">
                <a:solidFill>
                  <a:srgbClr val="1A1A1A"/>
                </a:solidFill>
                <a:latin typeface="Arial"/>
              </a:rPr>
              <a:t>bộ</a:t>
            </a:r>
            <a:r>
              <a:rPr sz="1900" b="0" dirty="0">
                <a:solidFill>
                  <a:srgbClr val="1A1A1A"/>
                </a:solidFill>
                <a:latin typeface="Arial"/>
              </a:rPr>
              <a:t> </a:t>
            </a:r>
            <a:r>
              <a:rPr sz="1900" b="0" dirty="0" err="1">
                <a:solidFill>
                  <a:srgbClr val="1A1A1A"/>
                </a:solidFill>
                <a:latin typeface="Arial"/>
              </a:rPr>
              <a:t>trên</a:t>
            </a:r>
            <a:r>
              <a:rPr sz="1900" b="0" dirty="0">
                <a:solidFill>
                  <a:srgbClr val="1A1A1A"/>
                </a:solidFill>
                <a:latin typeface="Arial"/>
              </a:rPr>
              <a:t> </a:t>
            </a:r>
            <a:r>
              <a:rPr sz="1900" b="0" dirty="0" err="1">
                <a:solidFill>
                  <a:srgbClr val="1A1A1A"/>
                </a:solidFill>
                <a:latin typeface="Arial"/>
              </a:rPr>
              <a:t>nền</a:t>
            </a:r>
            <a:r>
              <a:rPr sz="1900" b="0" dirty="0">
                <a:solidFill>
                  <a:srgbClr val="1A1A1A"/>
                </a:solidFill>
                <a:latin typeface="Arial"/>
              </a:rPr>
              <a:t> IP, </a:t>
            </a:r>
            <a:r>
              <a:rPr sz="1900" b="0" dirty="0" err="1">
                <a:solidFill>
                  <a:srgbClr val="1A1A1A"/>
                </a:solidFill>
                <a:latin typeface="Arial"/>
              </a:rPr>
              <a:t>một</a:t>
            </a:r>
            <a:r>
              <a:rPr sz="1900" b="0" dirty="0">
                <a:solidFill>
                  <a:srgbClr val="1A1A1A"/>
                </a:solidFill>
                <a:latin typeface="Arial"/>
              </a:rPr>
              <a:t> </a:t>
            </a:r>
            <a:r>
              <a:rPr sz="1900" b="0" dirty="0" err="1">
                <a:solidFill>
                  <a:srgbClr val="1A1A1A"/>
                </a:solidFill>
                <a:latin typeface="Arial"/>
              </a:rPr>
              <a:t>thiết</a:t>
            </a:r>
            <a:r>
              <a:rPr sz="1900" b="0" dirty="0">
                <a:solidFill>
                  <a:srgbClr val="1A1A1A"/>
                </a:solidFill>
                <a:latin typeface="Arial"/>
              </a:rPr>
              <a:t> </a:t>
            </a:r>
            <a:r>
              <a:rPr sz="1900" b="0" dirty="0" err="1">
                <a:solidFill>
                  <a:srgbClr val="1A1A1A"/>
                </a:solidFill>
                <a:latin typeface="Arial"/>
              </a:rPr>
              <a:t>bị</a:t>
            </a:r>
            <a:r>
              <a:rPr sz="1900" b="0" dirty="0">
                <a:solidFill>
                  <a:srgbClr val="1A1A1A"/>
                </a:solidFill>
                <a:latin typeface="Arial"/>
              </a:rPr>
              <a:t> </a:t>
            </a:r>
            <a:r>
              <a:rPr sz="1900" b="0" dirty="0" err="1">
                <a:solidFill>
                  <a:srgbClr val="1A1A1A"/>
                </a:solidFill>
                <a:latin typeface="Arial"/>
              </a:rPr>
              <a:t>phục</a:t>
            </a:r>
            <a:r>
              <a:rPr sz="1900" b="0" dirty="0">
                <a:solidFill>
                  <a:srgbClr val="1A1A1A"/>
                </a:solidFill>
                <a:latin typeface="Arial"/>
              </a:rPr>
              <a:t> </a:t>
            </a:r>
            <a:r>
              <a:rPr sz="1900" b="0" dirty="0" err="1">
                <a:solidFill>
                  <a:srgbClr val="1A1A1A"/>
                </a:solidFill>
                <a:latin typeface="Arial"/>
              </a:rPr>
              <a:t>vụ</a:t>
            </a:r>
            <a:r>
              <a:rPr sz="1900" b="0" dirty="0">
                <a:solidFill>
                  <a:srgbClr val="1A1A1A"/>
                </a:solidFill>
                <a:latin typeface="Arial"/>
              </a:rPr>
              <a:t> </a:t>
            </a:r>
            <a:r>
              <a:rPr sz="1900" b="0" dirty="0" err="1">
                <a:solidFill>
                  <a:srgbClr val="1A1A1A"/>
                </a:solidFill>
                <a:latin typeface="Arial"/>
              </a:rPr>
              <a:t>nhiều</a:t>
            </a:r>
            <a:r>
              <a:rPr sz="1900" b="0" dirty="0">
                <a:solidFill>
                  <a:srgbClr val="1A1A1A"/>
                </a:solidFill>
                <a:latin typeface="Arial"/>
              </a:rPr>
              <a:t> </a:t>
            </a:r>
            <a:r>
              <a:rPr sz="1900" b="0" dirty="0" err="1">
                <a:solidFill>
                  <a:srgbClr val="1A1A1A"/>
                </a:solidFill>
                <a:latin typeface="Arial"/>
              </a:rPr>
              <a:t>nền</a:t>
            </a:r>
            <a:r>
              <a:rPr sz="1900" b="0" dirty="0">
                <a:solidFill>
                  <a:srgbClr val="1A1A1A"/>
                </a:solidFill>
                <a:latin typeface="Arial"/>
              </a:rPr>
              <a:t> </a:t>
            </a:r>
            <a:r>
              <a:rPr sz="1900" b="0" dirty="0" err="1">
                <a:solidFill>
                  <a:srgbClr val="1A1A1A"/>
                </a:solidFill>
                <a:latin typeface="Arial"/>
              </a:rPr>
              <a:t>tảng</a:t>
            </a:r>
            <a:r>
              <a:rPr sz="1900" b="0" dirty="0">
                <a:solidFill>
                  <a:srgbClr val="1A1A1A"/>
                </a:solidFill>
                <a:latin typeface="Arial"/>
              </a:rPr>
              <a:t> </a:t>
            </a:r>
            <a:r>
              <a:rPr sz="1900" b="0" dirty="0" err="1">
                <a:solidFill>
                  <a:srgbClr val="1A1A1A"/>
                </a:solidFill>
                <a:latin typeface="Arial"/>
              </a:rPr>
              <a:t>cùng</a:t>
            </a:r>
            <a:r>
              <a:rPr sz="1900" b="0" dirty="0">
                <a:solidFill>
                  <a:srgbClr val="1A1A1A"/>
                </a:solidFill>
                <a:latin typeface="Arial"/>
              </a:rPr>
              <a:t> </a:t>
            </a:r>
            <a:r>
              <a:rPr sz="1900" b="0" dirty="0" err="1">
                <a:solidFill>
                  <a:srgbClr val="1A1A1A"/>
                </a:solidFill>
                <a:latin typeface="Arial"/>
              </a:rPr>
              <a:t>lúc</a:t>
            </a:r>
            <a:r>
              <a:rPr sz="1900" b="0" dirty="0">
                <a:solidFill>
                  <a:srgbClr val="1A1A1A"/>
                </a:solidFill>
                <a:latin typeface="Arial"/>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 Giới thiệu</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sp>
        <p:nvSpPr>
          <p:cNvPr id="8" name="TextBox 7"/>
          <p:cNvSpPr txBox="1"/>
          <p:nvPr/>
        </p:nvSpPr>
        <p:spPr>
          <a:xfrm>
            <a:off x="502920" y="1298448"/>
            <a:ext cx="3977639" cy="3654847"/>
          </a:xfrm>
          <a:prstGeom prst="rect">
            <a:avLst/>
          </a:prstGeom>
          <a:noFill/>
        </p:spPr>
        <p:txBody>
          <a:bodyPr wrap="square">
            <a:spAutoFit/>
          </a:bodyPr>
          <a:lstStyle/>
          <a:p>
            <a:pPr algn="ctr">
              <a:spcBef>
                <a:spcPts val="0"/>
              </a:spcBef>
            </a:pPr>
            <a:r>
              <a:rPr sz="2400" b="1" dirty="0" err="1">
                <a:solidFill>
                  <a:srgbClr val="1A1A1A"/>
                </a:solidFill>
                <a:latin typeface="Arial"/>
              </a:rPr>
              <a:t>Mục</a:t>
            </a:r>
            <a:r>
              <a:rPr sz="2400" b="1" dirty="0">
                <a:solidFill>
                  <a:srgbClr val="1A1A1A"/>
                </a:solidFill>
                <a:latin typeface="Arial"/>
              </a:rPr>
              <a:t> </a:t>
            </a:r>
            <a:r>
              <a:rPr sz="2400" b="1" dirty="0" err="1">
                <a:solidFill>
                  <a:srgbClr val="1A1A1A"/>
                </a:solidFill>
                <a:latin typeface="Arial"/>
              </a:rPr>
              <a:t>tiêu</a:t>
            </a:r>
            <a:endParaRPr sz="2400" b="1" dirty="0">
              <a:solidFill>
                <a:srgbClr val="1A1A1A"/>
              </a:solidFill>
              <a:latin typeface="Arial"/>
            </a:endParaRPr>
          </a:p>
          <a:p>
            <a:pPr>
              <a:spcBef>
                <a:spcPts val="900"/>
              </a:spcBef>
            </a:pPr>
            <a:r>
              <a:rPr sz="1700" b="0" dirty="0">
                <a:solidFill>
                  <a:srgbClr val="1A1A1A"/>
                </a:solidFill>
                <a:latin typeface="Arial"/>
              </a:rPr>
              <a:t>• </a:t>
            </a:r>
            <a:r>
              <a:rPr sz="1700" b="0" dirty="0" err="1">
                <a:solidFill>
                  <a:srgbClr val="1A1A1A"/>
                </a:solidFill>
                <a:latin typeface="Arial"/>
              </a:rPr>
              <a:t>Xây</a:t>
            </a:r>
            <a:r>
              <a:rPr sz="1700" b="0" dirty="0">
                <a:solidFill>
                  <a:srgbClr val="1A1A1A"/>
                </a:solidFill>
                <a:latin typeface="Arial"/>
              </a:rPr>
              <a:t> </a:t>
            </a:r>
            <a:r>
              <a:rPr sz="1700" b="0" dirty="0" err="1">
                <a:solidFill>
                  <a:srgbClr val="1A1A1A"/>
                </a:solidFill>
                <a:latin typeface="Arial"/>
              </a:rPr>
              <a:t>dựng</a:t>
            </a:r>
            <a:r>
              <a:rPr sz="1700" b="0" dirty="0">
                <a:solidFill>
                  <a:srgbClr val="1A1A1A"/>
                </a:solidFill>
                <a:latin typeface="Arial"/>
              </a:rPr>
              <a:t> </a:t>
            </a:r>
            <a:r>
              <a:rPr sz="1700" b="0" dirty="0" err="1">
                <a:solidFill>
                  <a:srgbClr val="1A1A1A"/>
                </a:solidFill>
                <a:latin typeface="Arial"/>
              </a:rPr>
              <a:t>thiết</a:t>
            </a:r>
            <a:r>
              <a:rPr sz="1700" b="0" dirty="0">
                <a:solidFill>
                  <a:srgbClr val="1A1A1A"/>
                </a:solidFill>
                <a:latin typeface="Arial"/>
              </a:rPr>
              <a:t> </a:t>
            </a:r>
            <a:r>
              <a:rPr sz="1700" b="0" dirty="0" err="1">
                <a:solidFill>
                  <a:srgbClr val="1A1A1A"/>
                </a:solidFill>
                <a:latin typeface="Arial"/>
              </a:rPr>
              <a:t>bị</a:t>
            </a:r>
            <a:r>
              <a:rPr sz="1700" b="0" dirty="0">
                <a:solidFill>
                  <a:srgbClr val="1A1A1A"/>
                </a:solidFill>
                <a:latin typeface="Arial"/>
              </a:rPr>
              <a:t> Matter over Wi-Fi </a:t>
            </a:r>
            <a:r>
              <a:rPr sz="1700" b="0" dirty="0" err="1">
                <a:solidFill>
                  <a:srgbClr val="1A1A1A"/>
                </a:solidFill>
                <a:latin typeface="Arial"/>
              </a:rPr>
              <a:t>trên</a:t>
            </a:r>
            <a:r>
              <a:rPr sz="1700" b="0" dirty="0">
                <a:solidFill>
                  <a:srgbClr val="1A1A1A"/>
                </a:solidFill>
                <a:latin typeface="Arial"/>
              </a:rPr>
              <a:t> ESP32-C6</a:t>
            </a:r>
          </a:p>
          <a:p>
            <a:pPr>
              <a:spcBef>
                <a:spcPts val="900"/>
              </a:spcBef>
            </a:pPr>
            <a:r>
              <a:rPr sz="1700" b="0" dirty="0">
                <a:solidFill>
                  <a:srgbClr val="1A1A1A"/>
                </a:solidFill>
                <a:latin typeface="Arial"/>
              </a:rPr>
              <a:t>• </a:t>
            </a:r>
            <a:r>
              <a:rPr sz="1700" b="0" dirty="0" err="1">
                <a:solidFill>
                  <a:srgbClr val="1A1A1A"/>
                </a:solidFill>
                <a:latin typeface="Arial"/>
              </a:rPr>
              <a:t>Dựng</a:t>
            </a:r>
            <a:r>
              <a:rPr sz="1700" b="0" dirty="0">
                <a:solidFill>
                  <a:srgbClr val="1A1A1A"/>
                </a:solidFill>
                <a:latin typeface="Arial"/>
              </a:rPr>
              <a:t> </a:t>
            </a:r>
            <a:r>
              <a:rPr sz="1700" b="0" dirty="0" err="1">
                <a:solidFill>
                  <a:srgbClr val="1A1A1A"/>
                </a:solidFill>
                <a:latin typeface="Arial"/>
              </a:rPr>
              <a:t>bộ</a:t>
            </a:r>
            <a:r>
              <a:rPr sz="1700" b="0" dirty="0">
                <a:solidFill>
                  <a:srgbClr val="1A1A1A"/>
                </a:solidFill>
                <a:latin typeface="Arial"/>
              </a:rPr>
              <a:t> </a:t>
            </a:r>
            <a:r>
              <a:rPr sz="1700" b="0" dirty="0" err="1">
                <a:solidFill>
                  <a:srgbClr val="1A1A1A"/>
                </a:solidFill>
                <a:latin typeface="Arial"/>
              </a:rPr>
              <a:t>điều</a:t>
            </a:r>
            <a:r>
              <a:rPr sz="1700" b="0" dirty="0">
                <a:solidFill>
                  <a:srgbClr val="1A1A1A"/>
                </a:solidFill>
                <a:latin typeface="Arial"/>
              </a:rPr>
              <a:t> </a:t>
            </a:r>
            <a:r>
              <a:rPr sz="1700" b="0" dirty="0" err="1">
                <a:solidFill>
                  <a:srgbClr val="1A1A1A"/>
                </a:solidFill>
                <a:latin typeface="Arial"/>
              </a:rPr>
              <a:t>khiển</a:t>
            </a:r>
            <a:r>
              <a:rPr sz="1700" b="0" dirty="0">
                <a:solidFill>
                  <a:srgbClr val="1A1A1A"/>
                </a:solidFill>
                <a:latin typeface="Arial"/>
              </a:rPr>
              <a:t> </a:t>
            </a:r>
            <a:r>
              <a:rPr sz="1700" b="0" dirty="0" err="1">
                <a:solidFill>
                  <a:srgbClr val="1A1A1A"/>
                </a:solidFill>
                <a:latin typeface="Arial"/>
              </a:rPr>
              <a:t>cục</a:t>
            </a:r>
            <a:r>
              <a:rPr sz="1700" b="0" dirty="0">
                <a:solidFill>
                  <a:srgbClr val="1A1A1A"/>
                </a:solidFill>
                <a:latin typeface="Arial"/>
              </a:rPr>
              <a:t> </a:t>
            </a:r>
            <a:r>
              <a:rPr sz="1700" b="0" dirty="0" err="1">
                <a:solidFill>
                  <a:srgbClr val="1A1A1A"/>
                </a:solidFill>
                <a:latin typeface="Arial"/>
              </a:rPr>
              <a:t>bộ</a:t>
            </a:r>
            <a:r>
              <a:rPr sz="1700" b="0" dirty="0">
                <a:solidFill>
                  <a:srgbClr val="1A1A1A"/>
                </a:solidFill>
                <a:latin typeface="Arial"/>
              </a:rPr>
              <a:t> </a:t>
            </a:r>
            <a:r>
              <a:rPr sz="1700" b="0" dirty="0" err="1">
                <a:solidFill>
                  <a:srgbClr val="1A1A1A"/>
                </a:solidFill>
                <a:latin typeface="Arial"/>
              </a:rPr>
              <a:t>bằng</a:t>
            </a:r>
            <a:r>
              <a:rPr sz="1700" b="0" dirty="0">
                <a:solidFill>
                  <a:srgbClr val="1A1A1A"/>
                </a:solidFill>
                <a:latin typeface="Arial"/>
              </a:rPr>
              <a:t> Raspberry Pi 4 </a:t>
            </a:r>
            <a:r>
              <a:rPr sz="1700" b="0" dirty="0" err="1">
                <a:solidFill>
                  <a:srgbClr val="1A1A1A"/>
                </a:solidFill>
                <a:latin typeface="Arial"/>
              </a:rPr>
              <a:t>và</a:t>
            </a:r>
            <a:r>
              <a:rPr sz="1700" b="0" dirty="0">
                <a:solidFill>
                  <a:srgbClr val="1A1A1A"/>
                </a:solidFill>
                <a:latin typeface="Arial"/>
              </a:rPr>
              <a:t> Home Assistant</a:t>
            </a:r>
          </a:p>
          <a:p>
            <a:pPr>
              <a:spcBef>
                <a:spcPts val="900"/>
              </a:spcBef>
            </a:pPr>
            <a:r>
              <a:rPr sz="1700" b="0" dirty="0">
                <a:solidFill>
                  <a:srgbClr val="1A1A1A"/>
                </a:solidFill>
                <a:latin typeface="Arial"/>
              </a:rPr>
              <a:t>• </a:t>
            </a:r>
            <a:r>
              <a:rPr sz="1700" b="0" dirty="0" err="1">
                <a:solidFill>
                  <a:srgbClr val="1A1A1A"/>
                </a:solidFill>
                <a:latin typeface="Arial"/>
              </a:rPr>
              <a:t>Kiểm</a:t>
            </a:r>
            <a:r>
              <a:rPr sz="1700" b="0" dirty="0">
                <a:solidFill>
                  <a:srgbClr val="1A1A1A"/>
                </a:solidFill>
                <a:latin typeface="Arial"/>
              </a:rPr>
              <a:t> </a:t>
            </a:r>
            <a:r>
              <a:rPr sz="1700" b="0" dirty="0" err="1">
                <a:solidFill>
                  <a:srgbClr val="1A1A1A"/>
                </a:solidFill>
                <a:latin typeface="Arial"/>
              </a:rPr>
              <a:t>chứng</a:t>
            </a:r>
            <a:r>
              <a:rPr sz="1700" b="0" dirty="0">
                <a:solidFill>
                  <a:srgbClr val="1A1A1A"/>
                </a:solidFill>
                <a:latin typeface="Arial"/>
              </a:rPr>
              <a:t> multi-fabric: </a:t>
            </a:r>
            <a:r>
              <a:rPr sz="1700" b="0" dirty="0" err="1">
                <a:solidFill>
                  <a:srgbClr val="1A1A1A"/>
                </a:solidFill>
                <a:latin typeface="Arial"/>
              </a:rPr>
              <a:t>một</a:t>
            </a:r>
            <a:r>
              <a:rPr sz="1700" b="0" dirty="0">
                <a:solidFill>
                  <a:srgbClr val="1A1A1A"/>
                </a:solidFill>
                <a:latin typeface="Arial"/>
              </a:rPr>
              <a:t> </a:t>
            </a:r>
            <a:r>
              <a:rPr sz="1700" b="0" dirty="0" err="1">
                <a:solidFill>
                  <a:srgbClr val="1A1A1A"/>
                </a:solidFill>
                <a:latin typeface="Arial"/>
              </a:rPr>
              <a:t>thiết</a:t>
            </a:r>
            <a:r>
              <a:rPr sz="1700" b="0" dirty="0">
                <a:solidFill>
                  <a:srgbClr val="1A1A1A"/>
                </a:solidFill>
                <a:latin typeface="Arial"/>
              </a:rPr>
              <a:t> </a:t>
            </a:r>
            <a:r>
              <a:rPr sz="1700" b="0" dirty="0" err="1">
                <a:solidFill>
                  <a:srgbClr val="1A1A1A"/>
                </a:solidFill>
                <a:latin typeface="Arial"/>
              </a:rPr>
              <a:t>bị</a:t>
            </a:r>
            <a:r>
              <a:rPr sz="1700" b="0" dirty="0">
                <a:solidFill>
                  <a:srgbClr val="1A1A1A"/>
                </a:solidFill>
                <a:latin typeface="Arial"/>
              </a:rPr>
              <a:t>, </a:t>
            </a:r>
            <a:r>
              <a:rPr sz="1700" b="0" dirty="0" err="1">
                <a:solidFill>
                  <a:srgbClr val="1A1A1A"/>
                </a:solidFill>
                <a:latin typeface="Arial"/>
              </a:rPr>
              <a:t>nhiều</a:t>
            </a:r>
            <a:r>
              <a:rPr sz="1700" b="0" dirty="0">
                <a:solidFill>
                  <a:srgbClr val="1A1A1A"/>
                </a:solidFill>
                <a:latin typeface="Arial"/>
              </a:rPr>
              <a:t> </a:t>
            </a:r>
            <a:r>
              <a:rPr sz="1700" b="0" dirty="0" err="1">
                <a:solidFill>
                  <a:srgbClr val="1A1A1A"/>
                </a:solidFill>
                <a:latin typeface="Arial"/>
              </a:rPr>
              <a:t>miền</a:t>
            </a:r>
            <a:r>
              <a:rPr sz="1700" b="0" dirty="0">
                <a:solidFill>
                  <a:srgbClr val="1A1A1A"/>
                </a:solidFill>
                <a:latin typeface="Arial"/>
              </a:rPr>
              <a:t> </a:t>
            </a:r>
            <a:r>
              <a:rPr sz="1700" b="0" dirty="0" err="1">
                <a:solidFill>
                  <a:srgbClr val="1A1A1A"/>
                </a:solidFill>
                <a:latin typeface="Arial"/>
              </a:rPr>
              <a:t>quản</a:t>
            </a:r>
            <a:r>
              <a:rPr sz="1700" b="0" dirty="0">
                <a:solidFill>
                  <a:srgbClr val="1A1A1A"/>
                </a:solidFill>
                <a:latin typeface="Arial"/>
              </a:rPr>
              <a:t> </a:t>
            </a:r>
            <a:r>
              <a:rPr sz="1700" b="0" dirty="0" err="1">
                <a:solidFill>
                  <a:srgbClr val="1A1A1A"/>
                </a:solidFill>
                <a:latin typeface="Arial"/>
              </a:rPr>
              <a:t>trị</a:t>
            </a:r>
            <a:r>
              <a:rPr sz="1700" b="0" dirty="0">
                <a:solidFill>
                  <a:srgbClr val="1A1A1A"/>
                </a:solidFill>
                <a:latin typeface="Arial"/>
              </a:rPr>
              <a:t> </a:t>
            </a:r>
            <a:r>
              <a:rPr sz="1700" b="0" dirty="0" err="1">
                <a:solidFill>
                  <a:srgbClr val="1A1A1A"/>
                </a:solidFill>
                <a:latin typeface="Arial"/>
              </a:rPr>
              <a:t>độc</a:t>
            </a:r>
            <a:r>
              <a:rPr sz="1700" b="0" dirty="0">
                <a:solidFill>
                  <a:srgbClr val="1A1A1A"/>
                </a:solidFill>
                <a:latin typeface="Arial"/>
              </a:rPr>
              <a:t> </a:t>
            </a:r>
            <a:r>
              <a:rPr sz="1700" b="0" dirty="0" err="1">
                <a:solidFill>
                  <a:srgbClr val="1A1A1A"/>
                </a:solidFill>
                <a:latin typeface="Arial"/>
              </a:rPr>
              <a:t>lập</a:t>
            </a:r>
            <a:endParaRPr sz="1700" b="0" dirty="0">
              <a:solidFill>
                <a:srgbClr val="1A1A1A"/>
              </a:solidFill>
              <a:latin typeface="Arial"/>
            </a:endParaRPr>
          </a:p>
          <a:p>
            <a:pPr>
              <a:spcBef>
                <a:spcPts val="900"/>
              </a:spcBef>
            </a:pPr>
            <a:r>
              <a:rPr sz="1700" b="0" dirty="0">
                <a:solidFill>
                  <a:srgbClr val="1A1A1A"/>
                </a:solidFill>
                <a:latin typeface="Arial"/>
              </a:rPr>
              <a:t>• </a:t>
            </a:r>
            <a:r>
              <a:rPr sz="1700" b="0" dirty="0" err="1">
                <a:solidFill>
                  <a:srgbClr val="1A1A1A"/>
                </a:solidFill>
                <a:latin typeface="Arial"/>
              </a:rPr>
              <a:t>Đo</a:t>
            </a:r>
            <a:r>
              <a:rPr sz="1700" b="0" dirty="0">
                <a:solidFill>
                  <a:srgbClr val="1A1A1A"/>
                </a:solidFill>
                <a:latin typeface="Arial"/>
              </a:rPr>
              <a:t> </a:t>
            </a:r>
            <a:r>
              <a:rPr sz="1700" b="0" dirty="0" err="1">
                <a:solidFill>
                  <a:srgbClr val="1A1A1A"/>
                </a:solidFill>
                <a:latin typeface="Arial"/>
              </a:rPr>
              <a:t>định</a:t>
            </a:r>
            <a:r>
              <a:rPr sz="1700" b="0" dirty="0">
                <a:solidFill>
                  <a:srgbClr val="1A1A1A"/>
                </a:solidFill>
                <a:latin typeface="Arial"/>
              </a:rPr>
              <a:t> </a:t>
            </a:r>
            <a:r>
              <a:rPr sz="1700" b="0" dirty="0" err="1">
                <a:solidFill>
                  <a:srgbClr val="1A1A1A"/>
                </a:solidFill>
                <a:latin typeface="Arial"/>
              </a:rPr>
              <a:t>lượng</a:t>
            </a:r>
            <a:r>
              <a:rPr sz="1700" b="0" dirty="0">
                <a:solidFill>
                  <a:srgbClr val="1A1A1A"/>
                </a:solidFill>
                <a:latin typeface="Arial"/>
              </a:rPr>
              <a:t>: </a:t>
            </a:r>
            <a:r>
              <a:rPr sz="1700" b="0" dirty="0" err="1">
                <a:solidFill>
                  <a:srgbClr val="1A1A1A"/>
                </a:solidFill>
                <a:latin typeface="Arial"/>
              </a:rPr>
              <a:t>thời</a:t>
            </a:r>
            <a:r>
              <a:rPr sz="1700" b="0" dirty="0">
                <a:solidFill>
                  <a:srgbClr val="1A1A1A"/>
                </a:solidFill>
                <a:latin typeface="Arial"/>
              </a:rPr>
              <a:t> </a:t>
            </a:r>
            <a:r>
              <a:rPr sz="1700" b="0" dirty="0" err="1">
                <a:solidFill>
                  <a:srgbClr val="1A1A1A"/>
                </a:solidFill>
                <a:latin typeface="Arial"/>
              </a:rPr>
              <a:t>gian</a:t>
            </a:r>
            <a:r>
              <a:rPr sz="1700" b="0" dirty="0">
                <a:solidFill>
                  <a:srgbClr val="1A1A1A"/>
                </a:solidFill>
                <a:latin typeface="Arial"/>
              </a:rPr>
              <a:t> </a:t>
            </a:r>
            <a:r>
              <a:rPr sz="1700" b="0" dirty="0" err="1">
                <a:solidFill>
                  <a:srgbClr val="1A1A1A"/>
                </a:solidFill>
                <a:latin typeface="Arial"/>
              </a:rPr>
              <a:t>ghép</a:t>
            </a:r>
            <a:r>
              <a:rPr sz="1700" b="0" dirty="0">
                <a:solidFill>
                  <a:srgbClr val="1A1A1A"/>
                </a:solidFill>
                <a:latin typeface="Arial"/>
              </a:rPr>
              <a:t> </a:t>
            </a:r>
            <a:r>
              <a:rPr sz="1700" b="0" dirty="0" err="1">
                <a:solidFill>
                  <a:srgbClr val="1A1A1A"/>
                </a:solidFill>
                <a:latin typeface="Arial"/>
              </a:rPr>
              <a:t>nối</a:t>
            </a:r>
            <a:r>
              <a:rPr sz="1700" b="0" dirty="0">
                <a:solidFill>
                  <a:srgbClr val="1A1A1A"/>
                </a:solidFill>
                <a:latin typeface="Arial"/>
              </a:rPr>
              <a:t>, </a:t>
            </a:r>
            <a:r>
              <a:rPr sz="1700" b="0" dirty="0" err="1">
                <a:solidFill>
                  <a:srgbClr val="1A1A1A"/>
                </a:solidFill>
                <a:latin typeface="Arial"/>
              </a:rPr>
              <a:t>độ</a:t>
            </a:r>
            <a:r>
              <a:rPr sz="1700" b="0" dirty="0">
                <a:solidFill>
                  <a:srgbClr val="1A1A1A"/>
                </a:solidFill>
                <a:latin typeface="Arial"/>
              </a:rPr>
              <a:t> </a:t>
            </a:r>
            <a:r>
              <a:rPr sz="1700" b="0" dirty="0" err="1">
                <a:solidFill>
                  <a:srgbClr val="1A1A1A"/>
                </a:solidFill>
                <a:latin typeface="Arial"/>
              </a:rPr>
              <a:t>trễ</a:t>
            </a:r>
            <a:r>
              <a:rPr sz="1700" b="0" dirty="0">
                <a:solidFill>
                  <a:srgbClr val="1A1A1A"/>
                </a:solidFill>
                <a:latin typeface="Arial"/>
              </a:rPr>
              <a:t>, </a:t>
            </a:r>
            <a:r>
              <a:rPr sz="1700" b="0" dirty="0" err="1">
                <a:solidFill>
                  <a:srgbClr val="1A1A1A"/>
                </a:solidFill>
                <a:latin typeface="Arial"/>
              </a:rPr>
              <a:t>độ</a:t>
            </a:r>
            <a:r>
              <a:rPr sz="1700" b="0" dirty="0">
                <a:solidFill>
                  <a:srgbClr val="1A1A1A"/>
                </a:solidFill>
                <a:latin typeface="Arial"/>
              </a:rPr>
              <a:t> </a:t>
            </a:r>
            <a:r>
              <a:rPr sz="1700" b="0" dirty="0" err="1">
                <a:solidFill>
                  <a:srgbClr val="1A1A1A"/>
                </a:solidFill>
                <a:latin typeface="Arial"/>
              </a:rPr>
              <a:t>ổn</a:t>
            </a:r>
            <a:r>
              <a:rPr sz="1700" b="0" dirty="0">
                <a:solidFill>
                  <a:srgbClr val="1A1A1A"/>
                </a:solidFill>
                <a:latin typeface="Arial"/>
              </a:rPr>
              <a:t> </a:t>
            </a:r>
            <a:r>
              <a:rPr sz="1700" b="0" dirty="0" err="1">
                <a:solidFill>
                  <a:srgbClr val="1A1A1A"/>
                </a:solidFill>
                <a:latin typeface="Arial"/>
              </a:rPr>
              <a:t>định</a:t>
            </a:r>
            <a:r>
              <a:rPr sz="1700" b="0" dirty="0">
                <a:solidFill>
                  <a:srgbClr val="1A1A1A"/>
                </a:solidFill>
                <a:latin typeface="Arial"/>
              </a:rPr>
              <a:t>, </a:t>
            </a:r>
            <a:r>
              <a:rPr sz="1700" b="0" dirty="0" err="1">
                <a:solidFill>
                  <a:srgbClr val="1A1A1A"/>
                </a:solidFill>
                <a:latin typeface="Arial"/>
              </a:rPr>
              <a:t>vùng</a:t>
            </a:r>
            <a:r>
              <a:rPr sz="1700" b="0" dirty="0">
                <a:solidFill>
                  <a:srgbClr val="1A1A1A"/>
                </a:solidFill>
                <a:latin typeface="Arial"/>
              </a:rPr>
              <a:t> </a:t>
            </a:r>
            <a:r>
              <a:rPr sz="1700" b="0" dirty="0" err="1">
                <a:solidFill>
                  <a:srgbClr val="1A1A1A"/>
                </a:solidFill>
                <a:latin typeface="Arial"/>
              </a:rPr>
              <a:t>phủ</a:t>
            </a:r>
            <a:r>
              <a:rPr sz="1700" b="0" dirty="0">
                <a:solidFill>
                  <a:srgbClr val="1A1A1A"/>
                </a:solidFill>
                <a:latin typeface="Arial"/>
              </a:rPr>
              <a:t> </a:t>
            </a:r>
            <a:r>
              <a:rPr sz="1700" b="0" dirty="0" err="1">
                <a:solidFill>
                  <a:srgbClr val="1A1A1A"/>
                </a:solidFill>
                <a:latin typeface="Arial"/>
              </a:rPr>
              <a:t>sóng</a:t>
            </a:r>
            <a:endParaRPr sz="1700" b="0" dirty="0">
              <a:solidFill>
                <a:srgbClr val="1A1A1A"/>
              </a:solidFill>
              <a:latin typeface="Arial"/>
            </a:endParaRPr>
          </a:p>
          <a:p>
            <a:pPr>
              <a:spcBef>
                <a:spcPts val="900"/>
              </a:spcBef>
            </a:pPr>
            <a:r>
              <a:rPr sz="1700" b="0" dirty="0">
                <a:solidFill>
                  <a:srgbClr val="1A1A1A"/>
                </a:solidFill>
                <a:latin typeface="Arial"/>
              </a:rPr>
              <a:t>• </a:t>
            </a:r>
            <a:r>
              <a:rPr sz="1700" b="0" dirty="0" err="1">
                <a:solidFill>
                  <a:srgbClr val="1A1A1A"/>
                </a:solidFill>
                <a:latin typeface="Arial"/>
              </a:rPr>
              <a:t>Thi</a:t>
            </a:r>
            <a:r>
              <a:rPr sz="1700" b="0" dirty="0">
                <a:solidFill>
                  <a:srgbClr val="1A1A1A"/>
                </a:solidFill>
                <a:latin typeface="Arial"/>
              </a:rPr>
              <a:t> </a:t>
            </a:r>
            <a:r>
              <a:rPr sz="1700" b="0" dirty="0" err="1">
                <a:solidFill>
                  <a:srgbClr val="1A1A1A"/>
                </a:solidFill>
                <a:latin typeface="Arial"/>
              </a:rPr>
              <a:t>công</a:t>
            </a:r>
            <a:r>
              <a:rPr sz="1700" b="0" dirty="0">
                <a:solidFill>
                  <a:srgbClr val="1A1A1A"/>
                </a:solidFill>
                <a:latin typeface="Arial"/>
              </a:rPr>
              <a:t> </a:t>
            </a:r>
            <a:r>
              <a:rPr sz="1700" b="0" dirty="0" err="1">
                <a:solidFill>
                  <a:srgbClr val="1A1A1A"/>
                </a:solidFill>
                <a:latin typeface="Arial"/>
              </a:rPr>
              <a:t>mạch</a:t>
            </a:r>
            <a:r>
              <a:rPr sz="1700" b="0" dirty="0">
                <a:solidFill>
                  <a:srgbClr val="1A1A1A"/>
                </a:solidFill>
                <a:latin typeface="Arial"/>
              </a:rPr>
              <a:t> </a:t>
            </a:r>
            <a:r>
              <a:rPr sz="1700" b="0" dirty="0" err="1">
                <a:solidFill>
                  <a:srgbClr val="1A1A1A"/>
                </a:solidFill>
                <a:latin typeface="Arial"/>
              </a:rPr>
              <a:t>ngoại</a:t>
            </a:r>
            <a:r>
              <a:rPr sz="1700" b="0" dirty="0">
                <a:solidFill>
                  <a:srgbClr val="1A1A1A"/>
                </a:solidFill>
                <a:latin typeface="Arial"/>
              </a:rPr>
              <a:t> vi </a:t>
            </a:r>
            <a:r>
              <a:rPr sz="1700" b="0" dirty="0" err="1">
                <a:solidFill>
                  <a:srgbClr val="1A1A1A"/>
                </a:solidFill>
                <a:latin typeface="Arial"/>
              </a:rPr>
              <a:t>và</a:t>
            </a:r>
            <a:r>
              <a:rPr sz="1700" b="0" dirty="0">
                <a:solidFill>
                  <a:srgbClr val="1A1A1A"/>
                </a:solidFill>
                <a:latin typeface="Arial"/>
              </a:rPr>
              <a:t> </a:t>
            </a:r>
            <a:r>
              <a:rPr sz="1700" b="0" dirty="0" err="1">
                <a:solidFill>
                  <a:srgbClr val="1A1A1A"/>
                </a:solidFill>
                <a:latin typeface="Arial"/>
              </a:rPr>
              <a:t>mở</a:t>
            </a:r>
            <a:r>
              <a:rPr sz="1700" b="0" dirty="0">
                <a:solidFill>
                  <a:srgbClr val="1A1A1A"/>
                </a:solidFill>
                <a:latin typeface="Arial"/>
              </a:rPr>
              <a:t> </a:t>
            </a:r>
            <a:r>
              <a:rPr sz="1700" b="0" dirty="0" err="1">
                <a:solidFill>
                  <a:srgbClr val="1A1A1A"/>
                </a:solidFill>
                <a:latin typeface="Arial"/>
              </a:rPr>
              <a:t>rộng</a:t>
            </a:r>
            <a:r>
              <a:rPr sz="1700" b="0" dirty="0">
                <a:solidFill>
                  <a:srgbClr val="1A1A1A"/>
                </a:solidFill>
                <a:latin typeface="Arial"/>
              </a:rPr>
              <a:t> firmware</a:t>
            </a:r>
          </a:p>
        </p:txBody>
      </p:sp>
      <p:sp>
        <p:nvSpPr>
          <p:cNvPr id="9" name="TextBox 8"/>
          <p:cNvSpPr txBox="1"/>
          <p:nvPr/>
        </p:nvSpPr>
        <p:spPr>
          <a:xfrm>
            <a:off x="4709160" y="1298448"/>
            <a:ext cx="3977639" cy="3424014"/>
          </a:xfrm>
          <a:prstGeom prst="rect">
            <a:avLst/>
          </a:prstGeom>
          <a:noFill/>
        </p:spPr>
        <p:txBody>
          <a:bodyPr wrap="square">
            <a:spAutoFit/>
          </a:bodyPr>
          <a:lstStyle/>
          <a:p>
            <a:pPr algn="ctr">
              <a:spcBef>
                <a:spcPts val="0"/>
              </a:spcBef>
            </a:pPr>
            <a:r>
              <a:rPr sz="2400" b="1" dirty="0">
                <a:solidFill>
                  <a:srgbClr val="1A1A1A"/>
                </a:solidFill>
                <a:latin typeface="Arial"/>
              </a:rPr>
              <a:t>Phạm vi</a:t>
            </a:r>
          </a:p>
          <a:p>
            <a:pPr>
              <a:spcBef>
                <a:spcPts val="900"/>
              </a:spcBef>
            </a:pPr>
            <a:r>
              <a:rPr sz="1700" b="0" dirty="0">
                <a:solidFill>
                  <a:srgbClr val="1A1A1A"/>
                </a:solidFill>
                <a:latin typeface="Arial"/>
              </a:rPr>
              <a:t>• </a:t>
            </a:r>
            <a:r>
              <a:rPr sz="1700" b="0" dirty="0" err="1">
                <a:solidFill>
                  <a:srgbClr val="1A1A1A"/>
                </a:solidFill>
                <a:latin typeface="Arial"/>
              </a:rPr>
              <a:t>Chỉ</a:t>
            </a:r>
            <a:r>
              <a:rPr sz="1700" b="0" dirty="0">
                <a:solidFill>
                  <a:srgbClr val="1A1A1A"/>
                </a:solidFill>
                <a:latin typeface="Arial"/>
              </a:rPr>
              <a:t> </a:t>
            </a:r>
            <a:r>
              <a:rPr sz="1700" b="0" dirty="0" err="1">
                <a:solidFill>
                  <a:srgbClr val="1A1A1A"/>
                </a:solidFill>
                <a:latin typeface="Arial"/>
              </a:rPr>
              <a:t>triển</a:t>
            </a:r>
            <a:r>
              <a:rPr sz="1700" b="0" dirty="0">
                <a:solidFill>
                  <a:srgbClr val="1A1A1A"/>
                </a:solidFill>
                <a:latin typeface="Arial"/>
              </a:rPr>
              <a:t> </a:t>
            </a:r>
            <a:r>
              <a:rPr sz="1700" b="0" dirty="0" err="1">
                <a:solidFill>
                  <a:srgbClr val="1A1A1A"/>
                </a:solidFill>
                <a:latin typeface="Arial"/>
              </a:rPr>
              <a:t>khai</a:t>
            </a:r>
            <a:r>
              <a:rPr sz="1700" b="0" dirty="0">
                <a:solidFill>
                  <a:srgbClr val="1A1A1A"/>
                </a:solidFill>
                <a:latin typeface="Arial"/>
              </a:rPr>
              <a:t> </a:t>
            </a:r>
            <a:r>
              <a:rPr sz="1700" b="0" dirty="0" err="1">
                <a:solidFill>
                  <a:srgbClr val="1A1A1A"/>
                </a:solidFill>
                <a:latin typeface="Arial"/>
              </a:rPr>
              <a:t>nhánh</a:t>
            </a:r>
            <a:r>
              <a:rPr sz="1700" b="0" dirty="0">
                <a:solidFill>
                  <a:srgbClr val="1A1A1A"/>
                </a:solidFill>
                <a:latin typeface="Arial"/>
              </a:rPr>
              <a:t> Wi-Fi; Thread </a:t>
            </a:r>
            <a:r>
              <a:rPr sz="1700" b="0" dirty="0" err="1">
                <a:solidFill>
                  <a:srgbClr val="1A1A1A"/>
                </a:solidFill>
                <a:latin typeface="Arial"/>
              </a:rPr>
              <a:t>cần</a:t>
            </a:r>
            <a:r>
              <a:rPr sz="1700" b="0" dirty="0">
                <a:solidFill>
                  <a:srgbClr val="1A1A1A"/>
                </a:solidFill>
                <a:latin typeface="Arial"/>
              </a:rPr>
              <a:t> </a:t>
            </a:r>
            <a:r>
              <a:rPr sz="1700" b="0" dirty="0" err="1">
                <a:solidFill>
                  <a:srgbClr val="1A1A1A"/>
                </a:solidFill>
                <a:latin typeface="Arial"/>
              </a:rPr>
              <a:t>thêm</a:t>
            </a:r>
            <a:r>
              <a:rPr sz="1700" b="0" dirty="0">
                <a:solidFill>
                  <a:srgbClr val="1A1A1A"/>
                </a:solidFill>
                <a:latin typeface="Arial"/>
              </a:rPr>
              <a:t> Border Router </a:t>
            </a:r>
            <a:r>
              <a:rPr sz="1700" b="0" dirty="0" err="1">
                <a:solidFill>
                  <a:srgbClr val="1A1A1A"/>
                </a:solidFill>
                <a:latin typeface="Arial"/>
              </a:rPr>
              <a:t>nên</a:t>
            </a:r>
            <a:r>
              <a:rPr sz="1700" b="0" dirty="0">
                <a:solidFill>
                  <a:srgbClr val="1A1A1A"/>
                </a:solidFill>
                <a:latin typeface="Arial"/>
              </a:rPr>
              <a:t> </a:t>
            </a:r>
            <a:r>
              <a:rPr sz="1700" b="0" dirty="0" err="1">
                <a:solidFill>
                  <a:srgbClr val="1A1A1A"/>
                </a:solidFill>
                <a:latin typeface="Arial"/>
              </a:rPr>
              <a:t>chỉ</a:t>
            </a:r>
            <a:r>
              <a:rPr sz="1700" b="0" dirty="0">
                <a:solidFill>
                  <a:srgbClr val="1A1A1A"/>
                </a:solidFill>
                <a:latin typeface="Arial"/>
              </a:rPr>
              <a:t> </a:t>
            </a:r>
            <a:r>
              <a:rPr sz="1700" b="0" dirty="0" err="1">
                <a:solidFill>
                  <a:srgbClr val="1A1A1A"/>
                </a:solidFill>
                <a:latin typeface="Arial"/>
              </a:rPr>
              <a:t>trình</a:t>
            </a:r>
            <a:r>
              <a:rPr sz="1700" b="0" dirty="0">
                <a:solidFill>
                  <a:srgbClr val="1A1A1A"/>
                </a:solidFill>
                <a:latin typeface="Arial"/>
              </a:rPr>
              <a:t> </a:t>
            </a:r>
            <a:r>
              <a:rPr sz="1700" b="0" dirty="0" err="1">
                <a:solidFill>
                  <a:srgbClr val="1A1A1A"/>
                </a:solidFill>
                <a:latin typeface="Arial"/>
              </a:rPr>
              <a:t>bày</a:t>
            </a:r>
            <a:r>
              <a:rPr sz="1700" b="0" dirty="0">
                <a:solidFill>
                  <a:srgbClr val="1A1A1A"/>
                </a:solidFill>
                <a:latin typeface="Arial"/>
              </a:rPr>
              <a:t> </a:t>
            </a:r>
            <a:r>
              <a:rPr sz="1700" b="0" dirty="0" err="1">
                <a:solidFill>
                  <a:srgbClr val="1A1A1A"/>
                </a:solidFill>
                <a:latin typeface="Arial"/>
              </a:rPr>
              <a:t>lý</a:t>
            </a:r>
            <a:r>
              <a:rPr sz="1700" b="0" dirty="0">
                <a:solidFill>
                  <a:srgbClr val="1A1A1A"/>
                </a:solidFill>
                <a:latin typeface="Arial"/>
              </a:rPr>
              <a:t> </a:t>
            </a:r>
            <a:r>
              <a:rPr sz="1700" b="0" dirty="0" err="1">
                <a:solidFill>
                  <a:srgbClr val="1A1A1A"/>
                </a:solidFill>
                <a:latin typeface="Arial"/>
              </a:rPr>
              <a:t>thuyết</a:t>
            </a:r>
            <a:endParaRPr sz="1700" b="0" dirty="0">
              <a:solidFill>
                <a:srgbClr val="1A1A1A"/>
              </a:solidFill>
              <a:latin typeface="Arial"/>
            </a:endParaRPr>
          </a:p>
          <a:p>
            <a:pPr>
              <a:spcBef>
                <a:spcPts val="900"/>
              </a:spcBef>
            </a:pPr>
            <a:r>
              <a:rPr sz="1700" b="0" dirty="0">
                <a:solidFill>
                  <a:srgbClr val="1A1A1A"/>
                </a:solidFill>
                <a:latin typeface="Arial"/>
              </a:rPr>
              <a:t>• </a:t>
            </a:r>
            <a:r>
              <a:rPr sz="1700" b="0" dirty="0" err="1">
                <a:solidFill>
                  <a:srgbClr val="1A1A1A"/>
                </a:solidFill>
                <a:latin typeface="Arial"/>
              </a:rPr>
              <a:t>Không</a:t>
            </a:r>
            <a:r>
              <a:rPr sz="1700" b="0" dirty="0">
                <a:solidFill>
                  <a:srgbClr val="1A1A1A"/>
                </a:solidFill>
                <a:latin typeface="Arial"/>
              </a:rPr>
              <a:t> </a:t>
            </a:r>
            <a:r>
              <a:rPr sz="1700" b="0" dirty="0" err="1">
                <a:solidFill>
                  <a:srgbClr val="1A1A1A"/>
                </a:solidFill>
                <a:latin typeface="Arial"/>
              </a:rPr>
              <a:t>có</a:t>
            </a:r>
            <a:r>
              <a:rPr sz="1700" b="0" dirty="0">
                <a:solidFill>
                  <a:srgbClr val="1A1A1A"/>
                </a:solidFill>
                <a:latin typeface="Arial"/>
              </a:rPr>
              <a:t> HomePod hay Nest Hub, </a:t>
            </a:r>
            <a:r>
              <a:rPr sz="1700" b="0" dirty="0" err="1">
                <a:solidFill>
                  <a:srgbClr val="1A1A1A"/>
                </a:solidFill>
                <a:latin typeface="Arial"/>
              </a:rPr>
              <a:t>nên</a:t>
            </a:r>
            <a:r>
              <a:rPr sz="1700" b="0" dirty="0">
                <a:solidFill>
                  <a:srgbClr val="1A1A1A"/>
                </a:solidFill>
                <a:latin typeface="Arial"/>
              </a:rPr>
              <a:t> </a:t>
            </a:r>
            <a:r>
              <a:rPr sz="1700" b="0" dirty="0" err="1">
                <a:solidFill>
                  <a:srgbClr val="1A1A1A"/>
                </a:solidFill>
                <a:latin typeface="Arial"/>
              </a:rPr>
              <a:t>các</a:t>
            </a:r>
            <a:r>
              <a:rPr sz="1700" b="0" dirty="0">
                <a:solidFill>
                  <a:srgbClr val="1A1A1A"/>
                </a:solidFill>
                <a:latin typeface="Arial"/>
              </a:rPr>
              <a:t> </a:t>
            </a:r>
            <a:r>
              <a:rPr sz="1700" b="0" dirty="0" err="1">
                <a:solidFill>
                  <a:srgbClr val="1A1A1A"/>
                </a:solidFill>
                <a:latin typeface="Arial"/>
              </a:rPr>
              <a:t>bộ</a:t>
            </a:r>
            <a:r>
              <a:rPr sz="1700" b="0" dirty="0">
                <a:solidFill>
                  <a:srgbClr val="1A1A1A"/>
                </a:solidFill>
                <a:latin typeface="Arial"/>
              </a:rPr>
              <a:t> </a:t>
            </a:r>
            <a:r>
              <a:rPr sz="1700" b="0" dirty="0" err="1">
                <a:solidFill>
                  <a:srgbClr val="1A1A1A"/>
                </a:solidFill>
                <a:latin typeface="Arial"/>
              </a:rPr>
              <a:t>điều</a:t>
            </a:r>
            <a:r>
              <a:rPr sz="1700" b="0" dirty="0">
                <a:solidFill>
                  <a:srgbClr val="1A1A1A"/>
                </a:solidFill>
                <a:latin typeface="Arial"/>
              </a:rPr>
              <a:t> </a:t>
            </a:r>
            <a:r>
              <a:rPr sz="1700" b="0" dirty="0" err="1">
                <a:solidFill>
                  <a:srgbClr val="1A1A1A"/>
                </a:solidFill>
                <a:latin typeface="Arial"/>
              </a:rPr>
              <a:t>khiển</a:t>
            </a:r>
            <a:r>
              <a:rPr sz="1700" b="0" dirty="0">
                <a:solidFill>
                  <a:srgbClr val="1A1A1A"/>
                </a:solidFill>
                <a:latin typeface="Arial"/>
              </a:rPr>
              <a:t> </a:t>
            </a:r>
            <a:r>
              <a:rPr sz="1700" b="0" dirty="0" err="1">
                <a:solidFill>
                  <a:srgbClr val="1A1A1A"/>
                </a:solidFill>
                <a:latin typeface="Arial"/>
              </a:rPr>
              <a:t>bổ</a:t>
            </a:r>
            <a:r>
              <a:rPr sz="1700" b="0" dirty="0">
                <a:solidFill>
                  <a:srgbClr val="1A1A1A"/>
                </a:solidFill>
                <a:latin typeface="Arial"/>
              </a:rPr>
              <a:t> sung </a:t>
            </a:r>
            <a:r>
              <a:rPr sz="1700" b="0" dirty="0" err="1">
                <a:solidFill>
                  <a:srgbClr val="1A1A1A"/>
                </a:solidFill>
                <a:latin typeface="Arial"/>
              </a:rPr>
              <a:t>được</a:t>
            </a:r>
            <a:r>
              <a:rPr sz="1700" b="0" dirty="0">
                <a:solidFill>
                  <a:srgbClr val="1A1A1A"/>
                </a:solidFill>
                <a:latin typeface="Arial"/>
              </a:rPr>
              <a:t> </a:t>
            </a:r>
            <a:r>
              <a:rPr sz="1700" b="0" dirty="0" err="1">
                <a:solidFill>
                  <a:srgbClr val="1A1A1A"/>
                </a:solidFill>
                <a:latin typeface="Arial"/>
              </a:rPr>
              <a:t>mô</a:t>
            </a:r>
            <a:r>
              <a:rPr sz="1700" b="0" dirty="0">
                <a:solidFill>
                  <a:srgbClr val="1A1A1A"/>
                </a:solidFill>
                <a:latin typeface="Arial"/>
              </a:rPr>
              <a:t> </a:t>
            </a:r>
            <a:r>
              <a:rPr sz="1700" b="0" dirty="0" err="1">
                <a:solidFill>
                  <a:srgbClr val="1A1A1A"/>
                </a:solidFill>
                <a:latin typeface="Arial"/>
              </a:rPr>
              <a:t>phỏng</a:t>
            </a:r>
            <a:r>
              <a:rPr sz="1700" b="0" dirty="0">
                <a:solidFill>
                  <a:srgbClr val="1A1A1A"/>
                </a:solidFill>
                <a:latin typeface="Arial"/>
              </a:rPr>
              <a:t> </a:t>
            </a:r>
            <a:r>
              <a:rPr sz="1700" b="0" dirty="0" err="1">
                <a:solidFill>
                  <a:srgbClr val="1A1A1A"/>
                </a:solidFill>
                <a:latin typeface="Arial"/>
              </a:rPr>
              <a:t>bằng</a:t>
            </a:r>
            <a:r>
              <a:rPr sz="1700" b="0" dirty="0">
                <a:solidFill>
                  <a:srgbClr val="1A1A1A"/>
                </a:solidFill>
                <a:latin typeface="Arial"/>
              </a:rPr>
              <a:t> chip-tool, </a:t>
            </a:r>
            <a:r>
              <a:rPr sz="1700" b="0" dirty="0" err="1">
                <a:solidFill>
                  <a:srgbClr val="1A1A1A"/>
                </a:solidFill>
                <a:latin typeface="Arial"/>
              </a:rPr>
              <a:t>mỗi</a:t>
            </a:r>
            <a:r>
              <a:rPr sz="1700" b="0" dirty="0">
                <a:solidFill>
                  <a:srgbClr val="1A1A1A"/>
                </a:solidFill>
                <a:latin typeface="Arial"/>
              </a:rPr>
              <a:t> </a:t>
            </a:r>
            <a:r>
              <a:rPr sz="1700" b="0" dirty="0" err="1">
                <a:solidFill>
                  <a:srgbClr val="1A1A1A"/>
                </a:solidFill>
                <a:latin typeface="Arial"/>
              </a:rPr>
              <a:t>tiến</a:t>
            </a:r>
            <a:r>
              <a:rPr sz="1700" b="0" dirty="0">
                <a:solidFill>
                  <a:srgbClr val="1A1A1A"/>
                </a:solidFill>
                <a:latin typeface="Arial"/>
              </a:rPr>
              <a:t> </a:t>
            </a:r>
            <a:r>
              <a:rPr sz="1700" b="0" dirty="0" err="1">
                <a:solidFill>
                  <a:srgbClr val="1A1A1A"/>
                </a:solidFill>
                <a:latin typeface="Arial"/>
              </a:rPr>
              <a:t>trình</a:t>
            </a:r>
            <a:r>
              <a:rPr sz="1700" b="0" dirty="0">
                <a:solidFill>
                  <a:srgbClr val="1A1A1A"/>
                </a:solidFill>
                <a:latin typeface="Arial"/>
              </a:rPr>
              <a:t> </a:t>
            </a:r>
            <a:r>
              <a:rPr sz="1700" b="0" dirty="0" err="1">
                <a:solidFill>
                  <a:srgbClr val="1A1A1A"/>
                </a:solidFill>
                <a:latin typeface="Arial"/>
              </a:rPr>
              <a:t>một</a:t>
            </a:r>
            <a:r>
              <a:rPr sz="1700" b="0" dirty="0">
                <a:solidFill>
                  <a:srgbClr val="1A1A1A"/>
                </a:solidFill>
                <a:latin typeface="Arial"/>
              </a:rPr>
              <a:t> </a:t>
            </a:r>
            <a:r>
              <a:rPr sz="1700" b="0" dirty="0" err="1">
                <a:solidFill>
                  <a:srgbClr val="1A1A1A"/>
                </a:solidFill>
                <a:latin typeface="Arial"/>
              </a:rPr>
              <a:t>kho</a:t>
            </a:r>
            <a:r>
              <a:rPr sz="1700" b="0" dirty="0">
                <a:solidFill>
                  <a:srgbClr val="1A1A1A"/>
                </a:solidFill>
                <a:latin typeface="Arial"/>
              </a:rPr>
              <a:t> </a:t>
            </a:r>
            <a:r>
              <a:rPr sz="1700" b="0" dirty="0" err="1">
                <a:solidFill>
                  <a:srgbClr val="1A1A1A"/>
                </a:solidFill>
                <a:latin typeface="Arial"/>
              </a:rPr>
              <a:t>khoá</a:t>
            </a:r>
            <a:r>
              <a:rPr sz="1700" b="0" dirty="0">
                <a:solidFill>
                  <a:srgbClr val="1A1A1A"/>
                </a:solidFill>
                <a:latin typeface="Arial"/>
              </a:rPr>
              <a:t> </a:t>
            </a:r>
            <a:r>
              <a:rPr sz="1700" b="0" dirty="0" err="1">
                <a:solidFill>
                  <a:srgbClr val="1A1A1A"/>
                </a:solidFill>
                <a:latin typeface="Arial"/>
              </a:rPr>
              <a:t>riêng</a:t>
            </a:r>
            <a:endParaRPr sz="1700" b="0" dirty="0">
              <a:solidFill>
                <a:srgbClr val="1A1A1A"/>
              </a:solidFill>
              <a:latin typeface="Arial"/>
            </a:endParaRPr>
          </a:p>
          <a:p>
            <a:pPr>
              <a:spcBef>
                <a:spcPts val="900"/>
              </a:spcBef>
            </a:pPr>
            <a:r>
              <a:rPr sz="1700" b="0" dirty="0">
                <a:solidFill>
                  <a:srgbClr val="1A1A1A"/>
                </a:solidFill>
                <a:latin typeface="Arial"/>
              </a:rPr>
              <a:t>• </a:t>
            </a:r>
            <a:r>
              <a:rPr sz="1700" b="0" dirty="0" err="1">
                <a:solidFill>
                  <a:srgbClr val="1A1A1A"/>
                </a:solidFill>
                <a:latin typeface="Arial"/>
              </a:rPr>
              <a:t>Không</a:t>
            </a:r>
            <a:r>
              <a:rPr sz="1700" b="0" dirty="0">
                <a:solidFill>
                  <a:srgbClr val="1A1A1A"/>
                </a:solidFill>
                <a:latin typeface="Arial"/>
              </a:rPr>
              <a:t> </a:t>
            </a:r>
            <a:r>
              <a:rPr sz="1700" b="0" dirty="0" err="1">
                <a:solidFill>
                  <a:srgbClr val="1A1A1A"/>
                </a:solidFill>
                <a:latin typeface="Arial"/>
              </a:rPr>
              <a:t>thực</a:t>
            </a:r>
            <a:r>
              <a:rPr sz="1700" b="0" dirty="0">
                <a:solidFill>
                  <a:srgbClr val="1A1A1A"/>
                </a:solidFill>
                <a:latin typeface="Arial"/>
              </a:rPr>
              <a:t> </a:t>
            </a:r>
            <a:r>
              <a:rPr sz="1700" b="0" dirty="0" err="1">
                <a:solidFill>
                  <a:srgbClr val="1A1A1A"/>
                </a:solidFill>
                <a:latin typeface="Arial"/>
              </a:rPr>
              <a:t>hiện</a:t>
            </a:r>
            <a:r>
              <a:rPr sz="1700" b="0" dirty="0">
                <a:solidFill>
                  <a:srgbClr val="1A1A1A"/>
                </a:solidFill>
                <a:latin typeface="Arial"/>
              </a:rPr>
              <a:t> </a:t>
            </a:r>
            <a:r>
              <a:rPr sz="1700" b="0" dirty="0" err="1">
                <a:solidFill>
                  <a:srgbClr val="1A1A1A"/>
                </a:solidFill>
                <a:latin typeface="Arial"/>
              </a:rPr>
              <a:t>quy</a:t>
            </a:r>
            <a:r>
              <a:rPr sz="1700" b="0" dirty="0">
                <a:solidFill>
                  <a:srgbClr val="1A1A1A"/>
                </a:solidFill>
                <a:latin typeface="Arial"/>
              </a:rPr>
              <a:t> </a:t>
            </a:r>
            <a:r>
              <a:rPr sz="1700" b="0" dirty="0" err="1">
                <a:solidFill>
                  <a:srgbClr val="1A1A1A"/>
                </a:solidFill>
                <a:latin typeface="Arial"/>
              </a:rPr>
              <a:t>trình</a:t>
            </a:r>
            <a:r>
              <a:rPr sz="1700" b="0" dirty="0">
                <a:solidFill>
                  <a:srgbClr val="1A1A1A"/>
                </a:solidFill>
                <a:latin typeface="Arial"/>
              </a:rPr>
              <a:t> </a:t>
            </a:r>
            <a:r>
              <a:rPr sz="1700" b="0" dirty="0" err="1">
                <a:solidFill>
                  <a:srgbClr val="1A1A1A"/>
                </a:solidFill>
                <a:latin typeface="Arial"/>
              </a:rPr>
              <a:t>chứng</a:t>
            </a:r>
            <a:r>
              <a:rPr sz="1700" b="0" dirty="0">
                <a:solidFill>
                  <a:srgbClr val="1A1A1A"/>
                </a:solidFill>
                <a:latin typeface="Arial"/>
              </a:rPr>
              <a:t> </a:t>
            </a:r>
            <a:r>
              <a:rPr sz="1700" b="0" dirty="0" err="1">
                <a:solidFill>
                  <a:srgbClr val="1A1A1A"/>
                </a:solidFill>
                <a:latin typeface="Arial"/>
              </a:rPr>
              <a:t>nhận</a:t>
            </a:r>
            <a:r>
              <a:rPr sz="1700" b="0" dirty="0">
                <a:solidFill>
                  <a:srgbClr val="1A1A1A"/>
                </a:solidFill>
                <a:latin typeface="Arial"/>
              </a:rPr>
              <a:t> </a:t>
            </a:r>
            <a:r>
              <a:rPr sz="1700" b="0" dirty="0" err="1">
                <a:solidFill>
                  <a:srgbClr val="1A1A1A"/>
                </a:solidFill>
                <a:latin typeface="Arial"/>
              </a:rPr>
              <a:t>của</a:t>
            </a:r>
            <a:r>
              <a:rPr sz="1700" b="0" dirty="0">
                <a:solidFill>
                  <a:srgbClr val="1A1A1A"/>
                </a:solidFill>
                <a:latin typeface="Arial"/>
              </a:rPr>
              <a:t> CSA; firmware </a:t>
            </a:r>
            <a:r>
              <a:rPr sz="1700" b="0" dirty="0" err="1">
                <a:solidFill>
                  <a:srgbClr val="1A1A1A"/>
                </a:solidFill>
                <a:latin typeface="Arial"/>
              </a:rPr>
              <a:t>dùng</a:t>
            </a:r>
            <a:r>
              <a:rPr sz="1700" b="0" dirty="0">
                <a:solidFill>
                  <a:srgbClr val="1A1A1A"/>
                </a:solidFill>
                <a:latin typeface="Arial"/>
              </a:rPr>
              <a:t> </a:t>
            </a:r>
            <a:r>
              <a:rPr sz="1700" b="0" dirty="0" err="1">
                <a:solidFill>
                  <a:srgbClr val="1A1A1A"/>
                </a:solidFill>
                <a:latin typeface="Arial"/>
              </a:rPr>
              <a:t>chứng</a:t>
            </a:r>
            <a:r>
              <a:rPr sz="1700" b="0" dirty="0">
                <a:solidFill>
                  <a:srgbClr val="1A1A1A"/>
                </a:solidFill>
                <a:latin typeface="Arial"/>
              </a:rPr>
              <a:t> </a:t>
            </a:r>
            <a:r>
              <a:rPr sz="1700" b="0" dirty="0" err="1">
                <a:solidFill>
                  <a:srgbClr val="1A1A1A"/>
                </a:solidFill>
                <a:latin typeface="Arial"/>
              </a:rPr>
              <a:t>thư</a:t>
            </a:r>
            <a:r>
              <a:rPr sz="1700" b="0" dirty="0">
                <a:solidFill>
                  <a:srgbClr val="1A1A1A"/>
                </a:solidFill>
                <a:latin typeface="Arial"/>
              </a:rPr>
              <a:t> </a:t>
            </a:r>
            <a:r>
              <a:rPr sz="1700" b="0" dirty="0" err="1">
                <a:solidFill>
                  <a:srgbClr val="1A1A1A"/>
                </a:solidFill>
                <a:latin typeface="Arial"/>
              </a:rPr>
              <a:t>thử</a:t>
            </a:r>
            <a:r>
              <a:rPr sz="1700" b="0" dirty="0">
                <a:solidFill>
                  <a:srgbClr val="1A1A1A"/>
                </a:solidFill>
                <a:latin typeface="Arial"/>
              </a:rPr>
              <a:t> </a:t>
            </a:r>
            <a:r>
              <a:rPr sz="1700" b="0" dirty="0" err="1">
                <a:solidFill>
                  <a:srgbClr val="1A1A1A"/>
                </a:solidFill>
                <a:latin typeface="Arial"/>
              </a:rPr>
              <a:t>nghiệm</a:t>
            </a:r>
            <a:endParaRPr sz="1700" b="0" dirty="0">
              <a:solidFill>
                <a:srgbClr val="1A1A1A"/>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II. Cơ sở lý thuyết</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sp>
        <p:nvSpPr>
          <p:cNvPr id="8" name="TextBox 7"/>
          <p:cNvSpPr txBox="1"/>
          <p:nvPr/>
        </p:nvSpPr>
        <p:spPr>
          <a:xfrm>
            <a:off x="502920" y="1298448"/>
            <a:ext cx="8138160" cy="4754880"/>
          </a:xfrm>
          <a:prstGeom prst="rect">
            <a:avLst/>
          </a:prstGeom>
          <a:noFill/>
        </p:spPr>
        <p:txBody>
          <a:bodyPr wrap="square">
            <a:spAutoFit/>
          </a:bodyPr>
          <a:lstStyle/>
          <a:p>
            <a:pPr>
              <a:spcBef>
                <a:spcPts val="0"/>
              </a:spcBef>
            </a:pPr>
            <a:r>
              <a:rPr sz="2400" b="1">
                <a:solidFill>
                  <a:srgbClr val="1A1A1A"/>
                </a:solidFill>
                <a:latin typeface="Arial"/>
              </a:rPr>
              <a:t>Matter là gì</a:t>
            </a:r>
          </a:p>
          <a:p>
            <a:pPr>
              <a:spcBef>
                <a:spcPts val="1000"/>
              </a:spcBef>
            </a:pPr>
            <a:r>
              <a:rPr sz="1900" b="0">
                <a:solidFill>
                  <a:srgbClr val="1A1A1A"/>
                </a:solidFill>
                <a:latin typeface="Arial"/>
              </a:rPr>
              <a:t>• Chuẩn liên vận hành do Connectivity Standards Alliance công bố năm 2022, hợp nhất nỗ lực của Apple, Google, Amazon và Zigbee Alliance.</a:t>
            </a:r>
          </a:p>
          <a:p>
            <a:pPr>
              <a:spcBef>
                <a:spcPts val="800"/>
              </a:spcBef>
            </a:pPr>
            <a:r>
              <a:rPr sz="1900" b="0">
                <a:solidFill>
                  <a:srgbClr val="1A1A1A"/>
                </a:solidFill>
                <a:latin typeface="Arial"/>
              </a:rPr>
              <a:t>• Chạy trên nền IPv6, điều khiển diễn ra trong mạng nội bộ — không bắt buộc đi qua máy chủ của nhà sản xuất.</a:t>
            </a:r>
          </a:p>
          <a:p>
            <a:pPr>
              <a:spcBef>
                <a:spcPts val="800"/>
              </a:spcBef>
            </a:pPr>
            <a:r>
              <a:rPr sz="1900" b="0">
                <a:solidFill>
                  <a:srgbClr val="1A1A1A"/>
                </a:solidFill>
                <a:latin typeface="Arial"/>
              </a:rPr>
              <a:t>• Hai tầng vận chuyển: Wi-Fi và Thread. Đề tài chọn Wi-Fi.</a:t>
            </a:r>
          </a:p>
          <a:p>
            <a:pPr>
              <a:spcBef>
                <a:spcPts val="800"/>
              </a:spcBef>
            </a:pPr>
            <a:r>
              <a:rPr sz="1900" b="0">
                <a:solidFill>
                  <a:srgbClr val="1A1A1A"/>
                </a:solidFill>
                <a:latin typeface="Arial"/>
              </a:rPr>
              <a:t>• Hai điều kiện hạ tầng bắt buộc: IPv6 và mDNS. Thiếu một trong hai là bế tắc.</a:t>
            </a:r>
          </a:p>
          <a:p>
            <a:pPr>
              <a:spcBef>
                <a:spcPts val="1800"/>
              </a:spcBef>
            </a:pPr>
            <a:r>
              <a:rPr sz="2400" b="1">
                <a:solidFill>
                  <a:srgbClr val="1A1A1A"/>
                </a:solidFill>
                <a:latin typeface="Arial"/>
              </a:rPr>
              <a:t>Bảo mật hai giai đoạn</a:t>
            </a:r>
          </a:p>
          <a:p>
            <a:pPr>
              <a:spcBef>
                <a:spcPts val="1000"/>
              </a:spcBef>
            </a:pPr>
            <a:r>
              <a:rPr sz="1900" b="0">
                <a:solidFill>
                  <a:srgbClr val="1A1A1A"/>
                </a:solidFill>
                <a:latin typeface="Arial"/>
              </a:rPr>
              <a:t>• PASE — thiết lập phiên lúc ghép nối, dựa trên mã ghép nối in trên thiết bị.</a:t>
            </a:r>
          </a:p>
          <a:p>
            <a:pPr>
              <a:spcBef>
                <a:spcPts val="800"/>
              </a:spcBef>
            </a:pPr>
            <a:r>
              <a:rPr sz="1900" b="0">
                <a:solidFill>
                  <a:srgbClr val="1A1A1A"/>
                </a:solidFill>
                <a:latin typeface="Arial"/>
              </a:rPr>
              <a:t>• CASE — phiên vận hành hằng ngày, dựa trên chứng thư mà bộ điều khiển đã cấp.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II. Cơ sở lý thuyết</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sp>
        <p:nvSpPr>
          <p:cNvPr id="8" name="TextBox 7"/>
          <p:cNvSpPr txBox="1"/>
          <p:nvPr/>
        </p:nvSpPr>
        <p:spPr>
          <a:xfrm>
            <a:off x="502920" y="1298448"/>
            <a:ext cx="8138160" cy="2103120"/>
          </a:xfrm>
          <a:prstGeom prst="rect">
            <a:avLst/>
          </a:prstGeom>
          <a:noFill/>
        </p:spPr>
        <p:txBody>
          <a:bodyPr wrap="square">
            <a:spAutoFit/>
          </a:bodyPr>
          <a:lstStyle/>
          <a:p>
            <a:pPr>
              <a:spcBef>
                <a:spcPts val="0"/>
              </a:spcBef>
            </a:pPr>
            <a:r>
              <a:rPr sz="2400" b="1">
                <a:solidFill>
                  <a:srgbClr val="1A1A1A"/>
                </a:solidFill>
                <a:latin typeface="Arial"/>
              </a:rPr>
              <a:t>Mô hình dữ liệu</a:t>
            </a:r>
          </a:p>
          <a:p>
            <a:pPr>
              <a:spcBef>
                <a:spcPts val="1000"/>
              </a:spcBef>
            </a:pPr>
            <a:r>
              <a:rPr sz="2100" b="1">
                <a:solidFill>
                  <a:srgbClr val="3376C7"/>
                </a:solidFill>
                <a:latin typeface="Arial"/>
              </a:rPr>
              <a:t>Node  →  Endpoint  →  Cluster  →  Attribute / Command / Event</a:t>
            </a:r>
          </a:p>
          <a:p>
            <a:pPr>
              <a:spcBef>
                <a:spcPts val="800"/>
              </a:spcBef>
            </a:pPr>
            <a:r>
              <a:rPr sz="1900" b="0">
                <a:solidFill>
                  <a:srgbClr val="1A1A1A"/>
                </a:solidFill>
                <a:latin typeface="Arial"/>
              </a:rPr>
              <a:t>• Mỗi endpoint là một chức năng độc lập. Thiết bị của đề tài có endpoint 1 là đèn màu và endpoint 2 là công tắc vật lý.</a:t>
            </a:r>
          </a:p>
        </p:txBody>
      </p:sp>
      <p:sp>
        <p:nvSpPr>
          <p:cNvPr id="9" name="TextBox 8"/>
          <p:cNvSpPr txBox="1"/>
          <p:nvPr/>
        </p:nvSpPr>
        <p:spPr>
          <a:xfrm>
            <a:off x="502920" y="3657600"/>
            <a:ext cx="8138160" cy="2377440"/>
          </a:xfrm>
          <a:prstGeom prst="rect">
            <a:avLst/>
          </a:prstGeom>
          <a:noFill/>
        </p:spPr>
        <p:txBody>
          <a:bodyPr wrap="square">
            <a:spAutoFit/>
          </a:bodyPr>
          <a:lstStyle/>
          <a:p>
            <a:pPr>
              <a:spcBef>
                <a:spcPts val="0"/>
              </a:spcBef>
            </a:pPr>
            <a:r>
              <a:rPr sz="2400" b="1">
                <a:solidFill>
                  <a:srgbClr val="3376C7"/>
                </a:solidFill>
                <a:latin typeface="Arial"/>
              </a:rPr>
              <a:t>Fabric và cơ chế multi-admin — điểm nhấn của đề tài</a:t>
            </a:r>
          </a:p>
          <a:p>
            <a:pPr>
              <a:spcBef>
                <a:spcPts val="1000"/>
              </a:spcBef>
            </a:pPr>
            <a:r>
              <a:rPr sz="1900" b="0">
                <a:solidFill>
                  <a:srgbClr val="1A1A1A"/>
                </a:solidFill>
                <a:latin typeface="Arial"/>
              </a:rPr>
              <a:t>• Fabric là một miền quản trị, có bộ khoá và chứng thư riêng của nó.</a:t>
            </a:r>
          </a:p>
          <a:p>
            <a:pPr>
              <a:spcBef>
                <a:spcPts val="800"/>
              </a:spcBef>
            </a:pPr>
            <a:r>
              <a:rPr sz="1900" b="0">
                <a:solidFill>
                  <a:srgbClr val="1A1A1A"/>
                </a:solidFill>
                <a:latin typeface="Arial"/>
              </a:rPr>
              <a:t>• Một thiết bị tham gia nhiều fabric cùng lúc; các fabric ngang hàng nhau, không có fabric nào giữ vai trò đặc quyền.</a:t>
            </a:r>
          </a:p>
          <a:p>
            <a:pPr>
              <a:spcBef>
                <a:spcPts val="800"/>
              </a:spcBef>
            </a:pPr>
            <a:r>
              <a:rPr sz="1900" b="0">
                <a:solidFill>
                  <a:srgbClr val="1A1A1A"/>
                </a:solidFill>
                <a:latin typeface="Arial"/>
              </a:rPr>
              <a:t>• Nghĩa là cùng một bóng đèn có thể vừa nằm trong nhà Apple, vừa nằm trong nhà Google, mà hai bên không cần biết nhau.</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III. Thiết kế hệ thống</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pic>
        <p:nvPicPr>
          <p:cNvPr id="8" name="Picture 7" descr="hinh-3-1-so-do-khoi.png"/>
          <p:cNvPicPr>
            <a:picLocks noChangeAspect="1"/>
          </p:cNvPicPr>
          <p:nvPr/>
        </p:nvPicPr>
        <p:blipFill>
          <a:blip r:embed="rId3"/>
          <a:stretch>
            <a:fillRect/>
          </a:stretch>
        </p:blipFill>
        <p:spPr>
          <a:xfrm>
            <a:off x="320040" y="1691640"/>
            <a:ext cx="8503920" cy="3656686"/>
          </a:xfrm>
          <a:prstGeom prst="rect">
            <a:avLst/>
          </a:prstGeom>
        </p:spPr>
      </p:pic>
      <p:sp>
        <p:nvSpPr>
          <p:cNvPr id="9" name="TextBox 8"/>
          <p:cNvSpPr txBox="1"/>
          <p:nvPr/>
        </p:nvSpPr>
        <p:spPr>
          <a:xfrm>
            <a:off x="502920" y="5623560"/>
            <a:ext cx="8138160" cy="365760"/>
          </a:xfrm>
          <a:prstGeom prst="rect">
            <a:avLst/>
          </a:prstGeom>
          <a:noFill/>
        </p:spPr>
        <p:txBody>
          <a:bodyPr wrap="square">
            <a:spAutoFit/>
          </a:bodyPr>
          <a:lstStyle/>
          <a:p>
            <a:pPr algn="ctr">
              <a:spcBef>
                <a:spcPts val="0"/>
              </a:spcBef>
            </a:pPr>
            <a:r>
              <a:rPr sz="1300" b="0">
                <a:solidFill>
                  <a:srgbClr val="555555"/>
                </a:solidFill>
                <a:latin typeface="Arial"/>
              </a:rPr>
              <a:t>Bốn khối: thiết bị đầu cuối, hạ tầng mạng, bộ điều khiển chính và bốn bộ điều khiển bổ sung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III. Thi công phần cứng</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pic>
        <p:nvPicPr>
          <p:cNvPr id="8" name="Picture 7" descr="hinh-4-7-mach-hoan-chinh.jpg"/>
          <p:cNvPicPr>
            <a:picLocks noChangeAspect="1"/>
          </p:cNvPicPr>
          <p:nvPr/>
        </p:nvPicPr>
        <p:blipFill>
          <a:blip r:embed="rId3"/>
          <a:stretch>
            <a:fillRect/>
          </a:stretch>
        </p:blipFill>
        <p:spPr>
          <a:xfrm>
            <a:off x="411480" y="1325880"/>
            <a:ext cx="4663440" cy="3497580"/>
          </a:xfrm>
          <a:prstGeom prst="rect">
            <a:avLst/>
          </a:prstGeom>
        </p:spPr>
      </p:pic>
      <p:sp>
        <p:nvSpPr>
          <p:cNvPr id="9" name="TextBox 8"/>
          <p:cNvSpPr txBox="1"/>
          <p:nvPr/>
        </p:nvSpPr>
        <p:spPr>
          <a:xfrm>
            <a:off x="5257800" y="1325880"/>
            <a:ext cx="3429000" cy="4572000"/>
          </a:xfrm>
          <a:prstGeom prst="rect">
            <a:avLst/>
          </a:prstGeom>
          <a:noFill/>
        </p:spPr>
        <p:txBody>
          <a:bodyPr wrap="square">
            <a:spAutoFit/>
          </a:bodyPr>
          <a:lstStyle/>
          <a:p>
            <a:pPr>
              <a:spcBef>
                <a:spcPts val="0"/>
              </a:spcBef>
            </a:pPr>
            <a:r>
              <a:rPr sz="2000" b="1">
                <a:solidFill>
                  <a:srgbClr val="1A1A1A"/>
                </a:solidFill>
                <a:latin typeface="Arial"/>
              </a:rPr>
              <a:t>ESP32-C6 SuperMini</a:t>
            </a:r>
          </a:p>
          <a:p>
            <a:pPr>
              <a:spcBef>
                <a:spcPts val="600"/>
              </a:spcBef>
            </a:pPr>
            <a:r>
              <a:rPr sz="1500" b="0">
                <a:solidFill>
                  <a:srgbClr val="1A1A1A"/>
                </a:solidFill>
                <a:latin typeface="Arial"/>
              </a:rPr>
              <a:t>• EP1 — đèn RGB WS2812 onboard</a:t>
            </a:r>
          </a:p>
          <a:p>
            <a:pPr>
              <a:spcBef>
                <a:spcPts val="600"/>
              </a:spcBef>
            </a:pPr>
            <a:r>
              <a:rPr sz="1500" b="0">
                <a:solidFill>
                  <a:srgbClr val="1A1A1A"/>
                </a:solidFill>
                <a:latin typeface="Arial"/>
              </a:rPr>
              <a:t>• EP2 — công tắc vật lý, nút GPIO19</a:t>
            </a:r>
          </a:p>
          <a:p>
            <a:pPr>
              <a:spcBef>
                <a:spcPts val="600"/>
              </a:spcBef>
            </a:pPr>
            <a:r>
              <a:rPr sz="1500" b="0">
                <a:solidFill>
                  <a:srgbClr val="1A1A1A"/>
                </a:solidFill>
                <a:latin typeface="Arial"/>
              </a:rPr>
              <a:t>• 3 LED chỉ báo: mạng, trạng thái đèn, lưu lượng lệnh</a:t>
            </a:r>
          </a:p>
          <a:p>
            <a:pPr>
              <a:spcBef>
                <a:spcPts val="600"/>
              </a:spcBef>
            </a:pPr>
            <a:r>
              <a:rPr sz="1500" b="0">
                <a:solidFill>
                  <a:srgbClr val="1A1A1A"/>
                </a:solidFill>
                <a:latin typeface="Arial"/>
              </a:rPr>
              <a:t>• 3 nút nhấn: bật tắt, phát sự kiện, đổi trang</a:t>
            </a:r>
          </a:p>
          <a:p>
            <a:pPr>
              <a:spcBef>
                <a:spcPts val="600"/>
              </a:spcBef>
            </a:pPr>
            <a:r>
              <a:rPr sz="1500" b="0">
                <a:solidFill>
                  <a:srgbClr val="1A1A1A"/>
                </a:solidFill>
                <a:latin typeface="Arial"/>
              </a:rPr>
              <a:t>• Màn hình OLED 0,96 inch qua I2C</a:t>
            </a:r>
          </a:p>
          <a:p>
            <a:pPr>
              <a:spcBef>
                <a:spcPts val="1400"/>
              </a:spcBef>
            </a:pPr>
            <a:r>
              <a:rPr sz="2000" b="1">
                <a:solidFill>
                  <a:srgbClr val="1A1A1A"/>
                </a:solidFill>
                <a:latin typeface="Arial"/>
              </a:rPr>
              <a:t>Firmware tự viết thêm</a:t>
            </a:r>
          </a:p>
          <a:p>
            <a:pPr>
              <a:spcBef>
                <a:spcPts val="600"/>
              </a:spcBef>
            </a:pPr>
            <a:r>
              <a:rPr sz="1500" b="0">
                <a:solidFill>
                  <a:srgbClr val="1A1A1A"/>
                </a:solidFill>
                <a:latin typeface="Arial"/>
              </a:rPr>
              <a:t>• Trình điều khiển SSD1306 viết trong dự án</a:t>
            </a:r>
          </a:p>
          <a:p>
            <a:pPr>
              <a:spcBef>
                <a:spcPts val="600"/>
              </a:spcBef>
            </a:pPr>
            <a:r>
              <a:rPr sz="1500" b="0">
                <a:solidFill>
                  <a:srgbClr val="1A1A1A"/>
                </a:solidFill>
                <a:latin typeface="Arial"/>
              </a:rPr>
              <a:t>• Endpoint Generic Switch phát sự kiện khi nhấn nút</a:t>
            </a:r>
          </a:p>
          <a:p>
            <a:pPr>
              <a:spcBef>
                <a:spcPts val="600"/>
              </a:spcBef>
            </a:pPr>
            <a:r>
              <a:rPr sz="1500" b="0">
                <a:solidFill>
                  <a:srgbClr val="1A1A1A"/>
                </a:solidFill>
                <a:latin typeface="Arial"/>
              </a:rPr>
              <a:t>• Chiếm thêm 33 KB, phân vùng còn trống 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IV. Quy trình ghép nối</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pic>
        <p:nvPicPr>
          <p:cNvPr id="8" name="Picture 7" descr="hinh-3-5-luu-do-commissioning.png"/>
          <p:cNvPicPr>
            <a:picLocks noChangeAspect="1"/>
          </p:cNvPicPr>
          <p:nvPr/>
        </p:nvPicPr>
        <p:blipFill>
          <a:blip r:embed="rId3"/>
          <a:stretch>
            <a:fillRect/>
          </a:stretch>
        </p:blipFill>
        <p:spPr>
          <a:xfrm>
            <a:off x="502920" y="1234440"/>
            <a:ext cx="5669280" cy="3779520"/>
          </a:xfrm>
          <a:prstGeom prst="rect">
            <a:avLst/>
          </a:prstGeom>
        </p:spPr>
      </p:pic>
      <p:sp>
        <p:nvSpPr>
          <p:cNvPr id="9" name="TextBox 8"/>
          <p:cNvSpPr txBox="1"/>
          <p:nvPr/>
        </p:nvSpPr>
        <p:spPr>
          <a:xfrm>
            <a:off x="6355080" y="1325880"/>
            <a:ext cx="2377440" cy="4572000"/>
          </a:xfrm>
          <a:prstGeom prst="rect">
            <a:avLst/>
          </a:prstGeom>
          <a:noFill/>
        </p:spPr>
        <p:txBody>
          <a:bodyPr wrap="square">
            <a:spAutoFit/>
          </a:bodyPr>
          <a:lstStyle/>
          <a:p>
            <a:pPr>
              <a:spcBef>
                <a:spcPts val="0"/>
              </a:spcBef>
            </a:pPr>
            <a:r>
              <a:rPr sz="1900" b="1">
                <a:solidFill>
                  <a:srgbClr val="3376C7"/>
                </a:solidFill>
                <a:latin typeface="Arial"/>
              </a:rPr>
              <a:t>Sự cố đáng kể</a:t>
            </a:r>
          </a:p>
          <a:p>
            <a:pPr>
              <a:spcBef>
                <a:spcPts val="800"/>
              </a:spcBef>
            </a:pPr>
            <a:r>
              <a:rPr sz="1500" b="0">
                <a:solidFill>
                  <a:srgbClr val="1A1A1A"/>
                </a:solidFill>
                <a:latin typeface="Arial"/>
              </a:rPr>
              <a:t>• Ghép nối qua Bluetooth thất bại 6 lần với 2 cấu hình khác nhau.</a:t>
            </a:r>
          </a:p>
          <a:p>
            <a:pPr>
              <a:spcBef>
                <a:spcPts val="600"/>
              </a:spcBef>
            </a:pPr>
            <a:r>
              <a:rPr sz="1500" b="0">
                <a:solidFill>
                  <a:srgbClr val="1A1A1A"/>
                </a:solidFill>
                <a:latin typeface="Arial"/>
              </a:rPr>
              <a:t>• Bluetooth của Pi thấy board rõ ở −28 dBm nhưng không kết nối được.</a:t>
            </a:r>
          </a:p>
          <a:p>
            <a:pPr>
              <a:spcBef>
                <a:spcPts val="600"/>
              </a:spcBef>
            </a:pPr>
            <a:r>
              <a:rPr sz="1500" b="1">
                <a:solidFill>
                  <a:srgbClr val="1A1A1A"/>
                </a:solidFill>
                <a:latin typeface="Arial"/>
              </a:rPr>
              <a:t>• Nguyên nhân gốc đến nay vẫn chưa xác định được.</a:t>
            </a:r>
          </a:p>
          <a:p>
            <a:pPr>
              <a:spcBef>
                <a:spcPts val="1400"/>
              </a:spcBef>
            </a:pPr>
            <a:r>
              <a:rPr sz="1900" b="1">
                <a:solidFill>
                  <a:srgbClr val="3376C7"/>
                </a:solidFill>
                <a:latin typeface="Arial"/>
              </a:rPr>
              <a:t>Cách vòng qua</a:t>
            </a:r>
          </a:p>
          <a:p>
            <a:pPr>
              <a:spcBef>
                <a:spcPts val="800"/>
              </a:spcBef>
            </a:pPr>
            <a:r>
              <a:rPr sz="1500" b="0">
                <a:solidFill>
                  <a:srgbClr val="1A1A1A"/>
                </a:solidFill>
                <a:latin typeface="Arial"/>
              </a:rPr>
              <a:t>• Nạp sẵn Wi-Fi vào firmware, ghép hoàn toàn qua IP.</a:t>
            </a:r>
          </a:p>
          <a:p>
            <a:pPr>
              <a:spcBef>
                <a:spcPts val="600"/>
              </a:spcBef>
            </a:pPr>
            <a:r>
              <a:rPr sz="1500" b="0">
                <a:solidFill>
                  <a:srgbClr val="1A1A1A"/>
                </a:solidFill>
                <a:latin typeface="Arial"/>
              </a:rPr>
              <a:t>• PASE hoàn tất trong 1,4 giây, so với 3 phút quét Bluetooth không ra gì.</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IV. Demo 1 — Ghép vào Home Assistant</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pic>
        <p:nvPicPr>
          <p:cNvPr id="8" name="Picture 7" descr="hinh-4-4c-ha-dieu-khien-den.png"/>
          <p:cNvPicPr>
            <a:picLocks noChangeAspect="1"/>
          </p:cNvPicPr>
          <p:nvPr/>
        </p:nvPicPr>
        <p:blipFill>
          <a:blip r:embed="rId4"/>
          <a:stretch>
            <a:fillRect/>
          </a:stretch>
        </p:blipFill>
        <p:spPr>
          <a:xfrm>
            <a:off x="457200" y="1417320"/>
            <a:ext cx="4736592" cy="3840480"/>
          </a:xfrm>
          <a:prstGeom prst="rect">
            <a:avLst/>
          </a:prstGeom>
        </p:spPr>
      </p:pic>
      <p:sp>
        <p:nvSpPr>
          <p:cNvPr id="9" name="TextBox 8"/>
          <p:cNvSpPr txBox="1"/>
          <p:nvPr/>
        </p:nvSpPr>
        <p:spPr>
          <a:xfrm>
            <a:off x="5532120" y="1371600"/>
            <a:ext cx="3154680" cy="4572000"/>
          </a:xfrm>
          <a:prstGeom prst="rect">
            <a:avLst/>
          </a:prstGeom>
          <a:noFill/>
        </p:spPr>
        <p:txBody>
          <a:bodyPr wrap="square">
            <a:spAutoFit/>
          </a:bodyPr>
          <a:lstStyle/>
          <a:p>
            <a:pPr>
              <a:spcBef>
                <a:spcPts val="0"/>
              </a:spcBef>
            </a:pPr>
            <a:r>
              <a:rPr sz="2200" b="1">
                <a:solidFill>
                  <a:srgbClr val="3376C7"/>
                </a:solidFill>
                <a:latin typeface="Arial"/>
              </a:rPr>
              <a:t>Fabric thứ nhất</a:t>
            </a:r>
          </a:p>
          <a:p>
            <a:pPr>
              <a:spcBef>
                <a:spcPts val="1000"/>
              </a:spcBef>
            </a:pPr>
            <a:r>
              <a:rPr sz="1800" b="0">
                <a:solidFill>
                  <a:srgbClr val="1A1A1A"/>
                </a:solidFill>
                <a:latin typeface="Arial"/>
              </a:rPr>
              <a:t>• Ghép xong lúc 20:30 ngày 16/08/2026</a:t>
            </a:r>
          </a:p>
          <a:p>
            <a:pPr>
              <a:spcBef>
                <a:spcPts val="1000"/>
              </a:spcBef>
            </a:pPr>
            <a:r>
              <a:rPr sz="1800" b="0">
                <a:solidFill>
                  <a:srgbClr val="1A1A1A"/>
                </a:solidFill>
                <a:latin typeface="Arial"/>
              </a:rPr>
              <a:t>• Node ID 0x0A, Fabric Index 1</a:t>
            </a:r>
          </a:p>
          <a:p>
            <a:pPr>
              <a:spcBef>
                <a:spcPts val="1000"/>
              </a:spcBef>
            </a:pPr>
            <a:r>
              <a:rPr sz="1800" b="0">
                <a:solidFill>
                  <a:srgbClr val="1A1A1A"/>
                </a:solidFill>
                <a:latin typeface="Arial"/>
              </a:rPr>
              <a:t>• Sinh ra 3 thực thể trong Home Assistant</a:t>
            </a:r>
          </a:p>
          <a:p>
            <a:pPr>
              <a:spcBef>
                <a:spcPts val="1000"/>
              </a:spcBef>
            </a:pPr>
            <a:r>
              <a:rPr sz="1800" b="0">
                <a:solidFill>
                  <a:srgbClr val="1A1A1A"/>
                </a:solidFill>
                <a:latin typeface="Arial"/>
              </a:rPr>
              <a:t>• Điều khiển hai chiều đã kiểm chứng: bật tắt từ giao diện, LED phản hồi đúng</a:t>
            </a:r>
          </a:p>
          <a:p>
            <a:pPr>
              <a:spcBef>
                <a:spcPts val="1000"/>
              </a:spcBef>
            </a:pPr>
            <a:r>
              <a:rPr sz="1800" b="0">
                <a:solidFill>
                  <a:srgbClr val="1A1A1A"/>
                </a:solidFill>
                <a:latin typeface="Arial"/>
              </a:rPr>
              <a:t>• Home Assistant hiển thị 47% khớp chính xác giá trị CurrentLevel = 120 đọc từ thiết bị</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IV. Demo 2 — Năm fabric đồng thời</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pic>
        <p:nvPicPr>
          <p:cNvPr id="8" name="Picture 7" descr="hinh-4-8b-oled-fabric.jpg"/>
          <p:cNvPicPr>
            <a:picLocks noChangeAspect="1"/>
          </p:cNvPicPr>
          <p:nvPr/>
        </p:nvPicPr>
        <p:blipFill>
          <a:blip r:embed="rId4"/>
          <a:stretch>
            <a:fillRect/>
          </a:stretch>
        </p:blipFill>
        <p:spPr>
          <a:xfrm>
            <a:off x="457200" y="1417320"/>
            <a:ext cx="4343400" cy="3257550"/>
          </a:xfrm>
          <a:prstGeom prst="rect">
            <a:avLst/>
          </a:prstGeom>
        </p:spPr>
      </p:pic>
      <p:pic>
        <p:nvPicPr>
          <p:cNvPr id="9" name="Picture 8" descr="hinh-4-8b-oled-fabric-cat.png"/>
          <p:cNvPicPr>
            <a:picLocks noChangeAspect="1"/>
          </p:cNvPicPr>
          <p:nvPr/>
        </p:nvPicPr>
        <p:blipFill>
          <a:blip r:embed="rId5"/>
          <a:stretch>
            <a:fillRect/>
          </a:stretch>
        </p:blipFill>
        <p:spPr>
          <a:xfrm>
            <a:off x="457200" y="4800600"/>
            <a:ext cx="4343400" cy="1744785"/>
          </a:xfrm>
          <a:prstGeom prst="rect">
            <a:avLst/>
          </a:prstGeom>
        </p:spPr>
      </p:pic>
      <p:sp>
        <p:nvSpPr>
          <p:cNvPr id="10" name="TextBox 9"/>
          <p:cNvSpPr txBox="1"/>
          <p:nvPr/>
        </p:nvSpPr>
        <p:spPr>
          <a:xfrm>
            <a:off x="5029200" y="1371600"/>
            <a:ext cx="3657600" cy="4572000"/>
          </a:xfrm>
          <a:prstGeom prst="rect">
            <a:avLst/>
          </a:prstGeom>
          <a:noFill/>
        </p:spPr>
        <p:txBody>
          <a:bodyPr wrap="square">
            <a:spAutoFit/>
          </a:bodyPr>
          <a:lstStyle/>
          <a:p>
            <a:pPr>
              <a:spcBef>
                <a:spcPts val="0"/>
              </a:spcBef>
            </a:pPr>
            <a:r>
              <a:rPr sz="2200" b="1">
                <a:solidFill>
                  <a:srgbClr val="3376C7"/>
                </a:solidFill>
                <a:latin typeface="Arial"/>
              </a:rPr>
              <a:t>Điểm nhấn của đề tài</a:t>
            </a:r>
          </a:p>
          <a:p>
            <a:pPr>
              <a:spcBef>
                <a:spcPts val="900"/>
              </a:spcBef>
            </a:pPr>
            <a:r>
              <a:rPr sz="1700" b="0">
                <a:solidFill>
                  <a:srgbClr val="1A1A1A"/>
                </a:solidFill>
                <a:latin typeface="Arial"/>
              </a:rPr>
              <a:t>• 5 fabric hoạt động đồng thời trên cùng một thiết bị</a:t>
            </a:r>
          </a:p>
          <a:p>
            <a:pPr>
              <a:spcBef>
                <a:spcPts val="900"/>
              </a:spcBef>
            </a:pPr>
            <a:r>
              <a:rPr sz="1700" b="0">
                <a:solidFill>
                  <a:srgbClr val="1A1A1A"/>
                </a:solidFill>
                <a:latin typeface="Arial"/>
              </a:rPr>
              <a:t>• Fabric 1 là Home Assistant (mã hãng 0x134B), fabric 2–5 là chip-tool (0xFFF1)</a:t>
            </a:r>
          </a:p>
          <a:p>
            <a:pPr>
              <a:spcBef>
                <a:spcPts val="900"/>
              </a:spcBef>
            </a:pPr>
            <a:r>
              <a:rPr sz="1700" b="0">
                <a:solidFill>
                  <a:srgbClr val="1A1A1A"/>
                </a:solidFill>
                <a:latin typeface="Arial"/>
              </a:rPr>
              <a:t>• Từ fabric thứ ba trở đi, cửa sổ ghép nối mở bằng chính chip-tool — không cần quay lại Home Assistant</a:t>
            </a:r>
          </a:p>
          <a:p>
            <a:pPr>
              <a:spcBef>
                <a:spcPts val="900"/>
              </a:spcBef>
            </a:pPr>
            <a:r>
              <a:rPr sz="1700" b="0">
                <a:solidFill>
                  <a:srgbClr val="1A1A1A"/>
                </a:solidFill>
                <a:latin typeface="Arial"/>
              </a:rPr>
              <a:t>• Fabric thứ 6 bị từ chối đúng giới hạn thiết bị tự khai báo</a:t>
            </a:r>
          </a:p>
          <a:p>
            <a:pPr>
              <a:spcBef>
                <a:spcPts val="900"/>
              </a:spcBef>
            </a:pPr>
            <a:r>
              <a:rPr sz="1700" b="0">
                <a:solidFill>
                  <a:srgbClr val="1A1A1A"/>
                </a:solidFill>
                <a:latin typeface="Arial"/>
              </a:rPr>
              <a:t>• Màn hình OLED hiển thị danh sách ngay trên thiết bị, không cần mở terminal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IV. Demo 3 — Điều khiển hai chiều</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pic>
        <p:nvPicPr>
          <p:cNvPr id="8" name="Picture 7" descr="hinh-4-6-ba-mau.jpg"/>
          <p:cNvPicPr>
            <a:picLocks noChangeAspect="1"/>
          </p:cNvPicPr>
          <p:nvPr/>
        </p:nvPicPr>
        <p:blipFill>
          <a:blip r:embed="rId4"/>
          <a:stretch>
            <a:fillRect/>
          </a:stretch>
        </p:blipFill>
        <p:spPr>
          <a:xfrm>
            <a:off x="502920" y="1417320"/>
            <a:ext cx="8138160" cy="1895350"/>
          </a:xfrm>
          <a:prstGeom prst="rect">
            <a:avLst/>
          </a:prstGeom>
        </p:spPr>
      </p:pic>
      <p:sp>
        <p:nvSpPr>
          <p:cNvPr id="9" name="TextBox 8"/>
          <p:cNvSpPr txBox="1"/>
          <p:nvPr/>
        </p:nvSpPr>
        <p:spPr>
          <a:xfrm>
            <a:off x="502920" y="3611880"/>
            <a:ext cx="3977639" cy="2560320"/>
          </a:xfrm>
          <a:prstGeom prst="rect">
            <a:avLst/>
          </a:prstGeom>
          <a:noFill/>
        </p:spPr>
        <p:txBody>
          <a:bodyPr wrap="square">
            <a:spAutoFit/>
          </a:bodyPr>
          <a:lstStyle/>
          <a:p>
            <a:pPr>
              <a:spcBef>
                <a:spcPts val="0"/>
              </a:spcBef>
            </a:pPr>
            <a:r>
              <a:rPr sz="2000" b="1">
                <a:solidFill>
                  <a:srgbClr val="3376C7"/>
                </a:solidFill>
                <a:latin typeface="Arial"/>
              </a:rPr>
              <a:t>Từ bộ điều khiển xuống</a:t>
            </a:r>
          </a:p>
          <a:p>
            <a:pPr>
              <a:spcBef>
                <a:spcPts val="800"/>
              </a:spcBef>
            </a:pPr>
            <a:r>
              <a:rPr sz="1600" b="0">
                <a:solidFill>
                  <a:srgbClr val="1A1A1A"/>
                </a:solidFill>
                <a:latin typeface="Arial"/>
              </a:rPr>
              <a:t>• Bật tắt, đổi độ sáng, đổi màu qua toạ độ XY</a:t>
            </a:r>
          </a:p>
          <a:p>
            <a:pPr>
              <a:spcBef>
                <a:spcPts val="800"/>
              </a:spcBef>
            </a:pPr>
            <a:r>
              <a:rPr sz="1600" b="0">
                <a:solidFill>
                  <a:srgbClr val="1A1A1A"/>
                </a:solidFill>
                <a:latin typeface="Arial"/>
              </a:rPr>
              <a:t>• Lệnh từ fabric 2 phát ra, fabric 3 đọc lại thấy trạng thái mới</a:t>
            </a:r>
          </a:p>
        </p:txBody>
      </p:sp>
      <p:sp>
        <p:nvSpPr>
          <p:cNvPr id="10" name="TextBox 9"/>
          <p:cNvSpPr txBox="1"/>
          <p:nvPr/>
        </p:nvSpPr>
        <p:spPr>
          <a:xfrm>
            <a:off x="4709160" y="3611880"/>
            <a:ext cx="3977639" cy="2560320"/>
          </a:xfrm>
          <a:prstGeom prst="rect">
            <a:avLst/>
          </a:prstGeom>
          <a:noFill/>
        </p:spPr>
        <p:txBody>
          <a:bodyPr wrap="square">
            <a:spAutoFit/>
          </a:bodyPr>
          <a:lstStyle/>
          <a:p>
            <a:pPr>
              <a:spcBef>
                <a:spcPts val="0"/>
              </a:spcBef>
            </a:pPr>
            <a:r>
              <a:rPr sz="2000" b="1">
                <a:solidFill>
                  <a:srgbClr val="3376C7"/>
                </a:solidFill>
                <a:latin typeface="Arial"/>
              </a:rPr>
              <a:t>Từ thiết bị báo lên</a:t>
            </a:r>
          </a:p>
          <a:p>
            <a:pPr>
              <a:spcBef>
                <a:spcPts val="800"/>
              </a:spcBef>
            </a:pPr>
            <a:r>
              <a:rPr sz="1600" b="0">
                <a:solidFill>
                  <a:srgbClr val="1A1A1A"/>
                </a:solidFill>
                <a:latin typeface="Arial"/>
              </a:rPr>
              <a:t>• Nhấn nút vật lý sinh sự kiện Matter, bộ điều khiển nhận được</a:t>
            </a:r>
          </a:p>
          <a:p>
            <a:pPr>
              <a:spcBef>
                <a:spcPts val="800"/>
              </a:spcBef>
            </a:pPr>
            <a:r>
              <a:rPr sz="1600" b="0">
                <a:solidFill>
                  <a:srgbClr val="1A1A1A"/>
                </a:solidFill>
                <a:latin typeface="Arial"/>
              </a:rPr>
              <a:t>• Độ trễ trung bình 30,7 ms — nhanh gấp bốn lần chiều ngược lại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IV. Demo 4 — Khi mất Internet</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sp>
        <p:nvSpPr>
          <p:cNvPr id="8" name="TextBox 7"/>
          <p:cNvSpPr txBox="1"/>
          <p:nvPr/>
        </p:nvSpPr>
        <p:spPr>
          <a:xfrm>
            <a:off x="502920" y="1298448"/>
            <a:ext cx="8138160" cy="914400"/>
          </a:xfrm>
          <a:prstGeom prst="rect">
            <a:avLst/>
          </a:prstGeom>
          <a:noFill/>
        </p:spPr>
        <p:txBody>
          <a:bodyPr wrap="square">
            <a:spAutoFit/>
          </a:bodyPr>
          <a:lstStyle/>
          <a:p>
            <a:pPr>
              <a:spcBef>
                <a:spcPts val="0"/>
              </a:spcBef>
            </a:pPr>
            <a:r>
              <a:rPr sz="1800" b="0">
                <a:solidFill>
                  <a:srgbClr val="1A1A1A"/>
                </a:solidFill>
                <a:latin typeface="Arial"/>
              </a:rPr>
              <a:t>Ngắt kết nối WAN tại bộ định tuyến, giữ nguyên mạng nội bộ. Mỗi chức năng thử hai lượt để phân biệt thứ thực sự mất với thứ vốn đã không chạy.</a:t>
            </a:r>
          </a:p>
        </p:txBody>
      </p:sp>
      <p:graphicFrame>
        <p:nvGraphicFramePr>
          <p:cNvPr id="9" name="Table 8"/>
          <p:cNvGraphicFramePr>
            <a:graphicFrameLocks noGrp="1"/>
          </p:cNvGraphicFramePr>
          <p:nvPr/>
        </p:nvGraphicFramePr>
        <p:xfrm>
          <a:off x="685800" y="2377440"/>
          <a:ext cx="7772400" cy="2651760"/>
        </p:xfrm>
        <a:graphic>
          <a:graphicData uri="http://schemas.openxmlformats.org/drawingml/2006/table">
            <a:tbl>
              <a:tblPr firstRow="1" bandRow="1">
                <a:tableStyleId>{5C22544A-7EE6-4342-B048-85BDC9FD1C3A}</a:tableStyleId>
              </a:tblPr>
              <a:tblGrid>
                <a:gridCol w="39319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41960">
                <a:tc>
                  <a:txBody>
                    <a:bodyPr/>
                    <a:lstStyle/>
                    <a:p>
                      <a:r>
                        <a:rPr sz="1500" b="1">
                          <a:solidFill>
                            <a:srgbClr val="FFFFFF"/>
                          </a:solidFill>
                          <a:latin typeface="Arial"/>
                        </a:rPr>
                        <a:t>Chức năng</a:t>
                      </a:r>
                    </a:p>
                  </a:txBody>
                  <a:tcPr>
                    <a:solidFill>
                      <a:srgbClr val="3376C7"/>
                    </a:solidFill>
                  </a:tcPr>
                </a:tc>
                <a:tc>
                  <a:txBody>
                    <a:bodyPr/>
                    <a:lstStyle/>
                    <a:p>
                      <a:pPr algn="ctr"/>
                      <a:r>
                        <a:rPr sz="1500" b="1">
                          <a:solidFill>
                            <a:srgbClr val="FFFFFF"/>
                          </a:solidFill>
                          <a:latin typeface="Arial"/>
                        </a:rPr>
                        <a:t>Có Internet</a:t>
                      </a:r>
                    </a:p>
                  </a:txBody>
                  <a:tcPr>
                    <a:solidFill>
                      <a:srgbClr val="3376C7"/>
                    </a:solidFill>
                  </a:tcPr>
                </a:tc>
                <a:tc>
                  <a:txBody>
                    <a:bodyPr/>
                    <a:lstStyle/>
                    <a:p>
                      <a:pPr algn="ctr"/>
                      <a:r>
                        <a:rPr sz="1500" b="1">
                          <a:solidFill>
                            <a:srgbClr val="FFFFFF"/>
                          </a:solidFill>
                          <a:latin typeface="Arial"/>
                        </a:rPr>
                        <a:t>Mất Internet</a:t>
                      </a:r>
                    </a:p>
                  </a:txBody>
                  <a:tcPr>
                    <a:solidFill>
                      <a:srgbClr val="3376C7"/>
                    </a:solidFill>
                  </a:tcPr>
                </a:tc>
                <a:extLst>
                  <a:ext uri="{0D108BD9-81ED-4DB2-BD59-A6C34878D82A}">
                    <a16:rowId xmlns:a16="http://schemas.microsoft.com/office/drawing/2014/main" val="10000"/>
                  </a:ext>
                </a:extLst>
              </a:tr>
              <a:tr h="441960">
                <a:tc>
                  <a:txBody>
                    <a:bodyPr/>
                    <a:lstStyle/>
                    <a:p>
                      <a:r>
                        <a:rPr sz="1500" b="0">
                          <a:solidFill>
                            <a:srgbClr val="1A1A1A"/>
                          </a:solidFill>
                          <a:latin typeface="Arial"/>
                        </a:rPr>
                        <a:t>Bật tắt đèn từ Home Assistant</a:t>
                      </a:r>
                    </a:p>
                  </a:txBody>
                  <a:tcPr>
                    <a:solidFill>
                      <a:srgbClr val="ECF2FA"/>
                    </a:solidFill>
                  </a:tcPr>
                </a:tc>
                <a:tc>
                  <a:txBody>
                    <a:bodyPr/>
                    <a:lstStyle/>
                    <a:p>
                      <a:pPr algn="ctr"/>
                      <a:r>
                        <a:rPr sz="1500" b="1">
                          <a:solidFill>
                            <a:srgbClr val="1A1A1A"/>
                          </a:solidFill>
                          <a:latin typeface="Arial"/>
                        </a:rPr>
                        <a:t>Hoạt động</a:t>
                      </a:r>
                    </a:p>
                  </a:txBody>
                  <a:tcPr>
                    <a:solidFill>
                      <a:srgbClr val="ECF2FA"/>
                    </a:solidFill>
                  </a:tcPr>
                </a:tc>
                <a:tc>
                  <a:txBody>
                    <a:bodyPr/>
                    <a:lstStyle/>
                    <a:p>
                      <a:pPr algn="ctr"/>
                      <a:r>
                        <a:rPr sz="1500" b="1">
                          <a:solidFill>
                            <a:srgbClr val="1A1A1A"/>
                          </a:solidFill>
                          <a:latin typeface="Arial"/>
                        </a:rPr>
                        <a:t>Hoạt động</a:t>
                      </a:r>
                    </a:p>
                  </a:txBody>
                  <a:tcPr>
                    <a:solidFill>
                      <a:srgbClr val="ECF2FA"/>
                    </a:solidFill>
                  </a:tcPr>
                </a:tc>
                <a:extLst>
                  <a:ext uri="{0D108BD9-81ED-4DB2-BD59-A6C34878D82A}">
                    <a16:rowId xmlns:a16="http://schemas.microsoft.com/office/drawing/2014/main" val="10001"/>
                  </a:ext>
                </a:extLst>
              </a:tr>
              <a:tr h="441960">
                <a:tc>
                  <a:txBody>
                    <a:bodyPr/>
                    <a:lstStyle/>
                    <a:p>
                      <a:r>
                        <a:rPr sz="1500" b="0">
                          <a:solidFill>
                            <a:srgbClr val="1A1A1A"/>
                          </a:solidFill>
                          <a:latin typeface="Arial"/>
                        </a:rPr>
                        <a:t>Đổi màu đèn từ Home Assistant</a:t>
                      </a:r>
                    </a:p>
                  </a:txBody>
                  <a:tcPr>
                    <a:solidFill>
                      <a:srgbClr val="FFFFFF"/>
                    </a:solidFill>
                  </a:tcPr>
                </a:tc>
                <a:tc>
                  <a:txBody>
                    <a:bodyPr/>
                    <a:lstStyle/>
                    <a:p>
                      <a:pPr algn="ctr"/>
                      <a:r>
                        <a:rPr sz="1500" b="1">
                          <a:solidFill>
                            <a:srgbClr val="1A1A1A"/>
                          </a:solidFill>
                          <a:latin typeface="Arial"/>
                        </a:rPr>
                        <a:t>Hoạt động</a:t>
                      </a:r>
                    </a:p>
                  </a:txBody>
                  <a:tcPr>
                    <a:solidFill>
                      <a:srgbClr val="FFFFFF"/>
                    </a:solidFill>
                  </a:tcPr>
                </a:tc>
                <a:tc>
                  <a:txBody>
                    <a:bodyPr/>
                    <a:lstStyle/>
                    <a:p>
                      <a:pPr algn="ctr"/>
                      <a:r>
                        <a:rPr sz="1500" b="1">
                          <a:solidFill>
                            <a:srgbClr val="1A1A1A"/>
                          </a:solidFill>
                          <a:latin typeface="Arial"/>
                        </a:rPr>
                        <a:t>Hoạt động</a:t>
                      </a:r>
                    </a:p>
                  </a:txBody>
                  <a:tcPr>
                    <a:solidFill>
                      <a:srgbClr val="FFFFFF"/>
                    </a:solidFill>
                  </a:tcPr>
                </a:tc>
                <a:extLst>
                  <a:ext uri="{0D108BD9-81ED-4DB2-BD59-A6C34878D82A}">
                    <a16:rowId xmlns:a16="http://schemas.microsoft.com/office/drawing/2014/main" val="10002"/>
                  </a:ext>
                </a:extLst>
              </a:tr>
              <a:tr h="441960">
                <a:tc>
                  <a:txBody>
                    <a:bodyPr/>
                    <a:lstStyle/>
                    <a:p>
                      <a:r>
                        <a:rPr sz="1500" b="0">
                          <a:solidFill>
                            <a:srgbClr val="1A1A1A"/>
                          </a:solidFill>
                          <a:latin typeface="Arial"/>
                        </a:rPr>
                        <a:t>Điều khiển từ chip-tool (fabric 2)</a:t>
                      </a:r>
                    </a:p>
                  </a:txBody>
                  <a:tcPr>
                    <a:solidFill>
                      <a:srgbClr val="ECF2FA"/>
                    </a:solidFill>
                  </a:tcPr>
                </a:tc>
                <a:tc>
                  <a:txBody>
                    <a:bodyPr/>
                    <a:lstStyle/>
                    <a:p>
                      <a:pPr algn="ctr"/>
                      <a:r>
                        <a:rPr sz="1500" b="1">
                          <a:solidFill>
                            <a:srgbClr val="1A1A1A"/>
                          </a:solidFill>
                          <a:latin typeface="Arial"/>
                        </a:rPr>
                        <a:t>Hoạt động</a:t>
                      </a:r>
                    </a:p>
                  </a:txBody>
                  <a:tcPr>
                    <a:solidFill>
                      <a:srgbClr val="ECF2FA"/>
                    </a:solidFill>
                  </a:tcPr>
                </a:tc>
                <a:tc>
                  <a:txBody>
                    <a:bodyPr/>
                    <a:lstStyle/>
                    <a:p>
                      <a:pPr algn="ctr"/>
                      <a:r>
                        <a:rPr sz="1500" b="1">
                          <a:solidFill>
                            <a:srgbClr val="1A1A1A"/>
                          </a:solidFill>
                          <a:latin typeface="Arial"/>
                        </a:rPr>
                        <a:t>Hoạt động</a:t>
                      </a:r>
                    </a:p>
                  </a:txBody>
                  <a:tcPr>
                    <a:solidFill>
                      <a:srgbClr val="ECF2FA"/>
                    </a:solidFill>
                  </a:tcPr>
                </a:tc>
                <a:extLst>
                  <a:ext uri="{0D108BD9-81ED-4DB2-BD59-A6C34878D82A}">
                    <a16:rowId xmlns:a16="http://schemas.microsoft.com/office/drawing/2014/main" val="10003"/>
                  </a:ext>
                </a:extLst>
              </a:tr>
              <a:tr h="441960">
                <a:tc>
                  <a:txBody>
                    <a:bodyPr/>
                    <a:lstStyle/>
                    <a:p>
                      <a:r>
                        <a:rPr sz="1500" b="0">
                          <a:solidFill>
                            <a:srgbClr val="1A1A1A"/>
                          </a:solidFill>
                          <a:latin typeface="Arial"/>
                        </a:rPr>
                        <a:t>Đồng bộ trạng thái giữa các fabric</a:t>
                      </a:r>
                    </a:p>
                  </a:txBody>
                  <a:tcPr>
                    <a:solidFill>
                      <a:srgbClr val="FFFFFF"/>
                    </a:solidFill>
                  </a:tcPr>
                </a:tc>
                <a:tc>
                  <a:txBody>
                    <a:bodyPr/>
                    <a:lstStyle/>
                    <a:p>
                      <a:pPr algn="ctr"/>
                      <a:r>
                        <a:rPr sz="1500" b="1">
                          <a:solidFill>
                            <a:srgbClr val="1A1A1A"/>
                          </a:solidFill>
                          <a:latin typeface="Arial"/>
                        </a:rPr>
                        <a:t>Hoạt động</a:t>
                      </a:r>
                    </a:p>
                  </a:txBody>
                  <a:tcPr>
                    <a:solidFill>
                      <a:srgbClr val="FFFFFF"/>
                    </a:solidFill>
                  </a:tcPr>
                </a:tc>
                <a:tc>
                  <a:txBody>
                    <a:bodyPr/>
                    <a:lstStyle/>
                    <a:p>
                      <a:pPr algn="ctr"/>
                      <a:r>
                        <a:rPr sz="1500" b="1">
                          <a:solidFill>
                            <a:srgbClr val="1A1A1A"/>
                          </a:solidFill>
                          <a:latin typeface="Arial"/>
                        </a:rPr>
                        <a:t>Hoạt động</a:t>
                      </a:r>
                    </a:p>
                  </a:txBody>
                  <a:tcPr>
                    <a:solidFill>
                      <a:srgbClr val="FFFFFF"/>
                    </a:solidFill>
                  </a:tcPr>
                </a:tc>
                <a:extLst>
                  <a:ext uri="{0D108BD9-81ED-4DB2-BD59-A6C34878D82A}">
                    <a16:rowId xmlns:a16="http://schemas.microsoft.com/office/drawing/2014/main" val="10004"/>
                  </a:ext>
                </a:extLst>
              </a:tr>
              <a:tr h="441960">
                <a:tc>
                  <a:txBody>
                    <a:bodyPr/>
                    <a:lstStyle/>
                    <a:p>
                      <a:r>
                        <a:rPr sz="1500" b="0">
                          <a:solidFill>
                            <a:srgbClr val="1A1A1A"/>
                          </a:solidFill>
                          <a:latin typeface="Arial"/>
                        </a:rPr>
                        <a:t>Truy cập Home Assistant từ ngoài mạng</a:t>
                      </a:r>
                    </a:p>
                  </a:txBody>
                  <a:tcPr>
                    <a:solidFill>
                      <a:srgbClr val="ECF2FA"/>
                    </a:solidFill>
                  </a:tcPr>
                </a:tc>
                <a:tc>
                  <a:txBody>
                    <a:bodyPr/>
                    <a:lstStyle/>
                    <a:p>
                      <a:pPr algn="ctr"/>
                      <a:r>
                        <a:rPr sz="1500" b="1">
                          <a:solidFill>
                            <a:srgbClr val="1A1A1A"/>
                          </a:solidFill>
                          <a:latin typeface="Arial"/>
                        </a:rPr>
                        <a:t>Hoạt động</a:t>
                      </a:r>
                    </a:p>
                  </a:txBody>
                  <a:tcPr>
                    <a:solidFill>
                      <a:srgbClr val="ECF2FA"/>
                    </a:solidFill>
                  </a:tcPr>
                </a:tc>
                <a:tc>
                  <a:txBody>
                    <a:bodyPr/>
                    <a:lstStyle/>
                    <a:p>
                      <a:pPr algn="ctr"/>
                      <a:r>
                        <a:rPr sz="1500" b="1">
                          <a:solidFill>
                            <a:srgbClr val="C0392B"/>
                          </a:solidFill>
                          <a:latin typeface="Arial"/>
                        </a:rPr>
                        <a:t>Mất</a:t>
                      </a:r>
                    </a:p>
                  </a:txBody>
                  <a:tcPr>
                    <a:solidFill>
                      <a:srgbClr val="ECF2FA"/>
                    </a:solidFill>
                  </a:tcPr>
                </a:tc>
                <a:extLst>
                  <a:ext uri="{0D108BD9-81ED-4DB2-BD59-A6C34878D82A}">
                    <a16:rowId xmlns:a16="http://schemas.microsoft.com/office/drawing/2014/main" val="10005"/>
                  </a:ext>
                </a:extLst>
              </a:tr>
            </a:tbl>
          </a:graphicData>
        </a:graphic>
      </p:graphicFrame>
      <p:sp>
        <p:nvSpPr>
          <p:cNvPr id="10" name="TextBox 9"/>
          <p:cNvSpPr txBox="1"/>
          <p:nvPr/>
        </p:nvSpPr>
        <p:spPr>
          <a:xfrm>
            <a:off x="685800" y="5257800"/>
            <a:ext cx="7772400" cy="822960"/>
          </a:xfrm>
          <a:prstGeom prst="rect">
            <a:avLst/>
          </a:prstGeom>
          <a:noFill/>
        </p:spPr>
        <p:txBody>
          <a:bodyPr wrap="square">
            <a:spAutoFit/>
          </a:bodyPr>
          <a:lstStyle/>
          <a:p>
            <a:pPr>
              <a:spcBef>
                <a:spcPts val="0"/>
              </a:spcBef>
            </a:pPr>
            <a:r>
              <a:rPr sz="1800" b="1">
                <a:solidFill>
                  <a:srgbClr val="3376C7"/>
                </a:solidFill>
                <a:latin typeface="Arial"/>
              </a:rPr>
              <a:t>Thứ mất đi là truy cập từ xa — vốn dĩ đi qua Internet theo đúng thiết kế. Một hệ thống phụ thuộc đám mây sẽ mất cả hai.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IV. Kết quả đo</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graphicFrame>
        <p:nvGraphicFramePr>
          <p:cNvPr id="8" name="Table 7"/>
          <p:cNvGraphicFramePr>
            <a:graphicFrameLocks noGrp="1"/>
          </p:cNvGraphicFramePr>
          <p:nvPr>
            <p:extLst>
              <p:ext uri="{D42A27DB-BD31-4B8C-83A1-F6EECF244321}">
                <p14:modId xmlns:p14="http://schemas.microsoft.com/office/powerpoint/2010/main" val="1077608850"/>
              </p:ext>
            </p:extLst>
          </p:nvPr>
        </p:nvGraphicFramePr>
        <p:xfrm>
          <a:off x="548640" y="1371600"/>
          <a:ext cx="8046720" cy="420624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389120">
                  <a:extLst>
                    <a:ext uri="{9D8B030D-6E8A-4147-A177-3AD203B41FA5}">
                      <a16:colId xmlns:a16="http://schemas.microsoft.com/office/drawing/2014/main" val="20001"/>
                    </a:ext>
                  </a:extLst>
                </a:gridCol>
              </a:tblGrid>
              <a:tr h="525780">
                <a:tc>
                  <a:txBody>
                    <a:bodyPr/>
                    <a:lstStyle/>
                    <a:p>
                      <a:pPr algn="ctr"/>
                      <a:r>
                        <a:rPr sz="1500" b="1">
                          <a:solidFill>
                            <a:srgbClr val="FFFFFF"/>
                          </a:solidFill>
                          <a:latin typeface="Arial"/>
                        </a:rPr>
                        <a:t>Phép đo</a:t>
                      </a:r>
                    </a:p>
                  </a:txBody>
                  <a:tcPr>
                    <a:solidFill>
                      <a:srgbClr val="3376C7"/>
                    </a:solidFill>
                  </a:tcPr>
                </a:tc>
                <a:tc>
                  <a:txBody>
                    <a:bodyPr/>
                    <a:lstStyle/>
                    <a:p>
                      <a:pPr algn="ctr"/>
                      <a:r>
                        <a:rPr sz="1500" b="1" dirty="0" err="1">
                          <a:solidFill>
                            <a:srgbClr val="FFFFFF"/>
                          </a:solidFill>
                          <a:latin typeface="Arial"/>
                        </a:rPr>
                        <a:t>Kết</a:t>
                      </a:r>
                      <a:r>
                        <a:rPr sz="1500" b="1" dirty="0">
                          <a:solidFill>
                            <a:srgbClr val="FFFFFF"/>
                          </a:solidFill>
                          <a:latin typeface="Arial"/>
                        </a:rPr>
                        <a:t> </a:t>
                      </a:r>
                      <a:r>
                        <a:rPr sz="1500" b="1" dirty="0" err="1">
                          <a:solidFill>
                            <a:srgbClr val="FFFFFF"/>
                          </a:solidFill>
                          <a:latin typeface="Arial"/>
                        </a:rPr>
                        <a:t>quả</a:t>
                      </a:r>
                      <a:endParaRPr sz="1500" b="1" dirty="0">
                        <a:solidFill>
                          <a:srgbClr val="FFFFFF"/>
                        </a:solidFill>
                        <a:latin typeface="Arial"/>
                      </a:endParaRPr>
                    </a:p>
                  </a:txBody>
                  <a:tcPr>
                    <a:solidFill>
                      <a:srgbClr val="3376C7"/>
                    </a:solidFill>
                  </a:tcPr>
                </a:tc>
                <a:extLst>
                  <a:ext uri="{0D108BD9-81ED-4DB2-BD59-A6C34878D82A}">
                    <a16:rowId xmlns:a16="http://schemas.microsoft.com/office/drawing/2014/main" val="10000"/>
                  </a:ext>
                </a:extLst>
              </a:tr>
              <a:tr h="525780">
                <a:tc>
                  <a:txBody>
                    <a:bodyPr/>
                    <a:lstStyle/>
                    <a:p>
                      <a:r>
                        <a:rPr sz="1500" b="0">
                          <a:solidFill>
                            <a:srgbClr val="1A1A1A"/>
                          </a:solidFill>
                          <a:latin typeface="Arial"/>
                        </a:rPr>
                        <a:t>Ghép nối lặp lại 10 lần</a:t>
                      </a:r>
                    </a:p>
                  </a:txBody>
                  <a:tcPr>
                    <a:solidFill>
                      <a:srgbClr val="ECF2FA"/>
                    </a:solidFill>
                  </a:tcPr>
                </a:tc>
                <a:tc>
                  <a:txBody>
                    <a:bodyPr/>
                    <a:lstStyle/>
                    <a:p>
                      <a:r>
                        <a:rPr sz="1500" b="0">
                          <a:solidFill>
                            <a:srgbClr val="1A1A1A"/>
                          </a:solidFill>
                          <a:latin typeface="Arial"/>
                        </a:rPr>
                        <a:t>10/10 thành công, trung bình 4,46 s</a:t>
                      </a:r>
                    </a:p>
                  </a:txBody>
                  <a:tcPr>
                    <a:solidFill>
                      <a:srgbClr val="ECF2FA"/>
                    </a:solidFill>
                  </a:tcPr>
                </a:tc>
                <a:extLst>
                  <a:ext uri="{0D108BD9-81ED-4DB2-BD59-A6C34878D82A}">
                    <a16:rowId xmlns:a16="http://schemas.microsoft.com/office/drawing/2014/main" val="10001"/>
                  </a:ext>
                </a:extLst>
              </a:tr>
              <a:tr h="525780">
                <a:tc>
                  <a:txBody>
                    <a:bodyPr/>
                    <a:lstStyle/>
                    <a:p>
                      <a:r>
                        <a:rPr sz="1500" b="0">
                          <a:solidFill>
                            <a:srgbClr val="1A1A1A"/>
                          </a:solidFill>
                          <a:latin typeface="Arial"/>
                        </a:rPr>
                        <a:t>Số fabric đồng thời</a:t>
                      </a:r>
                    </a:p>
                  </a:txBody>
                  <a:tcPr>
                    <a:solidFill>
                      <a:srgbClr val="FFFFFF"/>
                    </a:solidFill>
                  </a:tcPr>
                </a:tc>
                <a:tc>
                  <a:txBody>
                    <a:bodyPr/>
                    <a:lstStyle/>
                    <a:p>
                      <a:r>
                        <a:rPr sz="1500" b="0">
                          <a:solidFill>
                            <a:srgbClr val="1A1A1A"/>
                          </a:solidFill>
                          <a:latin typeface="Arial"/>
                        </a:rPr>
                        <a:t>5 — đúng giới hạn thiết bị khai báo</a:t>
                      </a:r>
                    </a:p>
                  </a:txBody>
                  <a:tcPr>
                    <a:solidFill>
                      <a:srgbClr val="FFFFFF"/>
                    </a:solidFill>
                  </a:tcPr>
                </a:tc>
                <a:extLst>
                  <a:ext uri="{0D108BD9-81ED-4DB2-BD59-A6C34878D82A}">
                    <a16:rowId xmlns:a16="http://schemas.microsoft.com/office/drawing/2014/main" val="10002"/>
                  </a:ext>
                </a:extLst>
              </a:tr>
              <a:tr h="525780">
                <a:tc>
                  <a:txBody>
                    <a:bodyPr/>
                    <a:lstStyle/>
                    <a:p>
                      <a:r>
                        <a:rPr sz="1500" b="0">
                          <a:solidFill>
                            <a:srgbClr val="1A1A1A"/>
                          </a:solidFill>
                          <a:latin typeface="Arial"/>
                        </a:rPr>
                        <a:t>Độ trễ điều khiển (chip-tool / HA)</a:t>
                      </a:r>
                    </a:p>
                  </a:txBody>
                  <a:tcPr>
                    <a:solidFill>
                      <a:srgbClr val="ECF2FA"/>
                    </a:solidFill>
                  </a:tcPr>
                </a:tc>
                <a:tc>
                  <a:txBody>
                    <a:bodyPr/>
                    <a:lstStyle/>
                    <a:p>
                      <a:r>
                        <a:rPr sz="1500" b="0">
                          <a:solidFill>
                            <a:srgbClr val="1A1A1A"/>
                          </a:solidFill>
                          <a:latin typeface="Arial"/>
                        </a:rPr>
                        <a:t>133,4 ms / 147,0 ms</a:t>
                      </a:r>
                    </a:p>
                  </a:txBody>
                  <a:tcPr>
                    <a:solidFill>
                      <a:srgbClr val="ECF2FA"/>
                    </a:solidFill>
                  </a:tcPr>
                </a:tc>
                <a:extLst>
                  <a:ext uri="{0D108BD9-81ED-4DB2-BD59-A6C34878D82A}">
                    <a16:rowId xmlns:a16="http://schemas.microsoft.com/office/drawing/2014/main" val="10003"/>
                  </a:ext>
                </a:extLst>
              </a:tr>
              <a:tr h="525780">
                <a:tc>
                  <a:txBody>
                    <a:bodyPr/>
                    <a:lstStyle/>
                    <a:p>
                      <a:r>
                        <a:rPr sz="1500" b="0">
                          <a:solidFill>
                            <a:srgbClr val="1A1A1A"/>
                          </a:solidFill>
                          <a:latin typeface="Arial"/>
                        </a:rPr>
                        <a:t>Độ trễ sự kiện từ nút vật lý</a:t>
                      </a:r>
                    </a:p>
                  </a:txBody>
                  <a:tcPr>
                    <a:solidFill>
                      <a:srgbClr val="FFFFFF"/>
                    </a:solidFill>
                  </a:tcPr>
                </a:tc>
                <a:tc>
                  <a:txBody>
                    <a:bodyPr/>
                    <a:lstStyle/>
                    <a:p>
                      <a:r>
                        <a:rPr sz="1500" b="0">
                          <a:solidFill>
                            <a:srgbClr val="1A1A1A"/>
                          </a:solidFill>
                          <a:latin typeface="Arial"/>
                        </a:rPr>
                        <a:t>30,7 ms — nhanh gấp 4 lần</a:t>
                      </a:r>
                    </a:p>
                  </a:txBody>
                  <a:tcPr>
                    <a:solidFill>
                      <a:srgbClr val="FFFFFF"/>
                    </a:solidFill>
                  </a:tcPr>
                </a:tc>
                <a:extLst>
                  <a:ext uri="{0D108BD9-81ED-4DB2-BD59-A6C34878D82A}">
                    <a16:rowId xmlns:a16="http://schemas.microsoft.com/office/drawing/2014/main" val="10004"/>
                  </a:ext>
                </a:extLst>
              </a:tr>
              <a:tr h="525780">
                <a:tc>
                  <a:txBody>
                    <a:bodyPr/>
                    <a:lstStyle/>
                    <a:p>
                      <a:r>
                        <a:rPr sz="1500" b="0">
                          <a:solidFill>
                            <a:srgbClr val="1A1A1A"/>
                          </a:solidFill>
                          <a:latin typeface="Arial"/>
                        </a:rPr>
                        <a:t>Chạy liên tục 6 giờ, 7 mốc đo</a:t>
                      </a:r>
                    </a:p>
                  </a:txBody>
                  <a:tcPr>
                    <a:solidFill>
                      <a:srgbClr val="ECF2FA"/>
                    </a:solidFill>
                  </a:tcPr>
                </a:tc>
                <a:tc>
                  <a:txBody>
                    <a:bodyPr/>
                    <a:lstStyle/>
                    <a:p>
                      <a:r>
                        <a:rPr sz="1500" b="0">
                          <a:solidFill>
                            <a:srgbClr val="1A1A1A"/>
                          </a:solidFill>
                          <a:latin typeface="Arial"/>
                        </a:rPr>
                        <a:t>7/7 lệnh thành công, không khởi động lại lần nào</a:t>
                      </a:r>
                    </a:p>
                  </a:txBody>
                  <a:tcPr>
                    <a:solidFill>
                      <a:srgbClr val="ECF2FA"/>
                    </a:solidFill>
                  </a:tcPr>
                </a:tc>
                <a:extLst>
                  <a:ext uri="{0D108BD9-81ED-4DB2-BD59-A6C34878D82A}">
                    <a16:rowId xmlns:a16="http://schemas.microsoft.com/office/drawing/2014/main" val="10005"/>
                  </a:ext>
                </a:extLst>
              </a:tr>
              <a:tr h="525780">
                <a:tc>
                  <a:txBody>
                    <a:bodyPr/>
                    <a:lstStyle/>
                    <a:p>
                      <a:r>
                        <a:rPr sz="1500" b="0">
                          <a:solidFill>
                            <a:srgbClr val="1A1A1A"/>
                          </a:solidFill>
                          <a:latin typeface="Arial"/>
                        </a:rPr>
                        <a:t>Vùng phủ sóng, 6 vị trí</a:t>
                      </a:r>
                    </a:p>
                  </a:txBody>
                  <a:tcPr>
                    <a:solidFill>
                      <a:srgbClr val="FFFFFF"/>
                    </a:solidFill>
                  </a:tcPr>
                </a:tc>
                <a:tc>
                  <a:txBody>
                    <a:bodyPr/>
                    <a:lstStyle/>
                    <a:p>
                      <a:r>
                        <a:rPr sz="1500" b="0">
                          <a:solidFill>
                            <a:srgbClr val="1A1A1A"/>
                          </a:solidFill>
                          <a:latin typeface="Arial"/>
                        </a:rPr>
                        <a:t>59/60 lệnh thành công, −25 đến −68 dBm</a:t>
                      </a:r>
                    </a:p>
                  </a:txBody>
                  <a:tcPr>
                    <a:solidFill>
                      <a:srgbClr val="FFFFFF"/>
                    </a:solidFill>
                  </a:tcPr>
                </a:tc>
                <a:extLst>
                  <a:ext uri="{0D108BD9-81ED-4DB2-BD59-A6C34878D82A}">
                    <a16:rowId xmlns:a16="http://schemas.microsoft.com/office/drawing/2014/main" val="10006"/>
                  </a:ext>
                </a:extLst>
              </a:tr>
              <a:tr h="525780">
                <a:tc>
                  <a:txBody>
                    <a:bodyPr/>
                    <a:lstStyle/>
                    <a:p>
                      <a:r>
                        <a:rPr sz="1500" b="0">
                          <a:solidFill>
                            <a:srgbClr val="1A1A1A"/>
                          </a:solidFill>
                          <a:latin typeface="Arial"/>
                        </a:rPr>
                        <a:t>Bộ nhớ firmware</a:t>
                      </a:r>
                    </a:p>
                  </a:txBody>
                  <a:tcPr>
                    <a:solidFill>
                      <a:srgbClr val="ECF2FA"/>
                    </a:solidFill>
                  </a:tcPr>
                </a:tc>
                <a:tc>
                  <a:txBody>
                    <a:bodyPr/>
                    <a:lstStyle/>
                    <a:p>
                      <a:r>
                        <a:rPr sz="1500" b="0" dirty="0">
                          <a:solidFill>
                            <a:srgbClr val="1A1A1A"/>
                          </a:solidFill>
                          <a:latin typeface="Arial"/>
                        </a:rPr>
                        <a:t>1,83 MB, </a:t>
                      </a:r>
                      <a:r>
                        <a:rPr sz="1500" b="0" dirty="0" err="1">
                          <a:solidFill>
                            <a:srgbClr val="1A1A1A"/>
                          </a:solidFill>
                          <a:latin typeface="Arial"/>
                        </a:rPr>
                        <a:t>chiếm</a:t>
                      </a:r>
                      <a:r>
                        <a:rPr sz="1500" b="0" dirty="0">
                          <a:solidFill>
                            <a:srgbClr val="1A1A1A"/>
                          </a:solidFill>
                          <a:latin typeface="Arial"/>
                        </a:rPr>
                        <a:t> 93,2% </a:t>
                      </a:r>
                      <a:r>
                        <a:rPr sz="1500" b="0" dirty="0" err="1">
                          <a:solidFill>
                            <a:srgbClr val="1A1A1A"/>
                          </a:solidFill>
                          <a:latin typeface="Arial"/>
                        </a:rPr>
                        <a:t>phân</a:t>
                      </a:r>
                      <a:r>
                        <a:rPr sz="1500" b="0" dirty="0">
                          <a:solidFill>
                            <a:srgbClr val="1A1A1A"/>
                          </a:solidFill>
                          <a:latin typeface="Arial"/>
                        </a:rPr>
                        <a:t> </a:t>
                      </a:r>
                      <a:r>
                        <a:rPr sz="1500" b="0" dirty="0" err="1">
                          <a:solidFill>
                            <a:srgbClr val="1A1A1A"/>
                          </a:solidFill>
                          <a:latin typeface="Arial"/>
                        </a:rPr>
                        <a:t>vùng</a:t>
                      </a:r>
                      <a:r>
                        <a:rPr sz="1500" b="0" dirty="0">
                          <a:solidFill>
                            <a:srgbClr val="1A1A1A"/>
                          </a:solidFill>
                          <a:latin typeface="Arial"/>
                        </a:rPr>
                        <a:t> </a:t>
                      </a:r>
                      <a:r>
                        <a:rPr sz="1500" b="0" dirty="0" err="1">
                          <a:solidFill>
                            <a:srgbClr val="1A1A1A"/>
                          </a:solidFill>
                          <a:latin typeface="Arial"/>
                        </a:rPr>
                        <a:t>ứng</a:t>
                      </a:r>
                      <a:r>
                        <a:rPr sz="1500" b="0" dirty="0">
                          <a:solidFill>
                            <a:srgbClr val="1A1A1A"/>
                          </a:solidFill>
                          <a:latin typeface="Arial"/>
                        </a:rPr>
                        <a:t> </a:t>
                      </a:r>
                      <a:r>
                        <a:rPr sz="1500" b="0" dirty="0" err="1">
                          <a:solidFill>
                            <a:srgbClr val="1A1A1A"/>
                          </a:solidFill>
                          <a:latin typeface="Arial"/>
                        </a:rPr>
                        <a:t>dụng</a:t>
                      </a:r>
                      <a:endParaRPr sz="1500" b="0" dirty="0">
                        <a:solidFill>
                          <a:srgbClr val="1A1A1A"/>
                        </a:solidFill>
                        <a:latin typeface="Arial"/>
                      </a:endParaRPr>
                    </a:p>
                  </a:txBody>
                  <a:tcPr>
                    <a:solidFill>
                      <a:srgbClr val="ECF2FA"/>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V. Kết luận</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sp>
        <p:nvSpPr>
          <p:cNvPr id="8" name="TextBox 7"/>
          <p:cNvSpPr txBox="1"/>
          <p:nvPr/>
        </p:nvSpPr>
        <p:spPr>
          <a:xfrm>
            <a:off x="502920" y="1298448"/>
            <a:ext cx="8138160" cy="2913618"/>
          </a:xfrm>
          <a:prstGeom prst="rect">
            <a:avLst/>
          </a:prstGeom>
          <a:noFill/>
        </p:spPr>
        <p:txBody>
          <a:bodyPr wrap="square">
            <a:spAutoFit/>
          </a:bodyPr>
          <a:lstStyle/>
          <a:p>
            <a:pPr>
              <a:spcBef>
                <a:spcPts val="0"/>
              </a:spcBef>
            </a:pPr>
            <a:r>
              <a:rPr sz="2400" b="1" dirty="0" err="1">
                <a:solidFill>
                  <a:srgbClr val="1A1A1A"/>
                </a:solidFill>
                <a:latin typeface="Arial"/>
              </a:rPr>
              <a:t>Đã</a:t>
            </a:r>
            <a:r>
              <a:rPr sz="2400" b="1" dirty="0">
                <a:solidFill>
                  <a:srgbClr val="1A1A1A"/>
                </a:solidFill>
                <a:latin typeface="Arial"/>
              </a:rPr>
              <a:t> </a:t>
            </a:r>
            <a:r>
              <a:rPr sz="2400" b="1" dirty="0" err="1">
                <a:solidFill>
                  <a:srgbClr val="1A1A1A"/>
                </a:solidFill>
                <a:latin typeface="Arial"/>
              </a:rPr>
              <a:t>làm</a:t>
            </a:r>
            <a:r>
              <a:rPr sz="2400" b="1" dirty="0">
                <a:solidFill>
                  <a:srgbClr val="1A1A1A"/>
                </a:solidFill>
                <a:latin typeface="Arial"/>
              </a:rPr>
              <a:t> </a:t>
            </a:r>
            <a:r>
              <a:rPr sz="2400" b="1" dirty="0" err="1">
                <a:solidFill>
                  <a:srgbClr val="1A1A1A"/>
                </a:solidFill>
                <a:latin typeface="Arial"/>
              </a:rPr>
              <a:t>được</a:t>
            </a:r>
            <a:endParaRPr sz="2400" b="1" dirty="0">
              <a:solidFill>
                <a:srgbClr val="1A1A1A"/>
              </a:solidFill>
              <a:latin typeface="Arial"/>
            </a:endParaRPr>
          </a:p>
          <a:p>
            <a:pPr>
              <a:spcBef>
                <a:spcPts val="1000"/>
              </a:spcBef>
            </a:pPr>
            <a:r>
              <a:rPr sz="1800" b="0" dirty="0">
                <a:solidFill>
                  <a:srgbClr val="1A1A1A"/>
                </a:solidFill>
                <a:latin typeface="Arial"/>
              </a:rPr>
              <a:t>• </a:t>
            </a:r>
            <a:r>
              <a:rPr sz="1800" b="0" dirty="0" err="1">
                <a:solidFill>
                  <a:srgbClr val="1A1A1A"/>
                </a:solidFill>
                <a:latin typeface="Arial"/>
              </a:rPr>
              <a:t>Hệ</a:t>
            </a:r>
            <a:r>
              <a:rPr sz="1800" b="0" dirty="0">
                <a:solidFill>
                  <a:srgbClr val="1A1A1A"/>
                </a:solidFill>
                <a:latin typeface="Arial"/>
              </a:rPr>
              <a:t> </a:t>
            </a:r>
            <a:r>
              <a:rPr sz="1800" b="0" dirty="0" err="1">
                <a:solidFill>
                  <a:srgbClr val="1A1A1A"/>
                </a:solidFill>
                <a:latin typeface="Arial"/>
              </a:rPr>
              <a:t>thống</a:t>
            </a:r>
            <a:r>
              <a:rPr sz="1800" b="0" dirty="0">
                <a:solidFill>
                  <a:srgbClr val="1A1A1A"/>
                </a:solidFill>
                <a:latin typeface="Arial"/>
              </a:rPr>
              <a:t> Matter </a:t>
            </a:r>
            <a:r>
              <a:rPr sz="1800" b="0" dirty="0" err="1">
                <a:solidFill>
                  <a:srgbClr val="1A1A1A"/>
                </a:solidFill>
                <a:latin typeface="Arial"/>
              </a:rPr>
              <a:t>hoàn</a:t>
            </a:r>
            <a:r>
              <a:rPr sz="1800" b="0" dirty="0">
                <a:solidFill>
                  <a:srgbClr val="1A1A1A"/>
                </a:solidFill>
                <a:latin typeface="Arial"/>
              </a:rPr>
              <a:t> </a:t>
            </a:r>
            <a:r>
              <a:rPr sz="1800" b="0" dirty="0" err="1">
                <a:solidFill>
                  <a:srgbClr val="1A1A1A"/>
                </a:solidFill>
                <a:latin typeface="Arial"/>
              </a:rPr>
              <a:t>chỉnh</a:t>
            </a:r>
            <a:r>
              <a:rPr sz="1800" b="0" dirty="0">
                <a:solidFill>
                  <a:srgbClr val="1A1A1A"/>
                </a:solidFill>
                <a:latin typeface="Arial"/>
              </a:rPr>
              <a:t> </a:t>
            </a:r>
            <a:r>
              <a:rPr sz="1800" b="0" dirty="0" err="1">
                <a:solidFill>
                  <a:srgbClr val="1A1A1A"/>
                </a:solidFill>
                <a:latin typeface="Arial"/>
              </a:rPr>
              <a:t>chạy</a:t>
            </a:r>
            <a:r>
              <a:rPr sz="1800" b="0" dirty="0">
                <a:solidFill>
                  <a:srgbClr val="1A1A1A"/>
                </a:solidFill>
                <a:latin typeface="Arial"/>
              </a:rPr>
              <a:t> </a:t>
            </a:r>
            <a:r>
              <a:rPr sz="1800" b="0" dirty="0" err="1">
                <a:solidFill>
                  <a:srgbClr val="1A1A1A"/>
                </a:solidFill>
                <a:latin typeface="Arial"/>
              </a:rPr>
              <a:t>trên</a:t>
            </a:r>
            <a:r>
              <a:rPr sz="1800" b="0" dirty="0">
                <a:solidFill>
                  <a:srgbClr val="1A1A1A"/>
                </a:solidFill>
                <a:latin typeface="Arial"/>
              </a:rPr>
              <a:t> </a:t>
            </a:r>
            <a:r>
              <a:rPr sz="1800" b="0" dirty="0" err="1">
                <a:solidFill>
                  <a:srgbClr val="1A1A1A"/>
                </a:solidFill>
                <a:latin typeface="Arial"/>
              </a:rPr>
              <a:t>phần</a:t>
            </a:r>
            <a:r>
              <a:rPr sz="1800" b="0" dirty="0">
                <a:solidFill>
                  <a:srgbClr val="1A1A1A"/>
                </a:solidFill>
                <a:latin typeface="Arial"/>
              </a:rPr>
              <a:t> </a:t>
            </a:r>
            <a:r>
              <a:rPr sz="1800" b="0" dirty="0" err="1">
                <a:solidFill>
                  <a:srgbClr val="1A1A1A"/>
                </a:solidFill>
                <a:latin typeface="Arial"/>
              </a:rPr>
              <a:t>cứng</a:t>
            </a:r>
            <a:r>
              <a:rPr sz="1800" b="0" dirty="0">
                <a:solidFill>
                  <a:srgbClr val="1A1A1A"/>
                </a:solidFill>
                <a:latin typeface="Arial"/>
              </a:rPr>
              <a:t> </a:t>
            </a:r>
            <a:r>
              <a:rPr sz="1800" b="0" dirty="0" err="1">
                <a:solidFill>
                  <a:srgbClr val="1A1A1A"/>
                </a:solidFill>
                <a:latin typeface="Arial"/>
              </a:rPr>
              <a:t>thật</a:t>
            </a:r>
            <a:r>
              <a:rPr sz="1800" b="0" dirty="0">
                <a:solidFill>
                  <a:srgbClr val="1A1A1A"/>
                </a:solidFill>
                <a:latin typeface="Arial"/>
              </a:rPr>
              <a:t>: </a:t>
            </a:r>
            <a:r>
              <a:rPr sz="1800" b="0" dirty="0" err="1">
                <a:solidFill>
                  <a:srgbClr val="1A1A1A"/>
                </a:solidFill>
                <a:latin typeface="Arial"/>
              </a:rPr>
              <a:t>thiết</a:t>
            </a:r>
            <a:r>
              <a:rPr sz="1800" b="0" dirty="0">
                <a:solidFill>
                  <a:srgbClr val="1A1A1A"/>
                </a:solidFill>
                <a:latin typeface="Arial"/>
              </a:rPr>
              <a:t> </a:t>
            </a:r>
            <a:r>
              <a:rPr sz="1800" b="0" dirty="0" err="1">
                <a:solidFill>
                  <a:srgbClr val="1A1A1A"/>
                </a:solidFill>
                <a:latin typeface="Arial"/>
              </a:rPr>
              <a:t>bị</a:t>
            </a:r>
            <a:r>
              <a:rPr sz="1800" b="0" dirty="0">
                <a:solidFill>
                  <a:srgbClr val="1A1A1A"/>
                </a:solidFill>
                <a:latin typeface="Arial"/>
              </a:rPr>
              <a:t> ESP32-C6, </a:t>
            </a:r>
            <a:r>
              <a:rPr sz="1800" b="0" dirty="0" err="1">
                <a:solidFill>
                  <a:srgbClr val="1A1A1A"/>
                </a:solidFill>
                <a:latin typeface="Arial"/>
              </a:rPr>
              <a:t>bộ</a:t>
            </a:r>
            <a:r>
              <a:rPr sz="1800" b="0" dirty="0">
                <a:solidFill>
                  <a:srgbClr val="1A1A1A"/>
                </a:solidFill>
                <a:latin typeface="Arial"/>
              </a:rPr>
              <a:t> </a:t>
            </a:r>
            <a:r>
              <a:rPr sz="1800" b="0" dirty="0" err="1">
                <a:solidFill>
                  <a:srgbClr val="1A1A1A"/>
                </a:solidFill>
                <a:latin typeface="Arial"/>
              </a:rPr>
              <a:t>điều</a:t>
            </a:r>
            <a:r>
              <a:rPr sz="1800" b="0" dirty="0">
                <a:solidFill>
                  <a:srgbClr val="1A1A1A"/>
                </a:solidFill>
                <a:latin typeface="Arial"/>
              </a:rPr>
              <a:t> </a:t>
            </a:r>
            <a:r>
              <a:rPr sz="1800" b="0" dirty="0" err="1">
                <a:solidFill>
                  <a:srgbClr val="1A1A1A"/>
                </a:solidFill>
                <a:latin typeface="Arial"/>
              </a:rPr>
              <a:t>khiển</a:t>
            </a:r>
            <a:r>
              <a:rPr sz="1800" b="0" dirty="0">
                <a:solidFill>
                  <a:srgbClr val="1A1A1A"/>
                </a:solidFill>
                <a:latin typeface="Arial"/>
              </a:rPr>
              <a:t> Raspberry Pi, </a:t>
            </a:r>
            <a:r>
              <a:rPr sz="1800" b="0" dirty="0" err="1">
                <a:solidFill>
                  <a:srgbClr val="1A1A1A"/>
                </a:solidFill>
                <a:latin typeface="Arial"/>
              </a:rPr>
              <a:t>mạng</a:t>
            </a:r>
            <a:r>
              <a:rPr sz="1800" b="0" dirty="0">
                <a:solidFill>
                  <a:srgbClr val="1A1A1A"/>
                </a:solidFill>
                <a:latin typeface="Arial"/>
              </a:rPr>
              <a:t> IPv6 </a:t>
            </a:r>
            <a:r>
              <a:rPr sz="1800" b="0" dirty="0" err="1">
                <a:solidFill>
                  <a:srgbClr val="1A1A1A"/>
                </a:solidFill>
                <a:latin typeface="Arial"/>
              </a:rPr>
              <a:t>với</a:t>
            </a:r>
            <a:r>
              <a:rPr sz="1800" b="0" dirty="0">
                <a:solidFill>
                  <a:srgbClr val="1A1A1A"/>
                </a:solidFill>
                <a:latin typeface="Arial"/>
              </a:rPr>
              <a:t> </a:t>
            </a:r>
            <a:r>
              <a:rPr sz="1800" b="0" dirty="0" err="1">
                <a:solidFill>
                  <a:srgbClr val="1A1A1A"/>
                </a:solidFill>
                <a:latin typeface="Arial"/>
              </a:rPr>
              <a:t>mDNS</a:t>
            </a:r>
            <a:endParaRPr sz="1800" b="0" dirty="0">
              <a:solidFill>
                <a:srgbClr val="1A1A1A"/>
              </a:solidFill>
              <a:latin typeface="Arial"/>
            </a:endParaRPr>
          </a:p>
          <a:p>
            <a:pPr>
              <a:spcBef>
                <a:spcPts val="1000"/>
              </a:spcBef>
            </a:pPr>
            <a:r>
              <a:rPr sz="1800" b="0" dirty="0">
                <a:solidFill>
                  <a:srgbClr val="1A1A1A"/>
                </a:solidFill>
                <a:latin typeface="Arial"/>
              </a:rPr>
              <a:t>• </a:t>
            </a:r>
            <a:r>
              <a:rPr sz="1800" b="0" dirty="0" err="1">
                <a:solidFill>
                  <a:srgbClr val="1A1A1A"/>
                </a:solidFill>
                <a:latin typeface="Arial"/>
              </a:rPr>
              <a:t>Kiểm</a:t>
            </a:r>
            <a:r>
              <a:rPr sz="1800" b="0" dirty="0">
                <a:solidFill>
                  <a:srgbClr val="1A1A1A"/>
                </a:solidFill>
                <a:latin typeface="Arial"/>
              </a:rPr>
              <a:t> </a:t>
            </a:r>
            <a:r>
              <a:rPr sz="1800" b="0" dirty="0" err="1">
                <a:solidFill>
                  <a:srgbClr val="1A1A1A"/>
                </a:solidFill>
                <a:latin typeface="Arial"/>
              </a:rPr>
              <a:t>chứng</a:t>
            </a:r>
            <a:r>
              <a:rPr sz="1800" b="0" dirty="0">
                <a:solidFill>
                  <a:srgbClr val="1A1A1A"/>
                </a:solidFill>
                <a:latin typeface="Arial"/>
              </a:rPr>
              <a:t> </a:t>
            </a:r>
            <a:r>
              <a:rPr sz="1800" b="0" dirty="0" err="1">
                <a:solidFill>
                  <a:srgbClr val="1A1A1A"/>
                </a:solidFill>
                <a:latin typeface="Arial"/>
              </a:rPr>
              <a:t>được</a:t>
            </a:r>
            <a:r>
              <a:rPr sz="1800" b="0" dirty="0">
                <a:solidFill>
                  <a:srgbClr val="1A1A1A"/>
                </a:solidFill>
                <a:latin typeface="Arial"/>
              </a:rPr>
              <a:t> </a:t>
            </a:r>
            <a:r>
              <a:rPr sz="1800" b="0" dirty="0" err="1">
                <a:solidFill>
                  <a:srgbClr val="1A1A1A"/>
                </a:solidFill>
                <a:latin typeface="Arial"/>
              </a:rPr>
              <a:t>đặc</a:t>
            </a:r>
            <a:r>
              <a:rPr sz="1800" b="0" dirty="0">
                <a:solidFill>
                  <a:srgbClr val="1A1A1A"/>
                </a:solidFill>
                <a:latin typeface="Arial"/>
              </a:rPr>
              <a:t> </a:t>
            </a:r>
            <a:r>
              <a:rPr sz="1800" b="0" dirty="0" err="1">
                <a:solidFill>
                  <a:srgbClr val="1A1A1A"/>
                </a:solidFill>
                <a:latin typeface="Arial"/>
              </a:rPr>
              <a:t>tính</a:t>
            </a:r>
            <a:r>
              <a:rPr sz="1800" b="0" dirty="0">
                <a:solidFill>
                  <a:srgbClr val="1A1A1A"/>
                </a:solidFill>
                <a:latin typeface="Arial"/>
              </a:rPr>
              <a:t> multi-admin </a:t>
            </a:r>
            <a:r>
              <a:rPr sz="1800" b="0" dirty="0" err="1">
                <a:solidFill>
                  <a:srgbClr val="1A1A1A"/>
                </a:solidFill>
                <a:latin typeface="Arial"/>
              </a:rPr>
              <a:t>bằng</a:t>
            </a:r>
            <a:r>
              <a:rPr sz="1800" b="0" dirty="0">
                <a:solidFill>
                  <a:srgbClr val="1A1A1A"/>
                </a:solidFill>
                <a:latin typeface="Arial"/>
              </a:rPr>
              <a:t> </a:t>
            </a:r>
            <a:r>
              <a:rPr sz="1800" b="0" dirty="0" err="1">
                <a:solidFill>
                  <a:srgbClr val="1A1A1A"/>
                </a:solidFill>
                <a:latin typeface="Arial"/>
              </a:rPr>
              <a:t>số</a:t>
            </a:r>
            <a:r>
              <a:rPr sz="1800" b="0" dirty="0">
                <a:solidFill>
                  <a:srgbClr val="1A1A1A"/>
                </a:solidFill>
                <a:latin typeface="Arial"/>
              </a:rPr>
              <a:t> </a:t>
            </a:r>
            <a:r>
              <a:rPr sz="1800" b="0" dirty="0" err="1">
                <a:solidFill>
                  <a:srgbClr val="1A1A1A"/>
                </a:solidFill>
                <a:latin typeface="Arial"/>
              </a:rPr>
              <a:t>liệu</a:t>
            </a:r>
            <a:r>
              <a:rPr sz="1800" b="0" dirty="0">
                <a:solidFill>
                  <a:srgbClr val="1A1A1A"/>
                </a:solidFill>
                <a:latin typeface="Arial"/>
              </a:rPr>
              <a:t>: 5 fabric </a:t>
            </a:r>
            <a:r>
              <a:rPr sz="1800" b="0" dirty="0" err="1">
                <a:solidFill>
                  <a:srgbClr val="1A1A1A"/>
                </a:solidFill>
                <a:latin typeface="Arial"/>
              </a:rPr>
              <a:t>đồng</a:t>
            </a:r>
            <a:r>
              <a:rPr sz="1800" b="0" dirty="0">
                <a:solidFill>
                  <a:srgbClr val="1A1A1A"/>
                </a:solidFill>
                <a:latin typeface="Arial"/>
              </a:rPr>
              <a:t> </a:t>
            </a:r>
            <a:r>
              <a:rPr sz="1800" b="0" dirty="0" err="1">
                <a:solidFill>
                  <a:srgbClr val="1A1A1A"/>
                </a:solidFill>
                <a:latin typeface="Arial"/>
              </a:rPr>
              <a:t>thời</a:t>
            </a:r>
            <a:r>
              <a:rPr sz="1800" b="0" dirty="0">
                <a:solidFill>
                  <a:srgbClr val="1A1A1A"/>
                </a:solidFill>
                <a:latin typeface="Arial"/>
              </a:rPr>
              <a:t>, </a:t>
            </a:r>
            <a:r>
              <a:rPr sz="1800" b="0" dirty="0" err="1">
                <a:solidFill>
                  <a:srgbClr val="1A1A1A"/>
                </a:solidFill>
                <a:latin typeface="Arial"/>
              </a:rPr>
              <a:t>đồng</a:t>
            </a:r>
            <a:r>
              <a:rPr sz="1800" b="0" dirty="0">
                <a:solidFill>
                  <a:srgbClr val="1A1A1A"/>
                </a:solidFill>
                <a:latin typeface="Arial"/>
              </a:rPr>
              <a:t> </a:t>
            </a:r>
            <a:r>
              <a:rPr sz="1800" b="0" dirty="0" err="1">
                <a:solidFill>
                  <a:srgbClr val="1A1A1A"/>
                </a:solidFill>
                <a:latin typeface="Arial"/>
              </a:rPr>
              <a:t>bộ</a:t>
            </a:r>
            <a:r>
              <a:rPr sz="1800" b="0" dirty="0">
                <a:solidFill>
                  <a:srgbClr val="1A1A1A"/>
                </a:solidFill>
                <a:latin typeface="Arial"/>
              </a:rPr>
              <a:t> </a:t>
            </a:r>
            <a:r>
              <a:rPr sz="1800" b="0" dirty="0" err="1">
                <a:solidFill>
                  <a:srgbClr val="1A1A1A"/>
                </a:solidFill>
                <a:latin typeface="Arial"/>
              </a:rPr>
              <a:t>trạng</a:t>
            </a:r>
            <a:r>
              <a:rPr sz="1800" b="0" dirty="0">
                <a:solidFill>
                  <a:srgbClr val="1A1A1A"/>
                </a:solidFill>
                <a:latin typeface="Arial"/>
              </a:rPr>
              <a:t> </a:t>
            </a:r>
            <a:r>
              <a:rPr sz="1800" b="0" dirty="0" err="1">
                <a:solidFill>
                  <a:srgbClr val="1A1A1A"/>
                </a:solidFill>
                <a:latin typeface="Arial"/>
              </a:rPr>
              <a:t>thái</a:t>
            </a:r>
            <a:r>
              <a:rPr sz="1800" b="0" dirty="0">
                <a:solidFill>
                  <a:srgbClr val="1A1A1A"/>
                </a:solidFill>
                <a:latin typeface="Arial"/>
              </a:rPr>
              <a:t> </a:t>
            </a:r>
            <a:r>
              <a:rPr sz="1800" b="0" dirty="0" err="1">
                <a:solidFill>
                  <a:srgbClr val="1A1A1A"/>
                </a:solidFill>
                <a:latin typeface="Arial"/>
              </a:rPr>
              <a:t>hai</a:t>
            </a:r>
            <a:r>
              <a:rPr sz="1800" b="0" dirty="0">
                <a:solidFill>
                  <a:srgbClr val="1A1A1A"/>
                </a:solidFill>
                <a:latin typeface="Arial"/>
              </a:rPr>
              <a:t> </a:t>
            </a:r>
            <a:r>
              <a:rPr sz="1800" b="0" dirty="0" err="1">
                <a:solidFill>
                  <a:srgbClr val="1A1A1A"/>
                </a:solidFill>
                <a:latin typeface="Arial"/>
              </a:rPr>
              <a:t>chiều</a:t>
            </a:r>
            <a:r>
              <a:rPr sz="1800" b="0" dirty="0">
                <a:solidFill>
                  <a:srgbClr val="1A1A1A"/>
                </a:solidFill>
                <a:latin typeface="Arial"/>
              </a:rPr>
              <a:t>, </a:t>
            </a:r>
            <a:r>
              <a:rPr sz="1800" b="0" dirty="0" err="1">
                <a:solidFill>
                  <a:srgbClr val="1A1A1A"/>
                </a:solidFill>
                <a:latin typeface="Arial"/>
              </a:rPr>
              <a:t>các</a:t>
            </a:r>
            <a:r>
              <a:rPr sz="1800" b="0" dirty="0">
                <a:solidFill>
                  <a:srgbClr val="1A1A1A"/>
                </a:solidFill>
                <a:latin typeface="Arial"/>
              </a:rPr>
              <a:t> fabric </a:t>
            </a:r>
            <a:r>
              <a:rPr sz="1800" b="0" dirty="0" err="1">
                <a:solidFill>
                  <a:srgbClr val="1A1A1A"/>
                </a:solidFill>
                <a:latin typeface="Arial"/>
              </a:rPr>
              <a:t>thực</a:t>
            </a:r>
            <a:r>
              <a:rPr sz="1800" b="0" dirty="0">
                <a:solidFill>
                  <a:srgbClr val="1A1A1A"/>
                </a:solidFill>
                <a:latin typeface="Arial"/>
              </a:rPr>
              <a:t> </a:t>
            </a:r>
            <a:r>
              <a:rPr sz="1800" b="0" dirty="0" err="1">
                <a:solidFill>
                  <a:srgbClr val="1A1A1A"/>
                </a:solidFill>
                <a:latin typeface="Arial"/>
              </a:rPr>
              <a:t>sự</a:t>
            </a:r>
            <a:r>
              <a:rPr sz="1800" b="0" dirty="0">
                <a:solidFill>
                  <a:srgbClr val="1A1A1A"/>
                </a:solidFill>
                <a:latin typeface="Arial"/>
              </a:rPr>
              <a:t> </a:t>
            </a:r>
            <a:r>
              <a:rPr sz="1800" b="0" dirty="0" err="1">
                <a:solidFill>
                  <a:srgbClr val="1A1A1A"/>
                </a:solidFill>
                <a:latin typeface="Arial"/>
              </a:rPr>
              <a:t>ngang</a:t>
            </a:r>
            <a:r>
              <a:rPr sz="1800" b="0" dirty="0">
                <a:solidFill>
                  <a:srgbClr val="1A1A1A"/>
                </a:solidFill>
                <a:latin typeface="Arial"/>
              </a:rPr>
              <a:t> </a:t>
            </a:r>
            <a:r>
              <a:rPr sz="1800" b="0" dirty="0" err="1">
                <a:solidFill>
                  <a:srgbClr val="1A1A1A"/>
                </a:solidFill>
                <a:latin typeface="Arial"/>
              </a:rPr>
              <a:t>hàng</a:t>
            </a:r>
            <a:endParaRPr sz="1800" b="0" dirty="0">
              <a:solidFill>
                <a:srgbClr val="1A1A1A"/>
              </a:solidFill>
              <a:latin typeface="Arial"/>
            </a:endParaRPr>
          </a:p>
          <a:p>
            <a:pPr>
              <a:spcBef>
                <a:spcPts val="1000"/>
              </a:spcBef>
            </a:pPr>
            <a:r>
              <a:rPr sz="1800" b="0" dirty="0">
                <a:solidFill>
                  <a:srgbClr val="1A1A1A"/>
                </a:solidFill>
                <a:latin typeface="Arial"/>
              </a:rPr>
              <a:t>• </a:t>
            </a:r>
            <a:r>
              <a:rPr sz="1800" b="0" dirty="0" err="1">
                <a:solidFill>
                  <a:srgbClr val="1A1A1A"/>
                </a:solidFill>
                <a:latin typeface="Arial"/>
              </a:rPr>
              <a:t>Thiết</a:t>
            </a:r>
            <a:r>
              <a:rPr sz="1800" b="0" dirty="0">
                <a:solidFill>
                  <a:srgbClr val="1A1A1A"/>
                </a:solidFill>
                <a:latin typeface="Arial"/>
              </a:rPr>
              <a:t> </a:t>
            </a:r>
            <a:r>
              <a:rPr sz="1800" b="0" dirty="0" err="1">
                <a:solidFill>
                  <a:srgbClr val="1A1A1A"/>
                </a:solidFill>
                <a:latin typeface="Arial"/>
              </a:rPr>
              <a:t>bị</a:t>
            </a:r>
            <a:r>
              <a:rPr sz="1800" b="0" dirty="0">
                <a:solidFill>
                  <a:srgbClr val="1A1A1A"/>
                </a:solidFill>
                <a:latin typeface="Arial"/>
              </a:rPr>
              <a:t> </a:t>
            </a:r>
            <a:r>
              <a:rPr sz="1800" b="0" dirty="0" err="1">
                <a:solidFill>
                  <a:srgbClr val="1A1A1A"/>
                </a:solidFill>
                <a:latin typeface="Arial"/>
              </a:rPr>
              <a:t>vượt</a:t>
            </a:r>
            <a:r>
              <a:rPr sz="1800" b="0" dirty="0">
                <a:solidFill>
                  <a:srgbClr val="1A1A1A"/>
                </a:solidFill>
                <a:latin typeface="Arial"/>
              </a:rPr>
              <a:t> </a:t>
            </a:r>
            <a:r>
              <a:rPr sz="1800" b="0" dirty="0" err="1">
                <a:solidFill>
                  <a:srgbClr val="1A1A1A"/>
                </a:solidFill>
                <a:latin typeface="Arial"/>
              </a:rPr>
              <a:t>khỏi</a:t>
            </a:r>
            <a:r>
              <a:rPr sz="1800" b="0" dirty="0">
                <a:solidFill>
                  <a:srgbClr val="1A1A1A"/>
                </a:solidFill>
                <a:latin typeface="Arial"/>
              </a:rPr>
              <a:t> </a:t>
            </a:r>
            <a:r>
              <a:rPr sz="1800" b="0" dirty="0" err="1">
                <a:solidFill>
                  <a:srgbClr val="1A1A1A"/>
                </a:solidFill>
                <a:latin typeface="Arial"/>
              </a:rPr>
              <a:t>mã</a:t>
            </a:r>
            <a:r>
              <a:rPr sz="1800" b="0" dirty="0">
                <a:solidFill>
                  <a:srgbClr val="1A1A1A"/>
                </a:solidFill>
                <a:latin typeface="Arial"/>
              </a:rPr>
              <a:t> </a:t>
            </a:r>
            <a:r>
              <a:rPr sz="1800" b="0" dirty="0" err="1">
                <a:solidFill>
                  <a:srgbClr val="1A1A1A"/>
                </a:solidFill>
                <a:latin typeface="Arial"/>
              </a:rPr>
              <a:t>ví</a:t>
            </a:r>
            <a:r>
              <a:rPr sz="1800" b="0" dirty="0">
                <a:solidFill>
                  <a:srgbClr val="1A1A1A"/>
                </a:solidFill>
                <a:latin typeface="Arial"/>
              </a:rPr>
              <a:t> </a:t>
            </a:r>
            <a:r>
              <a:rPr sz="1800" b="0" dirty="0" err="1">
                <a:solidFill>
                  <a:srgbClr val="1A1A1A"/>
                </a:solidFill>
                <a:latin typeface="Arial"/>
              </a:rPr>
              <a:t>dụ</a:t>
            </a:r>
            <a:r>
              <a:rPr sz="1800" b="0" dirty="0">
                <a:solidFill>
                  <a:srgbClr val="1A1A1A"/>
                </a:solidFill>
                <a:latin typeface="Arial"/>
              </a:rPr>
              <a:t>: </a:t>
            </a:r>
            <a:r>
              <a:rPr sz="1800" b="0" dirty="0" err="1">
                <a:solidFill>
                  <a:srgbClr val="1A1A1A"/>
                </a:solidFill>
                <a:latin typeface="Arial"/>
              </a:rPr>
              <a:t>thêm</a:t>
            </a:r>
            <a:r>
              <a:rPr sz="1800" b="0" dirty="0">
                <a:solidFill>
                  <a:srgbClr val="1A1A1A"/>
                </a:solidFill>
                <a:latin typeface="Arial"/>
              </a:rPr>
              <a:t> endpoint </a:t>
            </a:r>
            <a:r>
              <a:rPr sz="1800" b="0" dirty="0" err="1">
                <a:solidFill>
                  <a:srgbClr val="1A1A1A"/>
                </a:solidFill>
                <a:latin typeface="Arial"/>
              </a:rPr>
              <a:t>công</a:t>
            </a:r>
            <a:r>
              <a:rPr sz="1800" b="0" dirty="0">
                <a:solidFill>
                  <a:srgbClr val="1A1A1A"/>
                </a:solidFill>
                <a:latin typeface="Arial"/>
              </a:rPr>
              <a:t> </a:t>
            </a:r>
            <a:r>
              <a:rPr sz="1800" b="0" dirty="0" err="1">
                <a:solidFill>
                  <a:srgbClr val="1A1A1A"/>
                </a:solidFill>
                <a:latin typeface="Arial"/>
              </a:rPr>
              <a:t>tắc</a:t>
            </a:r>
            <a:r>
              <a:rPr sz="1800" b="0" dirty="0">
                <a:solidFill>
                  <a:srgbClr val="1A1A1A"/>
                </a:solidFill>
                <a:latin typeface="Arial"/>
              </a:rPr>
              <a:t>, </a:t>
            </a:r>
            <a:r>
              <a:rPr sz="1800" b="0" dirty="0" err="1">
                <a:solidFill>
                  <a:srgbClr val="1A1A1A"/>
                </a:solidFill>
                <a:latin typeface="Arial"/>
              </a:rPr>
              <a:t>ba</a:t>
            </a:r>
            <a:r>
              <a:rPr sz="1800" b="0" dirty="0">
                <a:solidFill>
                  <a:srgbClr val="1A1A1A"/>
                </a:solidFill>
                <a:latin typeface="Arial"/>
              </a:rPr>
              <a:t> </a:t>
            </a:r>
            <a:r>
              <a:rPr sz="1800" b="0" dirty="0" err="1">
                <a:solidFill>
                  <a:srgbClr val="1A1A1A"/>
                </a:solidFill>
                <a:latin typeface="Arial"/>
              </a:rPr>
              <a:t>đèn</a:t>
            </a:r>
            <a:r>
              <a:rPr sz="1800" b="0" dirty="0">
                <a:solidFill>
                  <a:srgbClr val="1A1A1A"/>
                </a:solidFill>
                <a:latin typeface="Arial"/>
              </a:rPr>
              <a:t> </a:t>
            </a:r>
            <a:r>
              <a:rPr sz="1800" b="0" dirty="0" err="1">
                <a:solidFill>
                  <a:srgbClr val="1A1A1A"/>
                </a:solidFill>
                <a:latin typeface="Arial"/>
              </a:rPr>
              <a:t>báo</a:t>
            </a:r>
            <a:r>
              <a:rPr sz="1800" b="0" dirty="0">
                <a:solidFill>
                  <a:srgbClr val="1A1A1A"/>
                </a:solidFill>
                <a:latin typeface="Arial"/>
              </a:rPr>
              <a:t> </a:t>
            </a:r>
            <a:r>
              <a:rPr sz="1800" b="0" dirty="0" err="1">
                <a:solidFill>
                  <a:srgbClr val="1A1A1A"/>
                </a:solidFill>
                <a:latin typeface="Arial"/>
              </a:rPr>
              <a:t>và</a:t>
            </a:r>
            <a:r>
              <a:rPr sz="1800" b="0" dirty="0">
                <a:solidFill>
                  <a:srgbClr val="1A1A1A"/>
                </a:solidFill>
                <a:latin typeface="Arial"/>
              </a:rPr>
              <a:t> </a:t>
            </a:r>
            <a:r>
              <a:rPr sz="1800" b="0" dirty="0" err="1">
                <a:solidFill>
                  <a:srgbClr val="1A1A1A"/>
                </a:solidFill>
                <a:latin typeface="Arial"/>
              </a:rPr>
              <a:t>màn</a:t>
            </a:r>
            <a:r>
              <a:rPr sz="1800" b="0" dirty="0">
                <a:solidFill>
                  <a:srgbClr val="1A1A1A"/>
                </a:solidFill>
                <a:latin typeface="Arial"/>
              </a:rPr>
              <a:t> </a:t>
            </a:r>
            <a:r>
              <a:rPr sz="1800" b="0" dirty="0" err="1">
                <a:solidFill>
                  <a:srgbClr val="1A1A1A"/>
                </a:solidFill>
                <a:latin typeface="Arial"/>
              </a:rPr>
              <a:t>hình</a:t>
            </a:r>
            <a:r>
              <a:rPr sz="1800" b="0" dirty="0">
                <a:solidFill>
                  <a:srgbClr val="1A1A1A"/>
                </a:solidFill>
                <a:latin typeface="Arial"/>
              </a:rPr>
              <a:t> </a:t>
            </a:r>
            <a:r>
              <a:rPr sz="1800" b="0" dirty="0" err="1">
                <a:solidFill>
                  <a:srgbClr val="1A1A1A"/>
                </a:solidFill>
                <a:latin typeface="Arial"/>
              </a:rPr>
              <a:t>trạng</a:t>
            </a:r>
            <a:r>
              <a:rPr sz="1800" b="0" dirty="0">
                <a:solidFill>
                  <a:srgbClr val="1A1A1A"/>
                </a:solidFill>
                <a:latin typeface="Arial"/>
              </a:rPr>
              <a:t> </a:t>
            </a:r>
            <a:r>
              <a:rPr sz="1800" b="0" dirty="0" err="1">
                <a:solidFill>
                  <a:srgbClr val="1A1A1A"/>
                </a:solidFill>
                <a:latin typeface="Arial"/>
              </a:rPr>
              <a:t>thái</a:t>
            </a:r>
            <a:endParaRPr sz="1800" b="0" dirty="0">
              <a:solidFill>
                <a:srgbClr val="1A1A1A"/>
              </a:solidFill>
              <a:latin typeface="Arial"/>
            </a:endParaRPr>
          </a:p>
          <a:p>
            <a:pPr>
              <a:spcBef>
                <a:spcPts val="1000"/>
              </a:spcBef>
            </a:pPr>
            <a:r>
              <a:rPr sz="1800" b="0" dirty="0">
                <a:solidFill>
                  <a:srgbClr val="1A1A1A"/>
                </a:solidFill>
                <a:latin typeface="Arial"/>
              </a:rPr>
              <a:t>• </a:t>
            </a:r>
            <a:r>
              <a:rPr sz="1800" b="0" dirty="0" err="1">
                <a:solidFill>
                  <a:srgbClr val="1A1A1A"/>
                </a:solidFill>
                <a:latin typeface="Arial"/>
              </a:rPr>
              <a:t>Chứng</a:t>
            </a:r>
            <a:r>
              <a:rPr sz="1800" b="0" dirty="0">
                <a:solidFill>
                  <a:srgbClr val="1A1A1A"/>
                </a:solidFill>
                <a:latin typeface="Arial"/>
              </a:rPr>
              <a:t> </a:t>
            </a:r>
            <a:r>
              <a:rPr sz="1800" b="0" dirty="0" err="1">
                <a:solidFill>
                  <a:srgbClr val="1A1A1A"/>
                </a:solidFill>
                <a:latin typeface="Arial"/>
              </a:rPr>
              <a:t>minh</a:t>
            </a:r>
            <a:r>
              <a:rPr sz="1800" b="0" dirty="0">
                <a:solidFill>
                  <a:srgbClr val="1A1A1A"/>
                </a:solidFill>
                <a:latin typeface="Arial"/>
              </a:rPr>
              <a:t> </a:t>
            </a:r>
            <a:r>
              <a:rPr sz="1800" b="0" dirty="0" err="1">
                <a:solidFill>
                  <a:srgbClr val="1A1A1A"/>
                </a:solidFill>
                <a:latin typeface="Arial"/>
              </a:rPr>
              <a:t>được</a:t>
            </a:r>
            <a:r>
              <a:rPr sz="1800" b="0" dirty="0">
                <a:solidFill>
                  <a:srgbClr val="1A1A1A"/>
                </a:solidFill>
                <a:latin typeface="Arial"/>
              </a:rPr>
              <a:t> </a:t>
            </a:r>
            <a:r>
              <a:rPr sz="1800" b="0" dirty="0" err="1">
                <a:solidFill>
                  <a:srgbClr val="1A1A1A"/>
                </a:solidFill>
                <a:latin typeface="Arial"/>
              </a:rPr>
              <a:t>điều</a:t>
            </a:r>
            <a:r>
              <a:rPr sz="1800" b="0" dirty="0">
                <a:solidFill>
                  <a:srgbClr val="1A1A1A"/>
                </a:solidFill>
                <a:latin typeface="Arial"/>
              </a:rPr>
              <a:t> </a:t>
            </a:r>
            <a:r>
              <a:rPr sz="1800" b="0" dirty="0" err="1">
                <a:solidFill>
                  <a:srgbClr val="1A1A1A"/>
                </a:solidFill>
                <a:latin typeface="Arial"/>
              </a:rPr>
              <a:t>khiển</a:t>
            </a:r>
            <a:r>
              <a:rPr sz="1800" b="0" dirty="0">
                <a:solidFill>
                  <a:srgbClr val="1A1A1A"/>
                </a:solidFill>
                <a:latin typeface="Arial"/>
              </a:rPr>
              <a:t> </a:t>
            </a:r>
            <a:r>
              <a:rPr sz="1800" b="0" dirty="0" err="1">
                <a:solidFill>
                  <a:srgbClr val="1A1A1A"/>
                </a:solidFill>
                <a:latin typeface="Arial"/>
              </a:rPr>
              <a:t>vẫn</a:t>
            </a:r>
            <a:r>
              <a:rPr sz="1800" b="0" dirty="0">
                <a:solidFill>
                  <a:srgbClr val="1A1A1A"/>
                </a:solidFill>
                <a:latin typeface="Arial"/>
              </a:rPr>
              <a:t> </a:t>
            </a:r>
            <a:r>
              <a:rPr sz="1800" b="0" dirty="0" err="1">
                <a:solidFill>
                  <a:srgbClr val="1A1A1A"/>
                </a:solidFill>
                <a:latin typeface="Arial"/>
              </a:rPr>
              <a:t>chạy</a:t>
            </a:r>
            <a:r>
              <a:rPr sz="1800" b="0" dirty="0">
                <a:solidFill>
                  <a:srgbClr val="1A1A1A"/>
                </a:solidFill>
                <a:latin typeface="Arial"/>
              </a:rPr>
              <a:t> </a:t>
            </a:r>
            <a:r>
              <a:rPr sz="1800" b="0" dirty="0" err="1">
                <a:solidFill>
                  <a:srgbClr val="1A1A1A"/>
                </a:solidFill>
                <a:latin typeface="Arial"/>
              </a:rPr>
              <a:t>khi</a:t>
            </a:r>
            <a:r>
              <a:rPr sz="1800" b="0" dirty="0">
                <a:solidFill>
                  <a:srgbClr val="1A1A1A"/>
                </a:solidFill>
                <a:latin typeface="Arial"/>
              </a:rPr>
              <a:t> </a:t>
            </a:r>
            <a:r>
              <a:rPr sz="1800" b="0" dirty="0" err="1">
                <a:solidFill>
                  <a:srgbClr val="1A1A1A"/>
                </a:solidFill>
                <a:latin typeface="Arial"/>
              </a:rPr>
              <a:t>mất</a:t>
            </a:r>
            <a:r>
              <a:rPr sz="1800" b="0" dirty="0">
                <a:solidFill>
                  <a:srgbClr val="1A1A1A"/>
                </a:solidFill>
                <a:latin typeface="Arial"/>
              </a:rPr>
              <a:t> Internet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1097280" y="256032"/>
            <a:ext cx="7589520" cy="804672"/>
          </a:xfrm>
          <a:prstGeom prst="rect">
            <a:avLst/>
          </a:prstGeom>
          <a:noFill/>
        </p:spPr>
        <p:txBody>
          <a:bodyPr wrap="square">
            <a:spAutoFit/>
          </a:bodyPr>
          <a:lstStyle/>
          <a:p>
            <a:pPr>
              <a:spcBef>
                <a:spcPts val="0"/>
              </a:spcBef>
            </a:pPr>
            <a:r>
              <a:rPr sz="3000" b="1">
                <a:solidFill>
                  <a:srgbClr val="3376C7"/>
                </a:solidFill>
                <a:latin typeface="Arial"/>
              </a:rPr>
              <a:t>V. Hạn chế và hướng phát triển</a:t>
            </a:r>
          </a:p>
        </p:txBody>
      </p:sp>
      <p:cxnSp>
        <p:nvCxnSpPr>
          <p:cNvPr id="5" name="Connector 4"/>
          <p:cNvCxnSpPr/>
          <p:nvPr/>
        </p:nvCxnSpPr>
        <p:spPr>
          <a:xfrm>
            <a:off x="411480" y="1115568"/>
            <a:ext cx="8321040" cy="0"/>
          </a:xfrm>
          <a:prstGeom prst="line">
            <a:avLst/>
          </a:prstGeom>
          <a:ln w="31750">
            <a:solidFill>
              <a:srgbClr val="3376C7"/>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7" name="TextBox 6"/>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sp>
        <p:nvSpPr>
          <p:cNvPr id="8" name="TextBox 7"/>
          <p:cNvSpPr txBox="1"/>
          <p:nvPr/>
        </p:nvSpPr>
        <p:spPr>
          <a:xfrm>
            <a:off x="502920" y="1298448"/>
            <a:ext cx="3977639" cy="4754880"/>
          </a:xfrm>
          <a:prstGeom prst="rect">
            <a:avLst/>
          </a:prstGeom>
          <a:noFill/>
        </p:spPr>
        <p:txBody>
          <a:bodyPr wrap="square">
            <a:spAutoFit/>
          </a:bodyPr>
          <a:lstStyle/>
          <a:p>
            <a:pPr>
              <a:spcBef>
                <a:spcPts val="0"/>
              </a:spcBef>
            </a:pPr>
            <a:r>
              <a:rPr sz="2200" b="1">
                <a:solidFill>
                  <a:srgbClr val="1A1A1A"/>
                </a:solidFill>
                <a:latin typeface="Arial"/>
              </a:rPr>
              <a:t>Hạn chế</a:t>
            </a:r>
          </a:p>
          <a:p>
            <a:pPr>
              <a:spcBef>
                <a:spcPts val="1000"/>
              </a:spcBef>
            </a:pPr>
            <a:r>
              <a:rPr sz="1700" b="0">
                <a:solidFill>
                  <a:srgbClr val="1A1A1A"/>
                </a:solidFill>
                <a:latin typeface="Arial"/>
              </a:rPr>
              <a:t>• Ghép nối qua Bluetooth chưa giải quyết được, nguyên nhân gốc chưa xác định</a:t>
            </a:r>
          </a:p>
          <a:p>
            <a:pPr>
              <a:spcBef>
                <a:spcPts val="1000"/>
              </a:spcBef>
            </a:pPr>
            <a:r>
              <a:rPr sz="1700" b="0">
                <a:solidFill>
                  <a:srgbClr val="1A1A1A"/>
                </a:solidFill>
                <a:latin typeface="Arial"/>
              </a:rPr>
              <a:t>• Mật khẩu Wi-Fi nằm trong firmware ở dạng rõ</a:t>
            </a:r>
          </a:p>
          <a:p>
            <a:pPr>
              <a:spcBef>
                <a:spcPts val="1000"/>
              </a:spcBef>
            </a:pPr>
            <a:r>
              <a:rPr sz="1700" b="0">
                <a:solidFill>
                  <a:srgbClr val="1A1A1A"/>
                </a:solidFill>
                <a:latin typeface="Arial"/>
              </a:rPr>
              <a:t>• Các fabric bổ sung là chip-tool, chưa phải nền tảng thương mại thật</a:t>
            </a:r>
          </a:p>
          <a:p>
            <a:pPr>
              <a:spcBef>
                <a:spcPts val="1000"/>
              </a:spcBef>
            </a:pPr>
            <a:r>
              <a:rPr sz="1700" b="0">
                <a:solidFill>
                  <a:srgbClr val="1A1A1A"/>
                </a:solidFill>
                <a:latin typeface="Arial"/>
              </a:rPr>
              <a:t>• Thiết bị chưa có cụm cảm biến thật</a:t>
            </a:r>
          </a:p>
        </p:txBody>
      </p:sp>
      <p:sp>
        <p:nvSpPr>
          <p:cNvPr id="9" name="TextBox 8"/>
          <p:cNvSpPr txBox="1"/>
          <p:nvPr/>
        </p:nvSpPr>
        <p:spPr>
          <a:xfrm>
            <a:off x="4709160" y="1298448"/>
            <a:ext cx="3977639" cy="4754880"/>
          </a:xfrm>
          <a:prstGeom prst="rect">
            <a:avLst/>
          </a:prstGeom>
          <a:noFill/>
        </p:spPr>
        <p:txBody>
          <a:bodyPr wrap="square">
            <a:spAutoFit/>
          </a:bodyPr>
          <a:lstStyle/>
          <a:p>
            <a:pPr>
              <a:spcBef>
                <a:spcPts val="0"/>
              </a:spcBef>
            </a:pPr>
            <a:r>
              <a:rPr sz="2200" b="1">
                <a:solidFill>
                  <a:srgbClr val="1A1A1A"/>
                </a:solidFill>
                <a:latin typeface="Arial"/>
              </a:rPr>
              <a:t>Hướng phát triển</a:t>
            </a:r>
          </a:p>
          <a:p>
            <a:pPr>
              <a:spcBef>
                <a:spcPts val="1000"/>
              </a:spcBef>
            </a:pPr>
            <a:r>
              <a:rPr sz="1700" b="0">
                <a:solidFill>
                  <a:srgbClr val="1A1A1A"/>
                </a:solidFill>
                <a:latin typeface="Arial"/>
              </a:rPr>
              <a:t>• Truy tiếp sự cố Bluetooth bằng cách ghép qua điện thoại để tách bạch phần lỗi</a:t>
            </a:r>
          </a:p>
          <a:p>
            <a:pPr>
              <a:spcBef>
                <a:spcPts val="1000"/>
              </a:spcBef>
            </a:pPr>
            <a:r>
              <a:rPr sz="1700" b="0">
                <a:solidFill>
                  <a:srgbClr val="1A1A1A"/>
                </a:solidFill>
                <a:latin typeface="Arial"/>
              </a:rPr>
              <a:t>• Triển khai nhánh Thread, dùng số liệu Wi-Fi trong báo cáo này làm mốc so sánh</a:t>
            </a:r>
          </a:p>
          <a:p>
            <a:pPr>
              <a:spcBef>
                <a:spcPts val="1000"/>
              </a:spcBef>
            </a:pPr>
            <a:r>
              <a:rPr sz="1700" b="0">
                <a:solidFill>
                  <a:srgbClr val="1A1A1A"/>
                </a:solidFill>
                <a:latin typeface="Arial"/>
              </a:rPr>
              <a:t>• Bỏ thông tin Wi-Fi khỏi firmware sau khi Bluetooth chạy lại</a:t>
            </a:r>
          </a:p>
          <a:p>
            <a:pPr>
              <a:spcBef>
                <a:spcPts val="1000"/>
              </a:spcBef>
            </a:pPr>
            <a:r>
              <a:rPr sz="1700" b="0">
                <a:solidFill>
                  <a:srgbClr val="1A1A1A"/>
                </a:solidFill>
                <a:latin typeface="Arial"/>
              </a:rPr>
              <a:t>• Thêm cụm cảm biến nhiệt độ, độ ẩm với phần cứng thật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9144000" cy="1188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2"/>
          <a:stretch>
            <a:fillRect/>
          </a:stretch>
        </p:blipFill>
        <p:spPr>
          <a:xfrm>
            <a:off x="128016" y="91440"/>
            <a:ext cx="841248" cy="841248"/>
          </a:xfrm>
          <a:prstGeom prst="rect">
            <a:avLst/>
          </a:prstGeom>
        </p:spPr>
      </p:pic>
      <p:sp>
        <p:nvSpPr>
          <p:cNvPr id="4" name="TextBox 3"/>
          <p:cNvSpPr txBox="1"/>
          <p:nvPr/>
        </p:nvSpPr>
        <p:spPr>
          <a:xfrm>
            <a:off x="411480" y="6355080"/>
            <a:ext cx="4572000" cy="320040"/>
          </a:xfrm>
          <a:prstGeom prst="rect">
            <a:avLst/>
          </a:prstGeom>
          <a:noFill/>
        </p:spPr>
        <p:txBody>
          <a:bodyPr wrap="square">
            <a:spAutoFit/>
          </a:bodyPr>
          <a:lstStyle/>
          <a:p>
            <a:pPr>
              <a:spcBef>
                <a:spcPts val="0"/>
              </a:spcBef>
            </a:pPr>
            <a:r>
              <a:rPr sz="1300" b="1">
                <a:solidFill>
                  <a:srgbClr val="3376C7"/>
                </a:solidFill>
                <a:latin typeface="Arial"/>
              </a:rPr>
              <a:t>Bộ môn Kỹ thuật Điện tử — Báo cáo thực tập</a:t>
            </a:r>
          </a:p>
        </p:txBody>
      </p:sp>
      <p:sp>
        <p:nvSpPr>
          <p:cNvPr id="5" name="TextBox 4"/>
          <p:cNvSpPr txBox="1"/>
          <p:nvPr/>
        </p:nvSpPr>
        <p:spPr>
          <a:xfrm>
            <a:off x="5669280" y="6355080"/>
            <a:ext cx="2743200" cy="320040"/>
          </a:xfrm>
          <a:prstGeom prst="rect">
            <a:avLst/>
          </a:prstGeom>
          <a:noFill/>
        </p:spPr>
        <p:txBody>
          <a:bodyPr wrap="square">
            <a:spAutoFit/>
          </a:bodyPr>
          <a:lstStyle/>
          <a:p>
            <a:pPr algn="r">
              <a:spcBef>
                <a:spcPts val="0"/>
              </a:spcBef>
            </a:pPr>
            <a:r>
              <a:rPr sz="1300" b="0">
                <a:solidFill>
                  <a:srgbClr val="3376C7"/>
                </a:solidFill>
                <a:latin typeface="Arial"/>
              </a:rPr>
              <a:t>TP. Hồ Chí Minh, 08/2026</a:t>
            </a:r>
          </a:p>
        </p:txBody>
      </p:sp>
      <p:sp>
        <p:nvSpPr>
          <p:cNvPr id="6" name="TextBox 5"/>
          <p:cNvSpPr txBox="1"/>
          <p:nvPr/>
        </p:nvSpPr>
        <p:spPr>
          <a:xfrm>
            <a:off x="731520" y="2743200"/>
            <a:ext cx="7680960" cy="615553"/>
          </a:xfrm>
          <a:prstGeom prst="rect">
            <a:avLst/>
          </a:prstGeom>
          <a:noFill/>
        </p:spPr>
        <p:txBody>
          <a:bodyPr wrap="square">
            <a:spAutoFit/>
          </a:bodyPr>
          <a:lstStyle/>
          <a:p>
            <a:pPr algn="ctr">
              <a:spcBef>
                <a:spcPts val="0"/>
              </a:spcBef>
            </a:pPr>
            <a:r>
              <a:rPr sz="3400" b="1" dirty="0">
                <a:solidFill>
                  <a:srgbClr val="3376C7"/>
                </a:solidFill>
                <a:latin typeface="Arial"/>
              </a:rPr>
              <a:t>CẢM ƠN THẦY ĐÃ LẮNG NGHE</a:t>
            </a:r>
          </a:p>
        </p:txBody>
      </p:sp>
    </p:spTree>
  </p:cSld>
  <p:clrMapOvr>
    <a:masterClrMapping/>
  </p:clrMapOvr>
</p:sld>
</file>

<file path=ppt/theme/theme1.xml><?xml version="1.0" encoding="utf-8"?>
<a:theme xmlns:a="http://schemas.openxmlformats.org/drawingml/2006/main" name="1_Hoang Trang'course format">
  <a:themeElements>
    <a:clrScheme name="Default Design 1">
      <a:dk1>
        <a:srgbClr val="000000"/>
      </a:dk1>
      <a:lt1>
        <a:srgbClr val="CAD4CF"/>
      </a:lt1>
      <a:dk2>
        <a:srgbClr val="425462"/>
      </a:dk2>
      <a:lt2>
        <a:srgbClr val="768A7B"/>
      </a:lt2>
      <a:accent1>
        <a:srgbClr val="DE608D"/>
      </a:accent1>
      <a:accent2>
        <a:srgbClr val="35ADE3"/>
      </a:accent2>
      <a:accent3>
        <a:srgbClr val="E1E6E4"/>
      </a:accent3>
      <a:accent4>
        <a:srgbClr val="000000"/>
      </a:accent4>
      <a:accent5>
        <a:srgbClr val="ECB6C5"/>
      </a:accent5>
      <a:accent6>
        <a:srgbClr val="2F9CCE"/>
      </a:accent6>
      <a:hlink>
        <a:srgbClr val="F6AE44"/>
      </a:hlink>
      <a:folHlink>
        <a:srgbClr val="99CC00"/>
      </a:folHlink>
    </a:clrScheme>
    <a:fontScheme name="1_Hoang Trang'course format">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CAD4CF"/>
        </a:lt1>
        <a:dk2>
          <a:srgbClr val="425462"/>
        </a:dk2>
        <a:lt2>
          <a:srgbClr val="768A7B"/>
        </a:lt2>
        <a:accent1>
          <a:srgbClr val="DE608D"/>
        </a:accent1>
        <a:accent2>
          <a:srgbClr val="35ADE3"/>
        </a:accent2>
        <a:accent3>
          <a:srgbClr val="E1E6E4"/>
        </a:accent3>
        <a:accent4>
          <a:srgbClr val="000000"/>
        </a:accent4>
        <a:accent5>
          <a:srgbClr val="ECB6C5"/>
        </a:accent5>
        <a:accent6>
          <a:srgbClr val="2F9CCE"/>
        </a:accent6>
        <a:hlink>
          <a:srgbClr val="F6AE44"/>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C1D0DD"/>
        </a:lt1>
        <a:dk2>
          <a:srgbClr val="335175"/>
        </a:dk2>
        <a:lt2>
          <a:srgbClr val="7C92B6"/>
        </a:lt2>
        <a:accent1>
          <a:srgbClr val="4B93D5"/>
        </a:accent1>
        <a:accent2>
          <a:srgbClr val="65B737"/>
        </a:accent2>
        <a:accent3>
          <a:srgbClr val="DDE4EB"/>
        </a:accent3>
        <a:accent4>
          <a:srgbClr val="000000"/>
        </a:accent4>
        <a:accent5>
          <a:srgbClr val="B1C8E7"/>
        </a:accent5>
        <a:accent6>
          <a:srgbClr val="5BA631"/>
        </a:accent6>
        <a:hlink>
          <a:srgbClr val="CF9F49"/>
        </a:hlink>
        <a:folHlink>
          <a:srgbClr val="C382D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DDD3C9"/>
        </a:lt1>
        <a:dk2>
          <a:srgbClr val="514639"/>
        </a:dk2>
        <a:lt2>
          <a:srgbClr val="A7938B"/>
        </a:lt2>
        <a:accent1>
          <a:srgbClr val="BF9733"/>
        </a:accent1>
        <a:accent2>
          <a:srgbClr val="7FB22C"/>
        </a:accent2>
        <a:accent3>
          <a:srgbClr val="EBE6E1"/>
        </a:accent3>
        <a:accent4>
          <a:srgbClr val="000000"/>
        </a:accent4>
        <a:accent5>
          <a:srgbClr val="DCC9AD"/>
        </a:accent5>
        <a:accent6>
          <a:srgbClr val="72A127"/>
        </a:accent6>
        <a:hlink>
          <a:srgbClr val="D56575"/>
        </a:hlink>
        <a:folHlink>
          <a:srgbClr val="4E8FC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4194</TotalTime>
  <Words>1953</Words>
  <Application>Microsoft Office PowerPoint</Application>
  <PresentationFormat>On-screen Show (4:3)</PresentationFormat>
  <Paragraphs>174</Paragraphs>
  <Slides>17</Slides>
  <Notes>4</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17</vt:i4>
      </vt:variant>
    </vt:vector>
  </HeadingPairs>
  <TitlesOfParts>
    <vt:vector size="21" baseType="lpstr">
      <vt:lpstr>Arial</vt:lpstr>
      <vt:lpstr>Calibri</vt:lpstr>
      <vt:lpstr>1_Hoang Trang'course format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mau LVTN-bmDT</dc:title>
  <dc:creator>HOANG Trang</dc:creator>
  <cp:lastModifiedBy>Hải Nguyễn Duy</cp:lastModifiedBy>
  <cp:revision>312</cp:revision>
  <dcterms:created xsi:type="dcterms:W3CDTF">2010-08-18T20:21:10Z</dcterms:created>
  <dcterms:modified xsi:type="dcterms:W3CDTF">2026-08-18T03:16:35Z</dcterms:modified>
</cp:coreProperties>
</file>